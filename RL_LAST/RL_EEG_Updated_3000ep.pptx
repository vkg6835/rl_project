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9.jpeg" ContentType="image/jpeg"/>
  <Override PartName="/ppt/media/image5.jpeg" ContentType="image/jpeg"/>
  <Override PartName="/ppt/media/image6.jpeg" ContentType="image/jpeg"/>
  <Override PartName="/ppt/media/image11.jpeg" ContentType="image/jpeg"/>
  <Override PartName="/ppt/media/image13.png" ContentType="image/png"/>
  <Override PartName="/ppt/media/image7.png" ContentType="image/png"/>
  <Override PartName="/ppt/media/image12.jpeg" ContentType="image/jpeg"/>
  <Override PartName="/ppt/media/image8.jpeg" ContentType="image/jpeg"/>
  <Override PartName="/ppt/media/image10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E593941-5B68-4F05-8728-1E26FDE7B45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6BA988-DD74-4005-ABED-C20AED22F2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A2EFBF-F3A8-4476-BABE-5CD71B8036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2574ED-CC6C-4ECA-9989-77EB52F221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780A23-CDA0-4A9D-A92C-7B0943027A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340BD8-EE14-43EE-A3DD-0B84780101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22AFF1-458E-4AAC-B271-108D5C595F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58CEC9-799C-4339-8B35-12F0065637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F8F6DA-DDB7-4E60-B4AB-688FFA7C78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F47B7E-9D21-4F4E-96AA-4C2F863F37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0397AE-94AA-4994-90EA-0DE92FEC6B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B894A9-49E3-44E4-9120-1FD2EDAB6F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B15066-6B48-40BC-846F-73780060FE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39DD34-20C1-4D1D-9D83-5D464F1B58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18467F-CA4F-4ED3-8E37-FCB78729AE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EA0A07-606F-4BDD-8A6E-9F60FE035B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501E24-EC44-4C7C-A8C2-B7DCE36F88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80B573-BC5C-4AAE-BD6F-4933418CBD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EDB946-6E07-40E1-9FEE-396A8C3F40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A15562-E4AE-4CC9-9B2C-B43F5832FC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F1A5A4-1C8B-47A4-BFB6-78797CC520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50FA8E-6F96-4744-9DEB-A33BAF74BB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AB8855-6D8B-4D6E-89EC-88ECFA842D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9DE8ED-F81C-400C-89ED-6D752381EA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589520" y="-548640"/>
            <a:ext cx="2559600" cy="2559600"/>
          </a:xfrm>
          <a:prstGeom prst="ellipse">
            <a:avLst/>
          </a:prstGeom>
          <a:solidFill>
            <a:srgbClr val="028090">
              <a:alpha val="28000"/>
            </a:srgbClr>
          </a:solidFill>
          <a:ln w="12600">
            <a:solidFill>
              <a:srgbClr val="028090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046720" y="-91440"/>
            <a:ext cx="1736640" cy="1736640"/>
          </a:xfrm>
          <a:prstGeom prst="ellipse">
            <a:avLst/>
          </a:prstGeom>
          <a:solidFill>
            <a:srgbClr val="00a896">
              <a:alpha val="38000"/>
            </a:srgbClr>
          </a:solidFill>
          <a:ln w="12600">
            <a:solidFill>
              <a:srgbClr val="00a896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64520" y="4434840"/>
            <a:ext cx="8978760" cy="708120"/>
          </a:xfrm>
          <a:prstGeom prst="rect">
            <a:avLst/>
          </a:prstGeom>
          <a:solidFill>
            <a:srgbClr val="028090">
              <a:alpha val="12000"/>
            </a:srgbClr>
          </a:solidFill>
          <a:ln w="12600">
            <a:solidFill>
              <a:srgbClr val="02809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65760" y="45720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Reinforc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ement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Learning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using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EEG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Signals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65760" y="1170360"/>
            <a:ext cx="8411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for Therapeutic </a:t>
            </a: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Use of Music in </a:t>
            </a: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Emotion </a:t>
            </a: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Management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65760" y="1801440"/>
            <a:ext cx="4114080" cy="3600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65760" y="19386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Sahil Nagwani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5760" y="2267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273480" y="19386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Vishal Gautam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273480" y="2267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U23AI127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181200" y="19386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PRAKRITI Manhar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181200" y="2267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U23AI114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365760" y="267012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Department of </a:t>
            </a: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Artificial </a:t>
            </a: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Intelligence  |  </a:t>
            </a: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SVNIT Surat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365760" y="303588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Base Paper: Dutta et al.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(2020) IEEE EMBC  • 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Extended with SARSA,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Double Q-Learning,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Double SARSA, Reward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Shaping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65760" y="448056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DEAP Dataset  •  32 Subjects  •  4 RL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Algorithms  •  3000 Episodes  •  LOSO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Cross-Validation  •  10-Fold Grid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Search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89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93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Why This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Research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Matters — The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Clinical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0"/>
          <p:cNvSpPr/>
          <p:nvPr/>
        </p:nvSpPr>
        <p:spPr>
          <a:xfrm>
            <a:off x="182880" y="713160"/>
            <a:ext cx="2084040" cy="15994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94"/>
          <p:cNvSpPr/>
          <p:nvPr/>
        </p:nvSpPr>
        <p:spPr>
          <a:xfrm>
            <a:off x="22860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libri"/>
                <a:ea typeface="Calibri"/>
              </a:rPr>
              <a:t>~280M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95"/>
          <p:cNvSpPr/>
          <p:nvPr/>
        </p:nvSpPr>
        <p:spPr>
          <a:xfrm>
            <a:off x="22860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People worldwide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suffer from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depression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91"/>
          <p:cNvSpPr/>
          <p:nvPr/>
        </p:nvSpPr>
        <p:spPr>
          <a:xfrm>
            <a:off x="2377440" y="713160"/>
            <a:ext cx="2084040" cy="159948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96"/>
          <p:cNvSpPr/>
          <p:nvPr/>
        </p:nvSpPr>
        <p:spPr>
          <a:xfrm>
            <a:off x="242316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eaa7"/>
                </a:solidFill>
                <a:latin typeface="Calibri"/>
                <a:ea typeface="Calibri"/>
              </a:rPr>
              <a:t>Music Rx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7"/>
          <p:cNvSpPr/>
          <p:nvPr/>
        </p:nvSpPr>
        <p:spPr>
          <a:xfrm>
            <a:off x="242316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Therapy shown to reduce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depressive symptoms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92"/>
          <p:cNvSpPr/>
          <p:nvPr/>
        </p:nvSpPr>
        <p:spPr>
          <a:xfrm>
            <a:off x="4572000" y="713160"/>
            <a:ext cx="2084040" cy="1599480"/>
          </a:xfrm>
          <a:prstGeom prst="rect">
            <a:avLst/>
          </a:prstGeom>
          <a:solidFill>
            <a:srgbClr val="e8f4f8"/>
          </a:solidFill>
          <a:ln w="12600">
            <a:solidFill>
              <a:srgbClr val="e8f4f8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8"/>
          <p:cNvSpPr/>
          <p:nvPr/>
        </p:nvSpPr>
        <p:spPr>
          <a:xfrm>
            <a:off x="461772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8090"/>
                </a:solidFill>
                <a:latin typeface="Calibri"/>
                <a:ea typeface="Calibri"/>
              </a:rPr>
              <a:t>EEG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99"/>
          <p:cNvSpPr/>
          <p:nvPr/>
        </p:nvSpPr>
        <p:spPr>
          <a:xfrm>
            <a:off x="461772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Objective, non-</a:t>
            </a: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invasive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brain-state </a:t>
            </a: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measurement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93"/>
          <p:cNvSpPr/>
          <p:nvPr/>
        </p:nvSpPr>
        <p:spPr>
          <a:xfrm>
            <a:off x="6766560" y="713160"/>
            <a:ext cx="2084040" cy="159948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00"/>
          <p:cNvSpPr/>
          <p:nvPr/>
        </p:nvSpPr>
        <p:spPr>
          <a:xfrm>
            <a:off x="681228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a8e6cf"/>
                </a:solidFill>
                <a:latin typeface="Calibri"/>
                <a:ea typeface="Calibri"/>
              </a:rPr>
              <a:t>RL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01"/>
          <p:cNvSpPr/>
          <p:nvPr/>
        </p:nvSpPr>
        <p:spPr>
          <a:xfrm>
            <a:off x="681228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Learns optimal playlists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without user feedback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2"/>
          <p:cNvSpPr/>
          <p:nvPr/>
        </p:nvSpPr>
        <p:spPr>
          <a:xfrm>
            <a:off x="182880" y="245052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a2342"/>
                </a:solidFill>
                <a:latin typeface="Calibri"/>
                <a:ea typeface="Calibri"/>
              </a:rPr>
              <a:t>The Core Problem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3"/>
          <p:cNvSpPr/>
          <p:nvPr/>
        </p:nvSpPr>
        <p:spPr>
          <a:xfrm>
            <a:off x="274320" y="278892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Depressed individuals are drawn to sad music, reinforcing negative emotional states (Garrido &amp; Schubert, 2013)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04"/>
          <p:cNvSpPr/>
          <p:nvPr/>
        </p:nvSpPr>
        <p:spPr>
          <a:xfrm>
            <a:off x="274320" y="3026520"/>
            <a:ext cx="8594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Manual playlist curation is subjective — patients may unknowingly choose emotionally harmful music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05"/>
          <p:cNvSpPr/>
          <p:nvPr/>
        </p:nvSpPr>
        <p:spPr>
          <a:xfrm>
            <a:off x="274320" y="329220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Traditional RL for playlists uses pause/skip/replay feedback which is unreliable for depressed users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6"/>
          <p:cNvSpPr/>
          <p:nvPr/>
        </p:nvSpPr>
        <p:spPr>
          <a:xfrm>
            <a:off x="274320" y="352080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EEG captures involuntary emotional responses to music — bypassing self-report bias entirely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07"/>
          <p:cNvSpPr/>
          <p:nvPr/>
        </p:nvSpPr>
        <p:spPr>
          <a:xfrm>
            <a:off x="274320" y="374940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Need: A closed-loop system that reads EEG → identifies emotion → selects next clip → guides to 'happy'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85800" y="4115160"/>
            <a:ext cx="6089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Challanges : Emotions are subjective and continuous and also playlist must be shorter (6)clips ,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85800" y="4339440"/>
            <a:ext cx="54860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Approach:   Model emotions on a 2D Valence–Arousal wheel Agent selects music clips as                            actions Minimize angular error to target Based on Dutta et al. 2020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94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08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DEAP Dataset &amp; Emotion Space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95"/>
          <p:cNvSpPr/>
          <p:nvPr/>
        </p:nvSpPr>
        <p:spPr>
          <a:xfrm>
            <a:off x="182880" y="658440"/>
            <a:ext cx="4205520" cy="2102400"/>
          </a:xfrm>
          <a:prstGeom prst="rect">
            <a:avLst/>
          </a:prstGeom>
          <a:solidFill>
            <a:srgbClr val="f0f8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09"/>
          <p:cNvSpPr/>
          <p:nvPr/>
        </p:nvSpPr>
        <p:spPr>
          <a:xfrm>
            <a:off x="274320" y="69480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  <a:ea typeface="Calibri"/>
              </a:rPr>
              <a:t>DEAP Dataset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10"/>
          <p:cNvSpPr/>
          <p:nvPr/>
        </p:nvSpPr>
        <p:spPr>
          <a:xfrm>
            <a:off x="274320" y="104256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32 participants, each watched 40 × 1-min music video clips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11"/>
          <p:cNvSpPr/>
          <p:nvPr/>
        </p:nvSpPr>
        <p:spPr>
          <a:xfrm>
            <a:off x="274320" y="131688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EEG recorded at 128 Hz across 32 scalp electrodes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12"/>
          <p:cNvSpPr/>
          <p:nvPr/>
        </p:nvSpPr>
        <p:spPr>
          <a:xfrm>
            <a:off x="274320" y="159120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Self-reported Valence, Arousal, Dominance, Liking (1–9 scale) per clip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13"/>
          <p:cNvSpPr/>
          <p:nvPr/>
        </p:nvSpPr>
        <p:spPr>
          <a:xfrm>
            <a:off x="274320" y="186552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Preprocessed valence &amp; arousal used directly in this work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14"/>
          <p:cNvSpPr/>
          <p:nvPr/>
        </p:nvSpPr>
        <p:spPr>
          <a:xfrm>
            <a:off x="274320" y="213984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40 clips × 32 subjects = 1280 state-action observations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15"/>
          <p:cNvSpPr/>
          <p:nvPr/>
        </p:nvSpPr>
        <p:spPr>
          <a:xfrm>
            <a:off x="274320" y="241416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Emotion-transition pairs extracted from consecutive clip responses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96"/>
          <p:cNvSpPr/>
          <p:nvPr/>
        </p:nvSpPr>
        <p:spPr>
          <a:xfrm>
            <a:off x="4663440" y="658440"/>
            <a:ext cx="4296960" cy="2102400"/>
          </a:xfrm>
          <a:prstGeom prst="rect">
            <a:avLst/>
          </a:prstGeom>
          <a:solidFill>
            <a:srgbClr val="fff8f0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16"/>
          <p:cNvSpPr/>
          <p:nvPr/>
        </p:nvSpPr>
        <p:spPr>
          <a:xfrm>
            <a:off x="4754880" y="69480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640a"/>
                </a:solidFill>
                <a:latin typeface="Calibri"/>
                <a:ea typeface="Calibri"/>
              </a:rPr>
              <a:t>8 Emotion Groups (from 15 GEW emotions)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7"/>
          <p:cNvSpPr/>
          <p:nvPr/>
        </p:nvSpPr>
        <p:spPr>
          <a:xfrm>
            <a:off x="4736520" y="1042560"/>
            <a:ext cx="2056680" cy="227880"/>
          </a:xfrm>
          <a:prstGeom prst="rect">
            <a:avLst/>
          </a:prstGeom>
          <a:solidFill>
            <a:srgbClr val="1a7a4a">
              <a:alpha val="15000"/>
            </a:srgbClr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17"/>
          <p:cNvSpPr/>
          <p:nvPr/>
        </p:nvSpPr>
        <p:spPr>
          <a:xfrm>
            <a:off x="4773240" y="105156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Happy  (High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98"/>
          <p:cNvSpPr/>
          <p:nvPr/>
        </p:nvSpPr>
        <p:spPr>
          <a:xfrm>
            <a:off x="6839640" y="1042560"/>
            <a:ext cx="2056680" cy="227880"/>
          </a:xfrm>
          <a:prstGeom prst="rect">
            <a:avLst/>
          </a:prstGeom>
          <a:solidFill>
            <a:srgbClr val="1a7a4a">
              <a:alpha val="15000"/>
            </a:srgbClr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18"/>
          <p:cNvSpPr/>
          <p:nvPr/>
        </p:nvSpPr>
        <p:spPr>
          <a:xfrm>
            <a:off x="6876360" y="105156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Exciting  (High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9"/>
          <p:cNvSpPr/>
          <p:nvPr/>
        </p:nvSpPr>
        <p:spPr>
          <a:xfrm>
            <a:off x="4736520" y="1289160"/>
            <a:ext cx="2056680" cy="227880"/>
          </a:xfrm>
          <a:prstGeom prst="rect">
            <a:avLst/>
          </a:prstGeom>
          <a:solidFill>
            <a:srgbClr val="1565c0">
              <a:alpha val="15000"/>
            </a:srgbClr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19"/>
          <p:cNvSpPr/>
          <p:nvPr/>
        </p:nvSpPr>
        <p:spPr>
          <a:xfrm>
            <a:off x="4773240" y="129852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Pleasant  (High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0"/>
          <p:cNvSpPr/>
          <p:nvPr/>
        </p:nvSpPr>
        <p:spPr>
          <a:xfrm>
            <a:off x="6839640" y="1289160"/>
            <a:ext cx="2056680" cy="227880"/>
          </a:xfrm>
          <a:prstGeom prst="rect">
            <a:avLst/>
          </a:prstGeom>
          <a:solidFill>
            <a:srgbClr val="1565c0">
              <a:alpha val="15000"/>
            </a:srgbClr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20"/>
          <p:cNvSpPr/>
          <p:nvPr/>
        </p:nvSpPr>
        <p:spPr>
          <a:xfrm>
            <a:off x="6876360" y="129852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Calm  (High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1"/>
          <p:cNvSpPr/>
          <p:nvPr/>
        </p:nvSpPr>
        <p:spPr>
          <a:xfrm>
            <a:off x="4736520" y="1536120"/>
            <a:ext cx="2056680" cy="227880"/>
          </a:xfrm>
          <a:prstGeom prst="rect">
            <a:avLst/>
          </a:prstGeom>
          <a:solidFill>
            <a:srgbClr val="c0392b">
              <a:alpha val="15000"/>
            </a:srgbClr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21"/>
          <p:cNvSpPr/>
          <p:nvPr/>
        </p:nvSpPr>
        <p:spPr>
          <a:xfrm>
            <a:off x="4773240" y="15454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Sad  (Low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02"/>
          <p:cNvSpPr/>
          <p:nvPr/>
        </p:nvSpPr>
        <p:spPr>
          <a:xfrm>
            <a:off x="6839640" y="1536120"/>
            <a:ext cx="2056680" cy="227880"/>
          </a:xfrm>
          <a:prstGeom prst="rect">
            <a:avLst/>
          </a:prstGeom>
          <a:solidFill>
            <a:srgbClr val="c0392b">
              <a:alpha val="15000"/>
            </a:srgbClr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22"/>
          <p:cNvSpPr/>
          <p:nvPr/>
        </p:nvSpPr>
        <p:spPr>
          <a:xfrm>
            <a:off x="6876360" y="15454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Negative  (Low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03"/>
          <p:cNvSpPr/>
          <p:nvPr/>
        </p:nvSpPr>
        <p:spPr>
          <a:xfrm>
            <a:off x="4736520" y="1783080"/>
            <a:ext cx="2056680" cy="227880"/>
          </a:xfrm>
          <a:prstGeom prst="rect">
            <a:avLst/>
          </a:prstGeom>
          <a:solidFill>
            <a:srgbClr val="e8640a">
              <a:alpha val="15000"/>
            </a:srgbClr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23"/>
          <p:cNvSpPr/>
          <p:nvPr/>
        </p:nvSpPr>
        <p:spPr>
          <a:xfrm>
            <a:off x="4773240" y="17920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Anger  (Low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04"/>
          <p:cNvSpPr/>
          <p:nvPr/>
        </p:nvSpPr>
        <p:spPr>
          <a:xfrm>
            <a:off x="6839640" y="1783080"/>
            <a:ext cx="2056680" cy="227880"/>
          </a:xfrm>
          <a:prstGeom prst="rect">
            <a:avLst/>
          </a:prstGeom>
          <a:solidFill>
            <a:srgbClr val="e8640a">
              <a:alpha val="15000"/>
            </a:srgbClr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24"/>
          <p:cNvSpPr/>
          <p:nvPr/>
        </p:nvSpPr>
        <p:spPr>
          <a:xfrm>
            <a:off x="6876360" y="17920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Fear  (Low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05"/>
          <p:cNvSpPr/>
          <p:nvPr/>
        </p:nvSpPr>
        <p:spPr>
          <a:xfrm>
            <a:off x="182880" y="2853000"/>
            <a:ext cx="8777520" cy="2084040"/>
          </a:xfrm>
          <a:prstGeom prst="rect">
            <a:avLst/>
          </a:prstGeom>
          <a:solidFill>
            <a:srgbClr val="f5fafc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25"/>
          <p:cNvSpPr/>
          <p:nvPr/>
        </p:nvSpPr>
        <p:spPr>
          <a:xfrm>
            <a:off x="320040" y="288936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alibri"/>
                <a:ea typeface="Calibri"/>
              </a:rPr>
              <a:t>State Space: 20×20 Valence-Arousal Grid = 400 Discrete States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26"/>
          <p:cNvSpPr/>
          <p:nvPr/>
        </p:nvSpPr>
        <p:spPr>
          <a:xfrm>
            <a:off x="320040" y="3237120"/>
            <a:ext cx="8503200" cy="15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Valence axis (x):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−1 to +1, normalized → 20 bins. Positive = pleasant emotions; Negative = unpleasant.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Arousal axis (y):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−1 to +1, normalized → 20 bins. High = excited/angry; Low = calm/sad.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Target state: </a:t>
            </a:r>
            <a:r>
              <a:rPr b="0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'Happy' → normalized VA = [0.905, 0.425] → bin (18,12) in the 20×20 grid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Start state: </a:t>
            </a: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'Anger' → Low Valence, High Arousal → upper-left quadrant of GEW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Each clip rated on: Valence (1–9), Arousal (1–9), Dominance, Liking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4"/>
          <p:cNvSpPr/>
          <p:nvPr/>
        </p:nvSpPr>
        <p:spPr>
          <a:xfrm>
            <a:off x="0" y="0"/>
            <a:ext cx="9143280" cy="51120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5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Geneva Emotion Wheel (GEW) — Emotion Space Visualization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77"/>
          <p:cNvSpPr/>
          <p:nvPr/>
        </p:nvSpPr>
        <p:spPr>
          <a:xfrm>
            <a:off x="3429000" y="205776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139000" y="69480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5139000" y="1042560"/>
            <a:ext cx="372996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5715000" y="2960280"/>
            <a:ext cx="3428640" cy="217152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5943600" y="511560"/>
            <a:ext cx="3200040" cy="244836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360" y="511200"/>
            <a:ext cx="5714640" cy="45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76"/>
          <p:cNvSpPr/>
          <p:nvPr/>
        </p:nvSpPr>
        <p:spPr>
          <a:xfrm>
            <a:off x="569520" y="908280"/>
            <a:ext cx="3371760" cy="3206160"/>
          </a:xfrm>
          <a:prstGeom prst="ellipse">
            <a:avLst/>
          </a:prstGeom>
          <a:solidFill>
            <a:srgbClr val="f8fbff"/>
          </a:solidFill>
          <a:ln w="12600">
            <a:solidFill>
              <a:srgbClr val="ccdd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78"/>
          <p:cNvSpPr/>
          <p:nvPr/>
        </p:nvSpPr>
        <p:spPr>
          <a:xfrm>
            <a:off x="2274480" y="886680"/>
            <a:ext cx="360" cy="3228120"/>
          </a:xfrm>
          <a:prstGeom prst="line">
            <a:avLst/>
          </a:prstGeom>
          <a:ln w="1260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79"/>
          <p:cNvSpPr/>
          <p:nvPr/>
        </p:nvSpPr>
        <p:spPr>
          <a:xfrm>
            <a:off x="569520" y="2500920"/>
            <a:ext cx="3409920" cy="360"/>
          </a:xfrm>
          <a:prstGeom prst="line">
            <a:avLst/>
          </a:prstGeom>
          <a:ln w="1260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1"/>
          <p:cNvSpPr/>
          <p:nvPr/>
        </p:nvSpPr>
        <p:spPr>
          <a:xfrm>
            <a:off x="948600" y="893880"/>
            <a:ext cx="26514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High Arousal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2"/>
          <p:cNvSpPr/>
          <p:nvPr/>
        </p:nvSpPr>
        <p:spPr>
          <a:xfrm>
            <a:off x="948600" y="3885480"/>
            <a:ext cx="265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Low Arousal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3"/>
          <p:cNvSpPr/>
          <p:nvPr/>
        </p:nvSpPr>
        <p:spPr>
          <a:xfrm>
            <a:off x="554400" y="2163960"/>
            <a:ext cx="52956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Low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Valence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0"/>
          <p:cNvSpPr/>
          <p:nvPr/>
        </p:nvSpPr>
        <p:spPr>
          <a:xfrm>
            <a:off x="3146040" y="1288440"/>
            <a:ext cx="271800" cy="25776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84"/>
          <p:cNvSpPr/>
          <p:nvPr/>
        </p:nvSpPr>
        <p:spPr>
          <a:xfrm>
            <a:off x="3456360" y="1274040"/>
            <a:ext cx="79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Happy 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81"/>
          <p:cNvSpPr/>
          <p:nvPr/>
        </p:nvSpPr>
        <p:spPr>
          <a:xfrm>
            <a:off x="2881080" y="1087920"/>
            <a:ext cx="211320" cy="20016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85"/>
          <p:cNvSpPr/>
          <p:nvPr/>
        </p:nvSpPr>
        <p:spPr>
          <a:xfrm>
            <a:off x="3130920" y="107352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7a4a"/>
                </a:solidFill>
                <a:latin typeface="Calibri"/>
                <a:ea typeface="Calibri"/>
              </a:rPr>
              <a:t>Exciting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82"/>
          <p:cNvSpPr/>
          <p:nvPr/>
        </p:nvSpPr>
        <p:spPr>
          <a:xfrm>
            <a:off x="1100160" y="1145160"/>
            <a:ext cx="241920" cy="22896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86"/>
          <p:cNvSpPr/>
          <p:nvPr/>
        </p:nvSpPr>
        <p:spPr>
          <a:xfrm>
            <a:off x="266400" y="1130760"/>
            <a:ext cx="79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Anger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3"/>
          <p:cNvSpPr/>
          <p:nvPr/>
        </p:nvSpPr>
        <p:spPr>
          <a:xfrm>
            <a:off x="1365120" y="1338840"/>
            <a:ext cx="196200" cy="185760"/>
          </a:xfrm>
          <a:prstGeom prst="ellipse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87"/>
          <p:cNvSpPr/>
          <p:nvPr/>
        </p:nvSpPr>
        <p:spPr>
          <a:xfrm>
            <a:off x="531720" y="132444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640a"/>
                </a:solidFill>
                <a:latin typeface="Calibri"/>
                <a:ea typeface="Calibri"/>
              </a:rPr>
              <a:t>Fear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4"/>
          <p:cNvSpPr/>
          <p:nvPr/>
        </p:nvSpPr>
        <p:spPr>
          <a:xfrm>
            <a:off x="1062360" y="3383280"/>
            <a:ext cx="196200" cy="185760"/>
          </a:xfrm>
          <a:prstGeom prst="ellipse">
            <a:avLst/>
          </a:prstGeom>
          <a:solidFill>
            <a:srgbClr val="8e44ad"/>
          </a:solidFill>
          <a:ln w="126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8"/>
          <p:cNvSpPr/>
          <p:nvPr/>
        </p:nvSpPr>
        <p:spPr>
          <a:xfrm>
            <a:off x="228600" y="3368880"/>
            <a:ext cx="79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e44ad"/>
                </a:solidFill>
                <a:latin typeface="Calibri"/>
                <a:ea typeface="Calibri"/>
              </a:rPr>
              <a:t>Sad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85"/>
          <p:cNvSpPr/>
          <p:nvPr/>
        </p:nvSpPr>
        <p:spPr>
          <a:xfrm>
            <a:off x="1402920" y="3132360"/>
            <a:ext cx="181440" cy="171360"/>
          </a:xfrm>
          <a:prstGeom prst="ellipse">
            <a:avLst/>
          </a:prstGeom>
          <a:solidFill>
            <a:srgbClr val="636e72"/>
          </a:solidFill>
          <a:ln w="12600">
            <a:solidFill>
              <a:srgbClr val="636e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89"/>
          <p:cNvSpPr/>
          <p:nvPr/>
        </p:nvSpPr>
        <p:spPr>
          <a:xfrm>
            <a:off x="569520" y="311796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36e72"/>
                </a:solidFill>
                <a:latin typeface="Calibri"/>
                <a:ea typeface="Calibri"/>
              </a:rPr>
              <a:t>Negative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86"/>
          <p:cNvSpPr/>
          <p:nvPr/>
        </p:nvSpPr>
        <p:spPr>
          <a:xfrm>
            <a:off x="3070080" y="3168000"/>
            <a:ext cx="211680" cy="20016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90"/>
          <p:cNvSpPr/>
          <p:nvPr/>
        </p:nvSpPr>
        <p:spPr>
          <a:xfrm>
            <a:off x="3320280" y="315360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565c0"/>
                </a:solidFill>
                <a:latin typeface="Calibri"/>
                <a:ea typeface="Calibri"/>
              </a:rPr>
              <a:t>Pleasant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87"/>
          <p:cNvSpPr/>
          <p:nvPr/>
        </p:nvSpPr>
        <p:spPr>
          <a:xfrm>
            <a:off x="2994480" y="3454920"/>
            <a:ext cx="196560" cy="185760"/>
          </a:xfrm>
          <a:prstGeom prst="ellipse">
            <a:avLst/>
          </a:prstGeom>
          <a:solidFill>
            <a:srgbClr val="0097a7"/>
          </a:solidFill>
          <a:ln w="12600">
            <a:solidFill>
              <a:srgbClr val="009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91"/>
          <p:cNvSpPr/>
          <p:nvPr/>
        </p:nvSpPr>
        <p:spPr>
          <a:xfrm>
            <a:off x="3229560" y="3440520"/>
            <a:ext cx="794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97a7"/>
                </a:solidFill>
                <a:latin typeface="Calibri"/>
                <a:ea typeface="Calibri"/>
              </a:rPr>
              <a:t>Calm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88"/>
          <p:cNvSpPr/>
          <p:nvPr/>
        </p:nvSpPr>
        <p:spPr>
          <a:xfrm>
            <a:off x="1160640" y="1245240"/>
            <a:ext cx="1848600" cy="43200"/>
          </a:xfrm>
          <a:prstGeom prst="line">
            <a:avLst/>
          </a:prstGeom>
          <a:ln w="12600">
            <a:solidFill>
              <a:srgbClr val="0a2342"/>
            </a:solidFill>
            <a:prstDash val="dash"/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800" bIns="-18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2"/>
          <p:cNvSpPr/>
          <p:nvPr/>
        </p:nvSpPr>
        <p:spPr>
          <a:xfrm>
            <a:off x="1706040" y="908280"/>
            <a:ext cx="12121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2342"/>
                </a:solidFill>
                <a:latin typeface="Calibri"/>
                <a:ea typeface="Calibri"/>
              </a:rPr>
              <a:t>Journey: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2342"/>
                </a:solidFill>
                <a:latin typeface="Calibri"/>
                <a:ea typeface="Calibri"/>
              </a:rPr>
              <a:t>Anger → Happy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6"/>
          <p:cNvSpPr/>
          <p:nvPr/>
        </p:nvSpPr>
        <p:spPr>
          <a:xfrm>
            <a:off x="0" y="0"/>
            <a:ext cx="9143280" cy="51120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27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Geneva Emotion Wheel (GEW) — Emotion Space Visualization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28"/>
          <p:cNvSpPr/>
          <p:nvPr/>
        </p:nvSpPr>
        <p:spPr>
          <a:xfrm>
            <a:off x="3429000" y="205776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High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Valence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29"/>
          <p:cNvSpPr/>
          <p:nvPr/>
        </p:nvSpPr>
        <p:spPr>
          <a:xfrm>
            <a:off x="5139000" y="69480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30"/>
          <p:cNvSpPr/>
          <p:nvPr/>
        </p:nvSpPr>
        <p:spPr>
          <a:xfrm>
            <a:off x="5139000" y="1042560"/>
            <a:ext cx="372996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4172040" y="685800"/>
            <a:ext cx="4743000" cy="422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MDP Formulation — State, Action, Transition &amp; Reward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182880" y="658440"/>
            <a:ext cx="2879640" cy="263268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182880" y="658440"/>
            <a:ext cx="2879640" cy="38340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228600" y="67680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State Space  |S| = 400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255960" y="1078920"/>
            <a:ext cx="274248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20×20 discretized VA grid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cell = one emotional region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State s = (valence_bin, arousal_bin)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Current emotion as 2D GEW vector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Start: anger (Low V, High 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Target: happy [0.905, 0.425]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3173040" y="658440"/>
            <a:ext cx="2879640" cy="2632680"/>
          </a:xfrm>
          <a:prstGeom prst="rect">
            <a:avLst/>
          </a:prstGeom>
          <a:solidFill>
            <a:srgbClr val="eef8ef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3173040" y="658440"/>
            <a:ext cx="2879640" cy="38340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3218760" y="67680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Action Space  |A| = 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3246120" y="1078920"/>
            <a:ext cx="274248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action = one music clip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40 clips from DEAP 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clip has (valence, arousal)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Action induces emotion transition: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τ(s,a) = v_s + v_a → new state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 clipped to [-1, +1]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6163200" y="658440"/>
            <a:ext cx="2879640" cy="263268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6163200" y="658440"/>
            <a:ext cx="2879640" cy="38340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6208920" y="67680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Transition Function  τ(s,a)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6236280" y="1078920"/>
            <a:ext cx="274248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s' = τ(s, a) = v_s + v_a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Vector addition in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Non-deterministic across 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LOSO: learned from 31 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Tested on 1 held-out subject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32 independent LOSO evaluations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182880" y="3401640"/>
            <a:ext cx="8777520" cy="1572120"/>
          </a:xfrm>
          <a:prstGeom prst="rect">
            <a:avLst/>
          </a:prstGeom>
          <a:solidFill>
            <a:srgbClr val="fff8f0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320040" y="34380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640a"/>
                </a:solidFill>
                <a:latin typeface="Calibri"/>
                <a:ea typeface="Calibri"/>
              </a:rPr>
              <a:t>Reward Function Design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320040" y="3785760"/>
            <a:ext cx="85032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Base Reward: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r(s,a) = 1 if θ(s,a) ≤ 180° (clip moves emotion toward target), else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Extra Reward: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r(s,a) = +5 if θ(s,a) ≤ 10° (clip moves emotion toward target), else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θ = |θ_target| + |θ_current|  (sum of angular deviations from target and current vectors)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Stagnation Penalty  Φ(s,s'):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Φ = −100 if s = s' (same emotional state — punish getting stuck)  |  Φ = 0 otherwise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Effect: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Forces exploration; prevents agent from repeatedly recommending the same clip. Critical for Q-Learning &amp; DQL at 3000 episodes.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07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1: Q-Learning — Off-Policy Temporal Difference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08"/>
          <p:cNvSpPr/>
          <p:nvPr/>
        </p:nvSpPr>
        <p:spPr>
          <a:xfrm>
            <a:off x="182880" y="658440"/>
            <a:ext cx="5302800" cy="141660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32"/>
          <p:cNvSpPr/>
          <p:nvPr/>
        </p:nvSpPr>
        <p:spPr>
          <a:xfrm>
            <a:off x="320040" y="694800"/>
            <a:ext cx="5074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Update Rule (with Reward Shaping)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33"/>
          <p:cNvSpPr/>
          <p:nvPr/>
        </p:nvSpPr>
        <p:spPr>
          <a:xfrm>
            <a:off x="320040" y="1024200"/>
            <a:ext cx="5074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onsolas"/>
                <a:ea typeface="Consolas"/>
              </a:rPr>
              <a:t>Q(s,a)  ←  Q(s,a) + α [ r + γ · max_a' Q(s',a') + Φ(s,s') − Q(s,a)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34"/>
          <p:cNvSpPr/>
          <p:nvPr/>
        </p:nvSpPr>
        <p:spPr>
          <a:xfrm>
            <a:off x="320040" y="1463040"/>
            <a:ext cx="507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α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learning rate  |  </a:t>
            </a:r>
            <a:r>
              <a:rPr b="1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γ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discount factor  |  </a:t>
            </a:r>
            <a:r>
              <a:rPr b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Φ(s,s')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reward shaping  |  </a:t>
            </a:r>
            <a:r>
              <a:rPr b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max_a'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off-policy greedy selection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09"/>
          <p:cNvSpPr/>
          <p:nvPr/>
        </p:nvSpPr>
        <p:spPr>
          <a:xfrm>
            <a:off x="5669280" y="658440"/>
            <a:ext cx="3291120" cy="141660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35"/>
          <p:cNvSpPr/>
          <p:nvPr/>
        </p:nvSpPr>
        <p:spPr>
          <a:xfrm>
            <a:off x="5779080" y="694800"/>
            <a:ext cx="3089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Best Hyperparams (Grid CV)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10"/>
          <p:cNvSpPr/>
          <p:nvPr/>
        </p:nvSpPr>
        <p:spPr>
          <a:xfrm>
            <a:off x="5687640" y="1024200"/>
            <a:ext cx="3254400" cy="236880"/>
          </a:xfrm>
          <a:prstGeom prst="rect">
            <a:avLst/>
          </a:prstGeom>
          <a:solidFill>
            <a:srgbClr val="ee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36"/>
          <p:cNvSpPr/>
          <p:nvPr/>
        </p:nvSpPr>
        <p:spPr>
          <a:xfrm>
            <a:off x="5724000" y="103320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α (learning rate)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37"/>
          <p:cNvSpPr/>
          <p:nvPr/>
        </p:nvSpPr>
        <p:spPr>
          <a:xfrm>
            <a:off x="7644240" y="103320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11"/>
          <p:cNvSpPr/>
          <p:nvPr/>
        </p:nvSpPr>
        <p:spPr>
          <a:xfrm>
            <a:off x="5687640" y="127116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8"/>
          <p:cNvSpPr/>
          <p:nvPr/>
        </p:nvSpPr>
        <p:spPr>
          <a:xfrm>
            <a:off x="5724000" y="128016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γ (discount)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39"/>
          <p:cNvSpPr/>
          <p:nvPr/>
        </p:nvSpPr>
        <p:spPr>
          <a:xfrm>
            <a:off x="7644240" y="128016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12"/>
          <p:cNvSpPr/>
          <p:nvPr/>
        </p:nvSpPr>
        <p:spPr>
          <a:xfrm>
            <a:off x="5687640" y="1517760"/>
            <a:ext cx="3254400" cy="236880"/>
          </a:xfrm>
          <a:prstGeom prst="rect">
            <a:avLst/>
          </a:prstGeom>
          <a:solidFill>
            <a:srgbClr val="ee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40"/>
          <p:cNvSpPr/>
          <p:nvPr/>
        </p:nvSpPr>
        <p:spPr>
          <a:xfrm>
            <a:off x="5724000" y="152712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ε (exploration)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41"/>
          <p:cNvSpPr/>
          <p:nvPr/>
        </p:nvSpPr>
        <p:spPr>
          <a:xfrm>
            <a:off x="7644240" y="152712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13"/>
          <p:cNvSpPr/>
          <p:nvPr/>
        </p:nvSpPr>
        <p:spPr>
          <a:xfrm>
            <a:off x="5687640" y="176472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42"/>
          <p:cNvSpPr/>
          <p:nvPr/>
        </p:nvSpPr>
        <p:spPr>
          <a:xfrm>
            <a:off x="5724000" y="177408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43"/>
          <p:cNvSpPr/>
          <p:nvPr/>
        </p:nvSpPr>
        <p:spPr>
          <a:xfrm>
            <a:off x="7644240" y="177408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9.7° (w/ shaping)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44"/>
          <p:cNvSpPr/>
          <p:nvPr/>
        </p:nvSpPr>
        <p:spPr>
          <a:xfrm>
            <a:off x="182880" y="217620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How it Works — Step by Step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14"/>
          <p:cNvSpPr/>
          <p:nvPr/>
        </p:nvSpPr>
        <p:spPr>
          <a:xfrm>
            <a:off x="182880" y="257868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45"/>
          <p:cNvSpPr/>
          <p:nvPr/>
        </p:nvSpPr>
        <p:spPr>
          <a:xfrm>
            <a:off x="182880" y="2578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46"/>
          <p:cNvSpPr/>
          <p:nvPr/>
        </p:nvSpPr>
        <p:spPr>
          <a:xfrm>
            <a:off x="594360" y="259704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Initialize: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Q-table of zeros: Q[400 states × 40 actions]. All music clips equally likely initially.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15"/>
          <p:cNvSpPr/>
          <p:nvPr/>
        </p:nvSpPr>
        <p:spPr>
          <a:xfrm>
            <a:off x="182880" y="307224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47"/>
          <p:cNvSpPr/>
          <p:nvPr/>
        </p:nvSpPr>
        <p:spPr>
          <a:xfrm>
            <a:off x="182880" y="30722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8"/>
          <p:cNvSpPr/>
          <p:nvPr/>
        </p:nvSpPr>
        <p:spPr>
          <a:xfrm>
            <a:off x="594360" y="309060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Select 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ε-greedy: with prob ε explore random clip; with prob (1−ε) exploit best Q(s,a).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16"/>
          <p:cNvSpPr/>
          <p:nvPr/>
        </p:nvSpPr>
        <p:spPr>
          <a:xfrm>
            <a:off x="182880" y="356616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49"/>
          <p:cNvSpPr/>
          <p:nvPr/>
        </p:nvSpPr>
        <p:spPr>
          <a:xfrm>
            <a:off x="182880" y="35661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50"/>
          <p:cNvSpPr/>
          <p:nvPr/>
        </p:nvSpPr>
        <p:spPr>
          <a:xfrm>
            <a:off x="594360" y="358452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Observe Transition: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Play selected clip → EEG captures new emotional state s' = τ(s,a). Get reward r + shaping Φ.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17"/>
          <p:cNvSpPr/>
          <p:nvPr/>
        </p:nvSpPr>
        <p:spPr>
          <a:xfrm>
            <a:off x="182880" y="406008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51"/>
          <p:cNvSpPr/>
          <p:nvPr/>
        </p:nvSpPr>
        <p:spPr>
          <a:xfrm>
            <a:off x="182880" y="4060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52"/>
          <p:cNvSpPr/>
          <p:nvPr/>
        </p:nvSpPr>
        <p:spPr>
          <a:xfrm>
            <a:off x="594360" y="407808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Off-Policy Update: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Update Q(s,a) using MAXIMUM Q-value of next state: max_a' Q(s',a'). Does NOT follow current policy.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18"/>
          <p:cNvSpPr/>
          <p:nvPr/>
        </p:nvSpPr>
        <p:spPr>
          <a:xfrm>
            <a:off x="182880" y="455364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53"/>
          <p:cNvSpPr/>
          <p:nvPr/>
        </p:nvSpPr>
        <p:spPr>
          <a:xfrm>
            <a:off x="182880" y="45536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54"/>
          <p:cNvSpPr/>
          <p:nvPr/>
        </p:nvSpPr>
        <p:spPr>
          <a:xfrm>
            <a:off x="594360" y="457200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LOSO Evaluation: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Train on 31 subjects → test on held-out subject. Repeat 32 times. Final metric = angular error at clip 6.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19"/>
          <p:cNvSpPr/>
          <p:nvPr/>
        </p:nvSpPr>
        <p:spPr>
          <a:xfrm>
            <a:off x="7543800" y="2176200"/>
            <a:ext cx="1416600" cy="2907000"/>
          </a:xfrm>
          <a:prstGeom prst="rect">
            <a:avLst/>
          </a:prstGeom>
          <a:solidFill>
            <a:srgbClr val="e3f2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Why Off-Policy?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Q-Learning learns the OPTIMAL policy independently of what the agent actually does. It can explore random paths yet still update toward the greedy optimal. This makes it sample-efficient for the sparse DEAP emotion transition space. Best results: 27/32 convergence with shaping.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5"/>
          <p:cNvSpPr/>
          <p:nvPr/>
        </p:nvSpPr>
        <p:spPr>
          <a:xfrm>
            <a:off x="320040" y="5111640"/>
            <a:ext cx="85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2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56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2: SARSA — On-Policy Temporal Difference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21"/>
          <p:cNvSpPr/>
          <p:nvPr/>
        </p:nvSpPr>
        <p:spPr>
          <a:xfrm>
            <a:off x="182880" y="658440"/>
            <a:ext cx="5302800" cy="141660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57"/>
          <p:cNvSpPr/>
          <p:nvPr/>
        </p:nvSpPr>
        <p:spPr>
          <a:xfrm>
            <a:off x="320040" y="694800"/>
            <a:ext cx="5074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Update Rule (SARSA with Reward Shaping)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58"/>
          <p:cNvSpPr/>
          <p:nvPr/>
        </p:nvSpPr>
        <p:spPr>
          <a:xfrm>
            <a:off x="320040" y="1024200"/>
            <a:ext cx="5074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onsolas"/>
                <a:ea typeface="Consolas"/>
              </a:rPr>
              <a:t>Q(s,a)  ←  Q(s,a) + α [ r + γ · Q(s',a') + Φ(s,s') − Q(s,a)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59"/>
          <p:cNvSpPr/>
          <p:nvPr/>
        </p:nvSpPr>
        <p:spPr>
          <a:xfrm>
            <a:off x="320040" y="1481400"/>
            <a:ext cx="507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Key difference: uses Q(s',a') — the ACTUAL next action chosen by policy, NOT the maximum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22"/>
          <p:cNvSpPr/>
          <p:nvPr/>
        </p:nvSpPr>
        <p:spPr>
          <a:xfrm>
            <a:off x="5669280" y="658440"/>
            <a:ext cx="3291120" cy="141660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60"/>
          <p:cNvSpPr/>
          <p:nvPr/>
        </p:nvSpPr>
        <p:spPr>
          <a:xfrm>
            <a:off x="5779080" y="694800"/>
            <a:ext cx="3089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Best Hyperparams (Grid CV)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23"/>
          <p:cNvSpPr/>
          <p:nvPr/>
        </p:nvSpPr>
        <p:spPr>
          <a:xfrm>
            <a:off x="5687640" y="1024200"/>
            <a:ext cx="3254400" cy="236880"/>
          </a:xfrm>
          <a:prstGeom prst="rect">
            <a:avLst/>
          </a:prstGeom>
          <a:solidFill>
            <a:srgbClr val="fff5ee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61"/>
          <p:cNvSpPr/>
          <p:nvPr/>
        </p:nvSpPr>
        <p:spPr>
          <a:xfrm>
            <a:off x="5724000" y="103320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α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62"/>
          <p:cNvSpPr/>
          <p:nvPr/>
        </p:nvSpPr>
        <p:spPr>
          <a:xfrm>
            <a:off x="7644240" y="103320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24"/>
          <p:cNvSpPr/>
          <p:nvPr/>
        </p:nvSpPr>
        <p:spPr>
          <a:xfrm>
            <a:off x="5687640" y="127116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63"/>
          <p:cNvSpPr/>
          <p:nvPr/>
        </p:nvSpPr>
        <p:spPr>
          <a:xfrm>
            <a:off x="5724000" y="128016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γ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64"/>
          <p:cNvSpPr/>
          <p:nvPr/>
        </p:nvSpPr>
        <p:spPr>
          <a:xfrm>
            <a:off x="7644240" y="128016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25"/>
          <p:cNvSpPr/>
          <p:nvPr/>
        </p:nvSpPr>
        <p:spPr>
          <a:xfrm>
            <a:off x="5687640" y="1517760"/>
            <a:ext cx="3254400" cy="236880"/>
          </a:xfrm>
          <a:prstGeom prst="rect">
            <a:avLst/>
          </a:prstGeom>
          <a:solidFill>
            <a:srgbClr val="fff5ee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65"/>
          <p:cNvSpPr/>
          <p:nvPr/>
        </p:nvSpPr>
        <p:spPr>
          <a:xfrm>
            <a:off x="5724000" y="152712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66"/>
          <p:cNvSpPr/>
          <p:nvPr/>
        </p:nvSpPr>
        <p:spPr>
          <a:xfrm>
            <a:off x="7644240" y="152712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26"/>
          <p:cNvSpPr/>
          <p:nvPr/>
        </p:nvSpPr>
        <p:spPr>
          <a:xfrm>
            <a:off x="5687640" y="176472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67"/>
          <p:cNvSpPr/>
          <p:nvPr/>
        </p:nvSpPr>
        <p:spPr>
          <a:xfrm>
            <a:off x="5724000" y="177408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68"/>
          <p:cNvSpPr/>
          <p:nvPr/>
        </p:nvSpPr>
        <p:spPr>
          <a:xfrm>
            <a:off x="7644240" y="177408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26.8° (w/ shaping)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69"/>
          <p:cNvSpPr/>
          <p:nvPr/>
        </p:nvSpPr>
        <p:spPr>
          <a:xfrm>
            <a:off x="182880" y="217620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How it Works — On-Policy Difference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27"/>
          <p:cNvSpPr/>
          <p:nvPr/>
        </p:nvSpPr>
        <p:spPr>
          <a:xfrm>
            <a:off x="182880" y="257868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70"/>
          <p:cNvSpPr/>
          <p:nvPr/>
        </p:nvSpPr>
        <p:spPr>
          <a:xfrm>
            <a:off x="182880" y="257868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71"/>
          <p:cNvSpPr/>
          <p:nvPr/>
        </p:nvSpPr>
        <p:spPr>
          <a:xfrm>
            <a:off x="658440" y="259704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State: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Current emotional state s (anger at start)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28"/>
          <p:cNvSpPr/>
          <p:nvPr/>
        </p:nvSpPr>
        <p:spPr>
          <a:xfrm>
            <a:off x="182880" y="304488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72"/>
          <p:cNvSpPr/>
          <p:nvPr/>
        </p:nvSpPr>
        <p:spPr>
          <a:xfrm>
            <a:off x="182880" y="304488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73"/>
          <p:cNvSpPr/>
          <p:nvPr/>
        </p:nvSpPr>
        <p:spPr>
          <a:xfrm>
            <a:off x="658440" y="306324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Choose action a using ε-greedy policy on Q-table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29"/>
          <p:cNvSpPr/>
          <p:nvPr/>
        </p:nvSpPr>
        <p:spPr>
          <a:xfrm>
            <a:off x="182880" y="351144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74"/>
          <p:cNvSpPr/>
          <p:nvPr/>
        </p:nvSpPr>
        <p:spPr>
          <a:xfrm>
            <a:off x="182880" y="351144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75"/>
          <p:cNvSpPr/>
          <p:nvPr/>
        </p:nvSpPr>
        <p:spPr>
          <a:xfrm>
            <a:off x="658440" y="352944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Reward: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Observe reward r after presenting music clip. Apply shaping Φ if s=s'.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30"/>
          <p:cNvSpPr/>
          <p:nvPr/>
        </p:nvSpPr>
        <p:spPr>
          <a:xfrm>
            <a:off x="182880" y="397764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76"/>
          <p:cNvSpPr/>
          <p:nvPr/>
        </p:nvSpPr>
        <p:spPr>
          <a:xfrm>
            <a:off x="182880" y="397764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77"/>
          <p:cNvSpPr/>
          <p:nvPr/>
        </p:nvSpPr>
        <p:spPr>
          <a:xfrm>
            <a:off x="658440" y="399600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Next State: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Observe new emotional state s' from EEG response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31"/>
          <p:cNvSpPr/>
          <p:nvPr/>
        </p:nvSpPr>
        <p:spPr>
          <a:xfrm>
            <a:off x="182880" y="444384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78"/>
          <p:cNvSpPr/>
          <p:nvPr/>
        </p:nvSpPr>
        <p:spPr>
          <a:xfrm>
            <a:off x="182880" y="444384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79"/>
          <p:cNvSpPr/>
          <p:nvPr/>
        </p:nvSpPr>
        <p:spPr>
          <a:xfrm>
            <a:off x="658440" y="446220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Next 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Choose next action a' using SAME ε-greedy policy (on-policy).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Update Q(s,a) using this actual a', not max.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80"/>
          <p:cNvSpPr/>
          <p:nvPr/>
        </p:nvSpPr>
        <p:spPr>
          <a:xfrm>
            <a:off x="320040" y="5065920"/>
            <a:ext cx="8503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133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8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3: Double Q-Learning — Reducing Maximization Bias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34"/>
          <p:cNvSpPr/>
          <p:nvPr/>
        </p:nvSpPr>
        <p:spPr>
          <a:xfrm>
            <a:off x="137520" y="685800"/>
            <a:ext cx="8777520" cy="15721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82"/>
          <p:cNvSpPr/>
          <p:nvPr/>
        </p:nvSpPr>
        <p:spPr>
          <a:xfrm>
            <a:off x="320040" y="6948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a1b9a"/>
                </a:solidFill>
                <a:latin typeface="Calibri"/>
                <a:ea typeface="Calibri"/>
              </a:rPr>
              <a:t>Update Rule — Two Independent Q-Tables (Q^A and Q^B)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83"/>
          <p:cNvSpPr/>
          <p:nvPr/>
        </p:nvSpPr>
        <p:spPr>
          <a:xfrm>
            <a:off x="320040" y="10332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Update Q^A: Q^A(s,a) ← Q^A(s,a) + α [ r + γ · Q^B(s', argmax_a Q^A(s',a)) + Φ(s,s') − Q^A(s,a)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84"/>
          <p:cNvSpPr/>
          <p:nvPr/>
        </p:nvSpPr>
        <p:spPr>
          <a:xfrm>
            <a:off x="320040" y="1444680"/>
            <a:ext cx="8503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85"/>
          <p:cNvSpPr/>
          <p:nvPr/>
        </p:nvSpPr>
        <p:spPr>
          <a:xfrm>
            <a:off x="182880" y="233172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Why Double Q-Learning? The Overestimation Problem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35"/>
          <p:cNvSpPr/>
          <p:nvPr/>
        </p:nvSpPr>
        <p:spPr>
          <a:xfrm>
            <a:off x="182880" y="2697480"/>
            <a:ext cx="2815560" cy="233136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36"/>
          <p:cNvSpPr/>
          <p:nvPr/>
        </p:nvSpPr>
        <p:spPr>
          <a:xfrm>
            <a:off x="182880" y="2697480"/>
            <a:ext cx="2879640" cy="34668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86"/>
          <p:cNvSpPr/>
          <p:nvPr/>
        </p:nvSpPr>
        <p:spPr>
          <a:xfrm>
            <a:off x="228600" y="2715840"/>
            <a:ext cx="2788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Standard Q-Learning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87"/>
          <p:cNvSpPr/>
          <p:nvPr/>
        </p:nvSpPr>
        <p:spPr>
          <a:xfrm>
            <a:off x="255960" y="3072240"/>
            <a:ext cx="27424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Uses max_a' Q(s',a') to update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The MAX operation overestimates value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 stochastic environments, max of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noise &gt; true maximum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Result: Agent thinks certain emotion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transitions are better than they 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Leads to overconfident, biased playlists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37"/>
          <p:cNvSpPr/>
          <p:nvPr/>
        </p:nvSpPr>
        <p:spPr>
          <a:xfrm>
            <a:off x="3173040" y="2697480"/>
            <a:ext cx="2770200" cy="233136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38"/>
          <p:cNvSpPr/>
          <p:nvPr/>
        </p:nvSpPr>
        <p:spPr>
          <a:xfrm>
            <a:off x="3173040" y="2697480"/>
            <a:ext cx="2879640" cy="34668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88"/>
          <p:cNvSpPr/>
          <p:nvPr/>
        </p:nvSpPr>
        <p:spPr>
          <a:xfrm>
            <a:off x="3218760" y="2715840"/>
            <a:ext cx="2788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89"/>
          <p:cNvSpPr/>
          <p:nvPr/>
        </p:nvSpPr>
        <p:spPr>
          <a:xfrm>
            <a:off x="3246120" y="3072240"/>
            <a:ext cx="27424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Q^A selects the BEST ACTION: a* = argmax Q^A(s',a)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Q^B EVALUATES that action: Q^B(s', a*)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Decoupling selection from evaluation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eliminates overestimation bias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Both tables update alternately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More stable, conservative estimates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Result: 27/32 convergence, mean 24.1°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39"/>
          <p:cNvSpPr/>
          <p:nvPr/>
        </p:nvSpPr>
        <p:spPr>
          <a:xfrm>
            <a:off x="6163200" y="2697480"/>
            <a:ext cx="2815560" cy="233136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40"/>
          <p:cNvSpPr/>
          <p:nvPr/>
        </p:nvSpPr>
        <p:spPr>
          <a:xfrm>
            <a:off x="6163200" y="2697480"/>
            <a:ext cx="2879640" cy="3466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90"/>
          <p:cNvSpPr/>
          <p:nvPr/>
        </p:nvSpPr>
        <p:spPr>
          <a:xfrm>
            <a:off x="6208920" y="2715840"/>
            <a:ext cx="2788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Best Hyperparams (Grid CV)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91"/>
          <p:cNvSpPr/>
          <p:nvPr/>
        </p:nvSpPr>
        <p:spPr>
          <a:xfrm>
            <a:off x="6236280" y="3072240"/>
            <a:ext cx="27424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α = 0.05  (small — stable updates)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γ = 0.8  (long-term focused)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ε = 0.2  (explore well)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error: 7.3° with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(Best single-run CV across all 3 algos)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Robust: less variance than std QL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92"/>
          <p:cNvSpPr/>
          <p:nvPr/>
        </p:nvSpPr>
        <p:spPr>
          <a:xfrm>
            <a:off x="320040" y="13716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Update Q^B: Q^B(s,a) ← Q^B(s,a) + α [ r + γ · Q^A(s', argmax_a Q^B(s',a)) + Φ(s,s') − Q^B(s,a)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93"/>
          <p:cNvSpPr/>
          <p:nvPr/>
        </p:nvSpPr>
        <p:spPr>
          <a:xfrm>
            <a:off x="320040" y="10332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20040" y="1912680"/>
            <a:ext cx="62078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Action selection: ε-greedy on Q^A + Q^B (combined)  |  Update alternates randomly between Q^A and Q^B each step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4: Double SARSA — Our Novel Innovation &amp; Its Results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182880" y="658440"/>
            <a:ext cx="8777520" cy="1535400"/>
          </a:xfrm>
          <a:prstGeom prst="rect">
            <a:avLst/>
          </a:prstGeom>
          <a:solidFill>
            <a:srgbClr val="f0f8ff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320040" y="6948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796b"/>
                </a:solidFill>
                <a:latin typeface="Calibri"/>
                <a:ea typeface="Calibri"/>
              </a:rPr>
              <a:t>Update Rule — On-Policy + Dual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320040" y="10242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Q^A(s,a) ← Q^A(s,a) + α [ r + γ·Q^B(s', a') + Φ(s,s') − Q^A(s,a) ]    where a' is ACTUAL next action (on-policy)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320040" y="1435680"/>
            <a:ext cx="8503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Combines on-policy conservatism of SARSA + dual-table bias reduction of Double Q-Learning. Uses actual a' (not max) via Q^B. Novel extension beyond original paper.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Image 0" descr="preencoded.png"/>
          <p:cNvPicPr/>
          <p:nvPr/>
        </p:nvPicPr>
        <p:blipFill>
          <a:blip r:embed="rId1"/>
          <a:stretch/>
        </p:blipFill>
        <p:spPr>
          <a:xfrm>
            <a:off x="137160" y="2304360"/>
            <a:ext cx="4388400" cy="2541240"/>
          </a:xfrm>
          <a:prstGeom prst="rect">
            <a:avLst/>
          </a:prstGeom>
          <a:ln w="0">
            <a:noFill/>
          </a:ln>
        </p:spPr>
      </p:pic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4663440" y="2304360"/>
            <a:ext cx="4342680" cy="2541240"/>
          </a:xfrm>
          <a:prstGeom prst="rect">
            <a:avLst/>
          </a:prstGeom>
          <a:ln w="0">
            <a:noFill/>
          </a:ln>
        </p:spPr>
      </p:pic>
      <p:sp>
        <p:nvSpPr>
          <p:cNvPr id="239" name="Text 6"/>
          <p:cNvSpPr/>
          <p:nvPr/>
        </p:nvSpPr>
        <p:spPr>
          <a:xfrm>
            <a:off x="137160" y="486468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96b"/>
                </a:solidFill>
                <a:latin typeface="Calibri"/>
                <a:ea typeface="Calibri"/>
              </a:rPr>
              <a:t>Angular Error per Iteration — stays ~78° throughout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4663440" y="4864680"/>
            <a:ext cx="4342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96b"/>
                </a:solidFill>
                <a:latin typeface="Calibri"/>
                <a:ea typeface="Calibri"/>
              </a:rPr>
              <a:t>Reward shaping: minimal effect (10 vs 9 &lt;20°)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Our Innovations — Complete Algorithm Family Comparison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182880" y="658440"/>
            <a:ext cx="8777520" cy="803880"/>
          </a:xfrm>
          <a:prstGeom prst="rect">
            <a:avLst/>
          </a:prstGeom>
          <a:solidFill>
            <a:srgbClr val="f0f8ff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320040" y="694800"/>
            <a:ext cx="85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96b"/>
                </a:solidFill>
                <a:latin typeface="Calibri"/>
                <a:ea typeface="Calibri"/>
              </a:rPr>
              <a:t>Key Finding at 3000 Episodes: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More training dramatically changes the rankings. SARSA went from worst to 2nd best with shaping. DQL with shaping is the overall winner. Double SARSA remains fundamentally limited — neither on-policy training time nor dual tables helped overcome sparse exploration.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182880" y="157284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Complete Algorithm Family — What We Implemented vs. Results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182880" y="1938600"/>
            <a:ext cx="166284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199440" y="193860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1846440" y="1938600"/>
            <a:ext cx="108072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1863000" y="193860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Type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2927880" y="1938600"/>
            <a:ext cx="166284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2944440" y="193860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Update Rule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4591440" y="1938600"/>
            <a:ext cx="162108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4608000" y="193860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Innovation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6213240" y="1938600"/>
            <a:ext cx="133020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6230160" y="193860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&lt;20° (w/ shaping)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7543800" y="1947960"/>
            <a:ext cx="1599840" cy="34668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7561080" y="194796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Mean Err (w/ shaping)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182880" y="2304000"/>
            <a:ext cx="166284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8"/>
          <p:cNvSpPr/>
          <p:nvPr/>
        </p:nvSpPr>
        <p:spPr>
          <a:xfrm>
            <a:off x="199440" y="230400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Q-Learning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9"/>
          <p:cNvSpPr/>
          <p:nvPr/>
        </p:nvSpPr>
        <p:spPr>
          <a:xfrm>
            <a:off x="1846440" y="2304000"/>
            <a:ext cx="108072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1863000" y="230400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2927880" y="2304000"/>
            <a:ext cx="166284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2"/>
          <p:cNvSpPr/>
          <p:nvPr/>
        </p:nvSpPr>
        <p:spPr>
          <a:xfrm>
            <a:off x="2944440" y="230400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max_a' Q(s',a')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3"/>
          <p:cNvSpPr/>
          <p:nvPr/>
        </p:nvSpPr>
        <p:spPr>
          <a:xfrm>
            <a:off x="4591440" y="2304000"/>
            <a:ext cx="162108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4"/>
          <p:cNvSpPr/>
          <p:nvPr/>
        </p:nvSpPr>
        <p:spPr>
          <a:xfrm>
            <a:off x="4608000" y="230400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Baseline — replicated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5"/>
          <p:cNvSpPr/>
          <p:nvPr/>
        </p:nvSpPr>
        <p:spPr>
          <a:xfrm>
            <a:off x="6213240" y="2304000"/>
            <a:ext cx="133020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6"/>
          <p:cNvSpPr/>
          <p:nvPr/>
        </p:nvSpPr>
        <p:spPr>
          <a:xfrm>
            <a:off x="6230160" y="230400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21/32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7"/>
          <p:cNvSpPr/>
          <p:nvPr/>
        </p:nvSpPr>
        <p:spPr>
          <a:xfrm>
            <a:off x="7543800" y="2311560"/>
            <a:ext cx="159984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8"/>
          <p:cNvSpPr/>
          <p:nvPr/>
        </p:nvSpPr>
        <p:spPr>
          <a:xfrm>
            <a:off x="7561080" y="2311560"/>
            <a:ext cx="156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20.1° ±23.5°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9"/>
          <p:cNvSpPr/>
          <p:nvPr/>
        </p:nvSpPr>
        <p:spPr>
          <a:xfrm>
            <a:off x="182880" y="2669400"/>
            <a:ext cx="166284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0"/>
          <p:cNvSpPr/>
          <p:nvPr/>
        </p:nvSpPr>
        <p:spPr>
          <a:xfrm>
            <a:off x="199440" y="2669400"/>
            <a:ext cx="1629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SARSA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1"/>
          <p:cNvSpPr/>
          <p:nvPr/>
        </p:nvSpPr>
        <p:spPr>
          <a:xfrm>
            <a:off x="1846440" y="2669400"/>
            <a:ext cx="108072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2"/>
          <p:cNvSpPr/>
          <p:nvPr/>
        </p:nvSpPr>
        <p:spPr>
          <a:xfrm>
            <a:off x="1863000" y="2669400"/>
            <a:ext cx="1047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On-policy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3"/>
          <p:cNvSpPr/>
          <p:nvPr/>
        </p:nvSpPr>
        <p:spPr>
          <a:xfrm>
            <a:off x="2927880" y="2669400"/>
            <a:ext cx="166284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34"/>
          <p:cNvSpPr/>
          <p:nvPr/>
        </p:nvSpPr>
        <p:spPr>
          <a:xfrm>
            <a:off x="2944440" y="2669400"/>
            <a:ext cx="1629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Q(s',a') 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5"/>
          <p:cNvSpPr/>
          <p:nvPr/>
        </p:nvSpPr>
        <p:spPr>
          <a:xfrm>
            <a:off x="4591440" y="2669400"/>
            <a:ext cx="162108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6"/>
          <p:cNvSpPr/>
          <p:nvPr/>
        </p:nvSpPr>
        <p:spPr>
          <a:xfrm>
            <a:off x="4608000" y="2669400"/>
            <a:ext cx="15879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Conservative explore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7"/>
          <p:cNvSpPr/>
          <p:nvPr/>
        </p:nvSpPr>
        <p:spPr>
          <a:xfrm>
            <a:off x="6213240" y="2669400"/>
            <a:ext cx="133020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8"/>
          <p:cNvSpPr/>
          <p:nvPr/>
        </p:nvSpPr>
        <p:spPr>
          <a:xfrm>
            <a:off x="6230160" y="2669400"/>
            <a:ext cx="1296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25/32  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9"/>
          <p:cNvSpPr/>
          <p:nvPr/>
        </p:nvSpPr>
        <p:spPr>
          <a:xfrm>
            <a:off x="7543800" y="2675880"/>
            <a:ext cx="1599840" cy="3466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0"/>
          <p:cNvSpPr/>
          <p:nvPr/>
        </p:nvSpPr>
        <p:spPr>
          <a:xfrm>
            <a:off x="7561080" y="267588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13.8° ±26.8°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1"/>
          <p:cNvSpPr/>
          <p:nvPr/>
        </p:nvSpPr>
        <p:spPr>
          <a:xfrm>
            <a:off x="182880" y="3035160"/>
            <a:ext cx="166284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2"/>
          <p:cNvSpPr/>
          <p:nvPr/>
        </p:nvSpPr>
        <p:spPr>
          <a:xfrm>
            <a:off x="199440" y="3035160"/>
            <a:ext cx="1629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Double Q-Learning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3"/>
          <p:cNvSpPr/>
          <p:nvPr/>
        </p:nvSpPr>
        <p:spPr>
          <a:xfrm>
            <a:off x="1846440" y="3035160"/>
            <a:ext cx="108072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4"/>
          <p:cNvSpPr/>
          <p:nvPr/>
        </p:nvSpPr>
        <p:spPr>
          <a:xfrm>
            <a:off x="1863000" y="3035160"/>
            <a:ext cx="1047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5"/>
          <p:cNvSpPr/>
          <p:nvPr/>
        </p:nvSpPr>
        <p:spPr>
          <a:xfrm>
            <a:off x="2927880" y="3035160"/>
            <a:ext cx="166284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6"/>
          <p:cNvSpPr/>
          <p:nvPr/>
        </p:nvSpPr>
        <p:spPr>
          <a:xfrm>
            <a:off x="2944440" y="3035160"/>
            <a:ext cx="1629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Q^B(s', argmax Q^A)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7"/>
          <p:cNvSpPr/>
          <p:nvPr/>
        </p:nvSpPr>
        <p:spPr>
          <a:xfrm>
            <a:off x="4591440" y="3035160"/>
            <a:ext cx="162108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8"/>
          <p:cNvSpPr/>
          <p:nvPr/>
        </p:nvSpPr>
        <p:spPr>
          <a:xfrm>
            <a:off x="4608000" y="3035160"/>
            <a:ext cx="15879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Decoupled sel/eval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9"/>
          <p:cNvSpPr/>
          <p:nvPr/>
        </p:nvSpPr>
        <p:spPr>
          <a:xfrm>
            <a:off x="6213240" y="3035160"/>
            <a:ext cx="133020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0"/>
          <p:cNvSpPr/>
          <p:nvPr/>
        </p:nvSpPr>
        <p:spPr>
          <a:xfrm>
            <a:off x="6230160" y="3035160"/>
            <a:ext cx="1296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27/32 ★★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1"/>
          <p:cNvSpPr/>
          <p:nvPr/>
        </p:nvSpPr>
        <p:spPr>
          <a:xfrm>
            <a:off x="7543800" y="3039840"/>
            <a:ext cx="1599840" cy="3466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2"/>
          <p:cNvSpPr/>
          <p:nvPr/>
        </p:nvSpPr>
        <p:spPr>
          <a:xfrm>
            <a:off x="7561080" y="303984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8.3° ±7.4° BEST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53"/>
          <p:cNvSpPr/>
          <p:nvPr/>
        </p:nvSpPr>
        <p:spPr>
          <a:xfrm>
            <a:off x="182880" y="3400560"/>
            <a:ext cx="166284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4"/>
          <p:cNvSpPr/>
          <p:nvPr/>
        </p:nvSpPr>
        <p:spPr>
          <a:xfrm>
            <a:off x="199440" y="340056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Double SARSA 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5"/>
          <p:cNvSpPr/>
          <p:nvPr/>
        </p:nvSpPr>
        <p:spPr>
          <a:xfrm>
            <a:off x="1846440" y="3400560"/>
            <a:ext cx="108072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6"/>
          <p:cNvSpPr/>
          <p:nvPr/>
        </p:nvSpPr>
        <p:spPr>
          <a:xfrm>
            <a:off x="1863000" y="340056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On-policy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57"/>
          <p:cNvSpPr/>
          <p:nvPr/>
        </p:nvSpPr>
        <p:spPr>
          <a:xfrm>
            <a:off x="2927880" y="3400560"/>
            <a:ext cx="166284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58"/>
          <p:cNvSpPr/>
          <p:nvPr/>
        </p:nvSpPr>
        <p:spPr>
          <a:xfrm>
            <a:off x="2944440" y="340056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Q^B(s', a') 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9"/>
          <p:cNvSpPr/>
          <p:nvPr/>
        </p:nvSpPr>
        <p:spPr>
          <a:xfrm>
            <a:off x="4591440" y="3400560"/>
            <a:ext cx="162108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0"/>
          <p:cNvSpPr/>
          <p:nvPr/>
        </p:nvSpPr>
        <p:spPr>
          <a:xfrm>
            <a:off x="4608000" y="340056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On-policy + dual table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1"/>
          <p:cNvSpPr/>
          <p:nvPr/>
        </p:nvSpPr>
        <p:spPr>
          <a:xfrm>
            <a:off x="6213240" y="3400560"/>
            <a:ext cx="133020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2"/>
          <p:cNvSpPr/>
          <p:nvPr/>
        </p:nvSpPr>
        <p:spPr>
          <a:xfrm>
            <a:off x="6230160" y="340056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10/32 (31%)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3"/>
          <p:cNvSpPr/>
          <p:nvPr/>
        </p:nvSpPr>
        <p:spPr>
          <a:xfrm>
            <a:off x="7543800" y="3403440"/>
            <a:ext cx="1599840" cy="34704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64"/>
          <p:cNvSpPr/>
          <p:nvPr/>
        </p:nvSpPr>
        <p:spPr>
          <a:xfrm>
            <a:off x="7561080" y="3403440"/>
            <a:ext cx="156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77.8° ±57.0°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5"/>
          <p:cNvSpPr/>
          <p:nvPr/>
        </p:nvSpPr>
        <p:spPr>
          <a:xfrm>
            <a:off x="182880" y="3766320"/>
            <a:ext cx="166284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66"/>
          <p:cNvSpPr/>
          <p:nvPr/>
        </p:nvSpPr>
        <p:spPr>
          <a:xfrm>
            <a:off x="199440" y="376632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Paper (Dutta 2020)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67"/>
          <p:cNvSpPr/>
          <p:nvPr/>
        </p:nvSpPr>
        <p:spPr>
          <a:xfrm>
            <a:off x="1846440" y="3766320"/>
            <a:ext cx="108072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68"/>
          <p:cNvSpPr/>
          <p:nvPr/>
        </p:nvSpPr>
        <p:spPr>
          <a:xfrm>
            <a:off x="1863000" y="376632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69"/>
          <p:cNvSpPr/>
          <p:nvPr/>
        </p:nvSpPr>
        <p:spPr>
          <a:xfrm>
            <a:off x="2927880" y="3766320"/>
            <a:ext cx="166284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70"/>
          <p:cNvSpPr/>
          <p:nvPr/>
        </p:nvSpPr>
        <p:spPr>
          <a:xfrm>
            <a:off x="2944440" y="376632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Standard QL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71"/>
          <p:cNvSpPr/>
          <p:nvPr/>
        </p:nvSpPr>
        <p:spPr>
          <a:xfrm>
            <a:off x="4591440" y="3766320"/>
            <a:ext cx="162108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72"/>
          <p:cNvSpPr/>
          <p:nvPr/>
        </p:nvSpPr>
        <p:spPr>
          <a:xfrm>
            <a:off x="4608000" y="376632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Baseline paper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73"/>
          <p:cNvSpPr/>
          <p:nvPr/>
        </p:nvSpPr>
        <p:spPr>
          <a:xfrm>
            <a:off x="6213240" y="3766320"/>
            <a:ext cx="133020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74"/>
          <p:cNvSpPr/>
          <p:nvPr/>
        </p:nvSpPr>
        <p:spPr>
          <a:xfrm>
            <a:off x="6230160" y="376632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19/32 (59%)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75"/>
          <p:cNvSpPr/>
          <p:nvPr/>
        </p:nvSpPr>
        <p:spPr>
          <a:xfrm>
            <a:off x="7543800" y="3767760"/>
            <a:ext cx="1599840" cy="34668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76"/>
          <p:cNvSpPr/>
          <p:nvPr/>
        </p:nvSpPr>
        <p:spPr>
          <a:xfrm>
            <a:off x="7561080" y="376776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57.0° ±2.8°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77"/>
          <p:cNvSpPr/>
          <p:nvPr/>
        </p:nvSpPr>
        <p:spPr>
          <a:xfrm>
            <a:off x="201240" y="4572000"/>
            <a:ext cx="8622000" cy="383400"/>
          </a:xfrm>
          <a:prstGeom prst="rect">
            <a:avLst/>
          </a:prstGeom>
          <a:solidFill>
            <a:srgbClr val="00796b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78"/>
          <p:cNvSpPr/>
          <p:nvPr/>
        </p:nvSpPr>
        <p:spPr>
          <a:xfrm>
            <a:off x="685800" y="4572000"/>
            <a:ext cx="8137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All algorithms tested WITH and WITHOUT reward shaping (Φ=−100) — 8 total conditions. Grid search: 10-fold CV, 500 ep. Final LOSO evaluation: 3000 episodes. Convergence metric: &lt;20° and &lt;30° angular error.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Master Results Summary — All 4 Algorithms × 2 Conditions (3000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4892040" y="658440"/>
            <a:ext cx="4068360" cy="1937880"/>
          </a:xfrm>
          <a:prstGeom prst="rect">
            <a:avLst/>
          </a:prstGeom>
          <a:solidFill>
            <a:srgbClr val="e8fff0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5010840" y="69480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7a4a"/>
                </a:solidFill>
                <a:latin typeface="Calibri"/>
                <a:ea typeface="Calibri"/>
              </a:rPr>
              <a:t>Top Performers (With Shaping)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4"/>
          <p:cNvSpPr/>
          <p:nvPr/>
        </p:nvSpPr>
        <p:spPr>
          <a:xfrm>
            <a:off x="5010840" y="1042560"/>
            <a:ext cx="385812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 </a:t>
            </a: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DQL: 27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/32 &lt;20°, 29/32 &lt;30°, mean 8.3° ±7.4°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 </a:t>
            </a: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SARSA: 25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/32 &lt;20°, 25/32 &lt;30°, mean 13.8° ±26.8°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QL: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21/32 &lt;20°, 23/32 &lt;30°, mean 20.1° ±23.5°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Double SARSA: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10/32 &lt;20°, 11/32 &lt;30°, 77.8°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4892040" y="2688480"/>
            <a:ext cx="4068360" cy="193788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5010840" y="27248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Without Shaping — Key Shifts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7"/>
          <p:cNvSpPr/>
          <p:nvPr/>
        </p:nvSpPr>
        <p:spPr>
          <a:xfrm>
            <a:off x="5010840" y="3072240"/>
            <a:ext cx="385812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SARSA w/o shaping: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21/32 &lt;20°, 21.5° — still very good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DQL w/o shaping: </a:t>
            </a: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17/32 &lt;20°, 49.2° — CRASHES without Φ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D-SARSA: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Essentially same with/without — 77° both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8"/>
          <p:cNvSpPr/>
          <p:nvPr/>
        </p:nvSpPr>
        <p:spPr>
          <a:xfrm>
            <a:off x="4892040" y="4718160"/>
            <a:ext cx="4068360" cy="27360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9"/>
          <p:cNvSpPr/>
          <p:nvPr/>
        </p:nvSpPr>
        <p:spPr>
          <a:xfrm>
            <a:off x="5010840" y="4745880"/>
            <a:ext cx="3858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All 3 main algorithms beat Paper baseline (57°) with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91440" y="1143000"/>
            <a:ext cx="4709160" cy="312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Q-Learning Results — 3000 Episodes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40080"/>
            <a:ext cx="5028480" cy="2651040"/>
          </a:xfrm>
          <a:prstGeom prst="rect">
            <a:avLst/>
          </a:prstGeom>
          <a:ln w="0">
            <a:noFill/>
          </a:ln>
        </p:spPr>
      </p:pic>
      <p:pic>
        <p:nvPicPr>
          <p:cNvPr id="334" name="Image 1" descr="/mnt/user-data/uploads/compare_shaping_effect.png"/>
          <p:cNvPicPr/>
          <p:nvPr/>
        </p:nvPicPr>
        <p:blipFill>
          <a:blip r:embed="rId2"/>
          <a:stretch/>
        </p:blipFill>
        <p:spPr>
          <a:xfrm>
            <a:off x="5257800" y="640080"/>
            <a:ext cx="3748320" cy="2651040"/>
          </a:xfrm>
          <a:prstGeom prst="rect">
            <a:avLst/>
          </a:prstGeom>
          <a:ln w="0">
            <a:noFill/>
          </a:ln>
        </p:spPr>
      </p:pic>
      <p:sp>
        <p:nvSpPr>
          <p:cNvPr id="335" name="Text 2"/>
          <p:cNvSpPr/>
          <p:nvPr/>
        </p:nvSpPr>
        <p:spPr>
          <a:xfrm>
            <a:off x="137160" y="331020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565c0"/>
                </a:solidFill>
                <a:latin typeface="Calibri"/>
                <a:ea typeface="Calibri"/>
              </a:rPr>
              <a:t>All 3 algorithms compared (with shaping) — DQL and SARSA now outperform 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5257800" y="331020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Shaping effect: QL with shaping WORSE than without — unusual reversal at 3000 ep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164520" y="365760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20124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21/32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123444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&lt;20°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65.6%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7"/>
          <p:cNvSpPr/>
          <p:nvPr/>
        </p:nvSpPr>
        <p:spPr>
          <a:xfrm>
            <a:off x="3154680" y="365760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31914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23/32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422460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&lt;30°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71.9%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0"/>
          <p:cNvSpPr/>
          <p:nvPr/>
        </p:nvSpPr>
        <p:spPr>
          <a:xfrm>
            <a:off x="6144840" y="365760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1"/>
          <p:cNvSpPr/>
          <p:nvPr/>
        </p:nvSpPr>
        <p:spPr>
          <a:xfrm>
            <a:off x="61812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20.1°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721476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Mean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±23.5° 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3"/>
          <p:cNvSpPr/>
          <p:nvPr/>
        </p:nvSpPr>
        <p:spPr>
          <a:xfrm>
            <a:off x="164520" y="437076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4"/>
          <p:cNvSpPr/>
          <p:nvPr/>
        </p:nvSpPr>
        <p:spPr>
          <a:xfrm>
            <a:off x="20124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24/32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5"/>
          <p:cNvSpPr/>
          <p:nvPr/>
        </p:nvSpPr>
        <p:spPr>
          <a:xfrm>
            <a:off x="123444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Without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better! 13.9° mean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6"/>
          <p:cNvSpPr/>
          <p:nvPr/>
        </p:nvSpPr>
        <p:spPr>
          <a:xfrm>
            <a:off x="3154680" y="437076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7"/>
          <p:cNvSpPr/>
          <p:nvPr/>
        </p:nvSpPr>
        <p:spPr>
          <a:xfrm>
            <a:off x="31914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8640a"/>
                </a:solidFill>
                <a:latin typeface="Calibri"/>
                <a:ea typeface="Calibri"/>
              </a:rPr>
              <a:t>+65%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8"/>
          <p:cNvSpPr/>
          <p:nvPr/>
        </p:nvSpPr>
        <p:spPr>
          <a:xfrm>
            <a:off x="422460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vs Paper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57°→20.1°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9"/>
          <p:cNvSpPr/>
          <p:nvPr/>
        </p:nvSpPr>
        <p:spPr>
          <a:xfrm>
            <a:off x="6144840" y="437076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0"/>
          <p:cNvSpPr/>
          <p:nvPr/>
        </p:nvSpPr>
        <p:spPr>
          <a:xfrm>
            <a:off x="61812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a5568"/>
                </a:solidFill>
                <a:latin typeface="Calibri"/>
                <a:ea typeface="Calibri"/>
              </a:rPr>
              <a:t>0.1,0.8,0.2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21"/>
          <p:cNvSpPr/>
          <p:nvPr/>
        </p:nvSpPr>
        <p:spPr>
          <a:xfrm>
            <a:off x="721476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Best α,γ,ε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SARSA Results —  3000 Episodes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7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40080"/>
            <a:ext cx="5028480" cy="2651040"/>
          </a:xfrm>
          <a:prstGeom prst="rect">
            <a:avLst/>
          </a:prstGeom>
          <a:ln w="0">
            <a:noFill/>
          </a:ln>
        </p:spPr>
      </p:pic>
      <p:sp>
        <p:nvSpPr>
          <p:cNvPr id="358" name="Text 2"/>
          <p:cNvSpPr/>
          <p:nvPr/>
        </p:nvSpPr>
        <p:spPr>
          <a:xfrm>
            <a:off x="137160" y="331020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SARSA (orange) now converges to &lt;20° by clip 4 — nearly matches DQL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5257800" y="331020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SARSA: 25/32 &lt;20° — second only to DQL (27/32)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 rot="6600">
            <a:off x="227160" y="3638520"/>
            <a:ext cx="8750160" cy="1398600"/>
          </a:xfrm>
          <a:prstGeom prst="rect">
            <a:avLst/>
          </a:prstGeom>
          <a:solidFill>
            <a:srgbClr val="fff8f0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457200" y="3657600"/>
            <a:ext cx="777204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Why SARSA Dramatically Improved at 3000 Episodes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457200" y="3897720"/>
            <a:ext cx="7772040" cy="9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• </a:t>
            </a: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1000 ep → 3000 ep: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9/32 → 25/32 converged with shaping. A 222% improvement! On-policy learning NEEDS more episodes to explore the sparse emotion space.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• </a:t>
            </a: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Hyperparameter shift: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Now uses α=0.2, γ=0.4, ε=0.1 (lower γ = more immediate-reward focus; higher ε than before). Grid search found a better configuration at 3000 ep.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•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3 outliers remain: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S09 (38.3°), S26 (46.6°), S29 (152.9°) — these subjects have idiosyncratic EEG transitions that no SARSA policy found. Higher variance (±26.8°) vs DQL (±7.4°).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2"/>
          <a:stretch/>
        </p:blipFill>
        <p:spPr>
          <a:xfrm>
            <a:off x="5165640" y="601920"/>
            <a:ext cx="3816360" cy="268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Results — BEST PERFORMER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40080"/>
            <a:ext cx="5028480" cy="2651040"/>
          </a:xfrm>
          <a:prstGeom prst="rect">
            <a:avLst/>
          </a:prstGeom>
          <a:ln w="0">
            <a:noFill/>
          </a:ln>
        </p:spPr>
      </p:pic>
      <p:pic>
        <p:nvPicPr>
          <p:cNvPr id="367" name="Image 1" descr="/mnt/user-data/uploads/compare_final_error_box_with.png"/>
          <p:cNvPicPr/>
          <p:nvPr/>
        </p:nvPicPr>
        <p:blipFill>
          <a:blip r:embed="rId2"/>
          <a:stretch/>
        </p:blipFill>
        <p:spPr>
          <a:xfrm>
            <a:off x="5257800" y="640080"/>
            <a:ext cx="3748320" cy="2651040"/>
          </a:xfrm>
          <a:prstGeom prst="rect">
            <a:avLst/>
          </a:prstGeom>
          <a:ln w="0">
            <a:noFill/>
          </a:ln>
        </p:spPr>
      </p:pic>
      <p:sp>
        <p:nvSpPr>
          <p:cNvPr id="368" name="Text 2"/>
          <p:cNvSpPr/>
          <p:nvPr/>
        </p:nvSpPr>
        <p:spPr>
          <a:xfrm>
            <a:off x="137160" y="331020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a1b9a"/>
                </a:solidFill>
                <a:latin typeface="Calibri"/>
                <a:ea typeface="Calibri"/>
              </a:rPr>
              <a:t>DQL (purple) — lowest error at all iterations, tightest confidence band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5257800" y="331020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a1b9a"/>
                </a:solidFill>
                <a:latin typeface="Calibri"/>
                <a:ea typeface="Calibri"/>
              </a:rPr>
              <a:t>DQL boxplot: tightest IQR (5°–22°), median ~9° — most consistent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4"/>
          <p:cNvSpPr/>
          <p:nvPr/>
        </p:nvSpPr>
        <p:spPr>
          <a:xfrm>
            <a:off x="164520" y="365760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20124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27/32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123444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&lt;20°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93.8%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7"/>
          <p:cNvSpPr/>
          <p:nvPr/>
        </p:nvSpPr>
        <p:spPr>
          <a:xfrm>
            <a:off x="3154680" y="365760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31914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29/32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9"/>
          <p:cNvSpPr/>
          <p:nvPr/>
        </p:nvSpPr>
        <p:spPr>
          <a:xfrm>
            <a:off x="422460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&lt;30°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100%!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10"/>
          <p:cNvSpPr/>
          <p:nvPr/>
        </p:nvSpPr>
        <p:spPr>
          <a:xfrm>
            <a:off x="6144840" y="365760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1"/>
          <p:cNvSpPr/>
          <p:nvPr/>
        </p:nvSpPr>
        <p:spPr>
          <a:xfrm>
            <a:off x="61812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6a1b9a"/>
                </a:solidFill>
                <a:latin typeface="Calibri"/>
                <a:ea typeface="Calibri"/>
              </a:rPr>
              <a:t>8.3°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721476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Mean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±7.4° 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3"/>
          <p:cNvSpPr/>
          <p:nvPr/>
        </p:nvSpPr>
        <p:spPr>
          <a:xfrm>
            <a:off x="164520" y="437076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14"/>
          <p:cNvSpPr/>
          <p:nvPr/>
        </p:nvSpPr>
        <p:spPr>
          <a:xfrm>
            <a:off x="20124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0392b"/>
                </a:solidFill>
                <a:latin typeface="Calibri"/>
                <a:ea typeface="Calibri"/>
              </a:rPr>
              <a:t>17/32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5"/>
          <p:cNvSpPr/>
          <p:nvPr/>
        </p:nvSpPr>
        <p:spPr>
          <a:xfrm>
            <a:off x="123444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Without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49.2° — collapses!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6"/>
          <p:cNvSpPr/>
          <p:nvPr/>
        </p:nvSpPr>
        <p:spPr>
          <a:xfrm>
            <a:off x="3154680" y="437076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7"/>
          <p:cNvSpPr/>
          <p:nvPr/>
        </p:nvSpPr>
        <p:spPr>
          <a:xfrm>
            <a:off x="31914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+85%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8"/>
          <p:cNvSpPr/>
          <p:nvPr/>
        </p:nvSpPr>
        <p:spPr>
          <a:xfrm>
            <a:off x="422460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vs Paper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57°→8.3°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9"/>
          <p:cNvSpPr/>
          <p:nvPr/>
        </p:nvSpPr>
        <p:spPr>
          <a:xfrm>
            <a:off x="6144840" y="437076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20"/>
          <p:cNvSpPr/>
          <p:nvPr/>
        </p:nvSpPr>
        <p:spPr>
          <a:xfrm>
            <a:off x="61812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a5568"/>
                </a:solidFill>
                <a:latin typeface="Calibri"/>
                <a:ea typeface="Calibri"/>
              </a:rPr>
              <a:t>0.2,0.4,0.1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1"/>
          <p:cNvSpPr/>
          <p:nvPr/>
        </p:nvSpPr>
        <p:spPr>
          <a:xfrm>
            <a:off x="721476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Best α,γ,ε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Reward Shaping Φ(s,s')=−100 Effect — 3000 Episodes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Image 0" descr="preencoded.png"/>
          <p:cNvPicPr/>
          <p:nvPr/>
        </p:nvPicPr>
        <p:blipFill>
          <a:blip r:embed="rId1"/>
          <a:stretch/>
        </p:blipFill>
        <p:spPr>
          <a:xfrm>
            <a:off x="137160" y="621720"/>
            <a:ext cx="5485680" cy="2605320"/>
          </a:xfrm>
          <a:prstGeom prst="rect">
            <a:avLst/>
          </a:prstGeom>
          <a:ln w="0">
            <a:noFill/>
          </a:ln>
        </p:spPr>
      </p:pic>
      <p:pic>
        <p:nvPicPr>
          <p:cNvPr id="391" name="Image 1" descr="preencoded.png"/>
          <p:cNvPicPr/>
          <p:nvPr/>
        </p:nvPicPr>
        <p:blipFill>
          <a:blip r:embed="rId2"/>
          <a:stretch/>
        </p:blipFill>
        <p:spPr>
          <a:xfrm>
            <a:off x="5715000" y="621720"/>
            <a:ext cx="3291120" cy="2605320"/>
          </a:xfrm>
          <a:prstGeom prst="rect">
            <a:avLst/>
          </a:prstGeom>
          <a:ln w="0">
            <a:noFill/>
          </a:ln>
        </p:spPr>
      </p:pic>
      <p:sp>
        <p:nvSpPr>
          <p:cNvPr id="392" name="Shape 2"/>
          <p:cNvSpPr/>
          <p:nvPr/>
        </p:nvSpPr>
        <p:spPr>
          <a:xfrm>
            <a:off x="164520" y="3310200"/>
            <a:ext cx="2879640" cy="173664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"/>
          <p:cNvSpPr/>
          <p:nvPr/>
        </p:nvSpPr>
        <p:spPr>
          <a:xfrm>
            <a:off x="164520" y="3310200"/>
            <a:ext cx="2879640" cy="3466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4"/>
          <p:cNvSpPr/>
          <p:nvPr/>
        </p:nvSpPr>
        <p:spPr>
          <a:xfrm>
            <a:off x="201240" y="3328560"/>
            <a:ext cx="280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Q-Learning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5"/>
          <p:cNvSpPr/>
          <p:nvPr/>
        </p:nvSpPr>
        <p:spPr>
          <a:xfrm>
            <a:off x="228600" y="3694320"/>
            <a:ext cx="2788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REVERSAL at 3000 ep: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Without shaping = 24/32, 13.9°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 shaping = 21/32, 20.1°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HURTS QL now!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More episodes let QL explore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naturally without the −100 penalty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interfering with value estimates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6"/>
          <p:cNvSpPr/>
          <p:nvPr/>
        </p:nvSpPr>
        <p:spPr>
          <a:xfrm>
            <a:off x="3163680" y="3310200"/>
            <a:ext cx="2879640" cy="173664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7"/>
          <p:cNvSpPr/>
          <p:nvPr/>
        </p:nvSpPr>
        <p:spPr>
          <a:xfrm>
            <a:off x="3163680" y="3310200"/>
            <a:ext cx="2879640" cy="34668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8"/>
          <p:cNvSpPr/>
          <p:nvPr/>
        </p:nvSpPr>
        <p:spPr>
          <a:xfrm>
            <a:off x="3200400" y="3328560"/>
            <a:ext cx="280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SARSA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9"/>
          <p:cNvSpPr/>
          <p:nvPr/>
        </p:nvSpPr>
        <p:spPr>
          <a:xfrm>
            <a:off x="3227760" y="3694320"/>
            <a:ext cx="2788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provides moderate help: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With: 25/32 &lt;20°, 13.8°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Without: 23/32, 21.5°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Both excellent at 3000 ep!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SARSA benefits from Φ but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doesn't depend on it as much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as DQL. Good robustness.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0"/>
          <p:cNvSpPr/>
          <p:nvPr/>
        </p:nvSpPr>
        <p:spPr>
          <a:xfrm>
            <a:off x="6163200" y="3310200"/>
            <a:ext cx="2879640" cy="173664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1"/>
          <p:cNvSpPr/>
          <p:nvPr/>
        </p:nvSpPr>
        <p:spPr>
          <a:xfrm>
            <a:off x="6163200" y="3310200"/>
            <a:ext cx="2879640" cy="3466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6199560" y="3328560"/>
            <a:ext cx="280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6226920" y="3694320"/>
            <a:ext cx="2788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is CRITICAL for DQL: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With: 27/32, 8.3° ★ BEST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Without: 17/32, 49.2° ★ WORST!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DQL collapses without Φ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Dual Q-tables rely on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to avoid overestimating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stagnant states. Critical!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Full Algorithm Comparison — With Reward Shaping (3000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6" name="Image 0" descr="preencoded.png"/>
          <p:cNvPicPr/>
          <p:nvPr/>
        </p:nvPicPr>
        <p:blipFill>
          <a:blip r:embed="rId1"/>
          <a:stretch/>
        </p:blipFill>
        <p:spPr>
          <a:xfrm>
            <a:off x="137160" y="621720"/>
            <a:ext cx="5211360" cy="2742480"/>
          </a:xfrm>
          <a:prstGeom prst="rect">
            <a:avLst/>
          </a:prstGeom>
          <a:ln w="0">
            <a:noFill/>
          </a:ln>
        </p:spPr>
      </p:pic>
      <p:sp>
        <p:nvSpPr>
          <p:cNvPr id="407" name="Shape 2"/>
          <p:cNvSpPr/>
          <p:nvPr/>
        </p:nvSpPr>
        <p:spPr>
          <a:xfrm>
            <a:off x="164520" y="3447360"/>
            <a:ext cx="196524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182880" y="344736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4"/>
          <p:cNvSpPr/>
          <p:nvPr/>
        </p:nvSpPr>
        <p:spPr>
          <a:xfrm>
            <a:off x="2130480" y="3447360"/>
            <a:ext cx="12978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2148840" y="344736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Best α,γ,ε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6"/>
          <p:cNvSpPr/>
          <p:nvPr/>
        </p:nvSpPr>
        <p:spPr>
          <a:xfrm>
            <a:off x="3429000" y="3447360"/>
            <a:ext cx="11880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3447360" y="34473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&lt;20°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8"/>
          <p:cNvSpPr/>
          <p:nvPr/>
        </p:nvSpPr>
        <p:spPr>
          <a:xfrm>
            <a:off x="4617720" y="3447360"/>
            <a:ext cx="11880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4636080" y="34473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&lt;30°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10"/>
          <p:cNvSpPr/>
          <p:nvPr/>
        </p:nvSpPr>
        <p:spPr>
          <a:xfrm>
            <a:off x="5806440" y="3447360"/>
            <a:ext cx="180972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5824800" y="344736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Mean Error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2"/>
          <p:cNvSpPr/>
          <p:nvPr/>
        </p:nvSpPr>
        <p:spPr>
          <a:xfrm>
            <a:off x="7616880" y="3447360"/>
            <a:ext cx="14166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3"/>
          <p:cNvSpPr/>
          <p:nvPr/>
        </p:nvSpPr>
        <p:spPr>
          <a:xfrm>
            <a:off x="7635240" y="344736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vs Paper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4"/>
          <p:cNvSpPr/>
          <p:nvPr/>
        </p:nvSpPr>
        <p:spPr>
          <a:xfrm>
            <a:off x="164520" y="3721680"/>
            <a:ext cx="196524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182880" y="372168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Double Q-Learning ★★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16"/>
          <p:cNvSpPr/>
          <p:nvPr/>
        </p:nvSpPr>
        <p:spPr>
          <a:xfrm>
            <a:off x="2130480" y="3721680"/>
            <a:ext cx="12978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17"/>
          <p:cNvSpPr/>
          <p:nvPr/>
        </p:nvSpPr>
        <p:spPr>
          <a:xfrm>
            <a:off x="2148840" y="372168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0.2, 0.4, 0.1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8"/>
          <p:cNvSpPr/>
          <p:nvPr/>
        </p:nvSpPr>
        <p:spPr>
          <a:xfrm>
            <a:off x="3429000" y="3721680"/>
            <a:ext cx="11880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9"/>
          <p:cNvSpPr/>
          <p:nvPr/>
        </p:nvSpPr>
        <p:spPr>
          <a:xfrm>
            <a:off x="3447360" y="372168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27/32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0"/>
          <p:cNvSpPr/>
          <p:nvPr/>
        </p:nvSpPr>
        <p:spPr>
          <a:xfrm>
            <a:off x="4617720" y="3721680"/>
            <a:ext cx="11880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21"/>
          <p:cNvSpPr/>
          <p:nvPr/>
        </p:nvSpPr>
        <p:spPr>
          <a:xfrm>
            <a:off x="4636080" y="372168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29/32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22"/>
          <p:cNvSpPr/>
          <p:nvPr/>
        </p:nvSpPr>
        <p:spPr>
          <a:xfrm>
            <a:off x="5806440" y="3721680"/>
            <a:ext cx="180972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23"/>
          <p:cNvSpPr/>
          <p:nvPr/>
        </p:nvSpPr>
        <p:spPr>
          <a:xfrm>
            <a:off x="5824800" y="372168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8.3° ±7.4°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24"/>
          <p:cNvSpPr/>
          <p:nvPr/>
        </p:nvSpPr>
        <p:spPr>
          <a:xfrm>
            <a:off x="7616880" y="3721680"/>
            <a:ext cx="14166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25"/>
          <p:cNvSpPr/>
          <p:nvPr/>
        </p:nvSpPr>
        <p:spPr>
          <a:xfrm>
            <a:off x="7635240" y="372168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−</a:t>
            </a: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85%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6"/>
          <p:cNvSpPr/>
          <p:nvPr/>
        </p:nvSpPr>
        <p:spPr>
          <a:xfrm>
            <a:off x="164520" y="3996000"/>
            <a:ext cx="196524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27"/>
          <p:cNvSpPr/>
          <p:nvPr/>
        </p:nvSpPr>
        <p:spPr>
          <a:xfrm>
            <a:off x="182880" y="399600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SARSA 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28"/>
          <p:cNvSpPr/>
          <p:nvPr/>
        </p:nvSpPr>
        <p:spPr>
          <a:xfrm>
            <a:off x="2130480" y="3996000"/>
            <a:ext cx="12978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29"/>
          <p:cNvSpPr/>
          <p:nvPr/>
        </p:nvSpPr>
        <p:spPr>
          <a:xfrm>
            <a:off x="2148840" y="399600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0.2, 0.4, 0.1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0"/>
          <p:cNvSpPr/>
          <p:nvPr/>
        </p:nvSpPr>
        <p:spPr>
          <a:xfrm>
            <a:off x="3429000" y="3996000"/>
            <a:ext cx="11880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31"/>
          <p:cNvSpPr/>
          <p:nvPr/>
        </p:nvSpPr>
        <p:spPr>
          <a:xfrm>
            <a:off x="3447360" y="399600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25/32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32"/>
          <p:cNvSpPr/>
          <p:nvPr/>
        </p:nvSpPr>
        <p:spPr>
          <a:xfrm>
            <a:off x="4617720" y="3996000"/>
            <a:ext cx="11880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33"/>
          <p:cNvSpPr/>
          <p:nvPr/>
        </p:nvSpPr>
        <p:spPr>
          <a:xfrm>
            <a:off x="4636080" y="399600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25/32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34"/>
          <p:cNvSpPr/>
          <p:nvPr/>
        </p:nvSpPr>
        <p:spPr>
          <a:xfrm>
            <a:off x="5806440" y="3996000"/>
            <a:ext cx="180972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35"/>
          <p:cNvSpPr/>
          <p:nvPr/>
        </p:nvSpPr>
        <p:spPr>
          <a:xfrm>
            <a:off x="5824800" y="399600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13.8° ±26.8°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36"/>
          <p:cNvSpPr/>
          <p:nvPr/>
        </p:nvSpPr>
        <p:spPr>
          <a:xfrm>
            <a:off x="7616880" y="3996000"/>
            <a:ext cx="14166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37"/>
          <p:cNvSpPr/>
          <p:nvPr/>
        </p:nvSpPr>
        <p:spPr>
          <a:xfrm>
            <a:off x="7635240" y="399600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−</a:t>
            </a: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76%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38"/>
          <p:cNvSpPr/>
          <p:nvPr/>
        </p:nvSpPr>
        <p:spPr>
          <a:xfrm>
            <a:off x="164520" y="4270320"/>
            <a:ext cx="196524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39"/>
          <p:cNvSpPr/>
          <p:nvPr/>
        </p:nvSpPr>
        <p:spPr>
          <a:xfrm>
            <a:off x="182880" y="427032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Q-Learning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40"/>
          <p:cNvSpPr/>
          <p:nvPr/>
        </p:nvSpPr>
        <p:spPr>
          <a:xfrm>
            <a:off x="2130480" y="4270320"/>
            <a:ext cx="12978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41"/>
          <p:cNvSpPr/>
          <p:nvPr/>
        </p:nvSpPr>
        <p:spPr>
          <a:xfrm>
            <a:off x="2148840" y="427032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0.1, 0.8, 0.2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42"/>
          <p:cNvSpPr/>
          <p:nvPr/>
        </p:nvSpPr>
        <p:spPr>
          <a:xfrm>
            <a:off x="3429000" y="4270320"/>
            <a:ext cx="11880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43"/>
          <p:cNvSpPr/>
          <p:nvPr/>
        </p:nvSpPr>
        <p:spPr>
          <a:xfrm>
            <a:off x="3447360" y="427032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21/32 (66%)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44"/>
          <p:cNvSpPr/>
          <p:nvPr/>
        </p:nvSpPr>
        <p:spPr>
          <a:xfrm>
            <a:off x="4617720" y="4270320"/>
            <a:ext cx="11880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45"/>
          <p:cNvSpPr/>
          <p:nvPr/>
        </p:nvSpPr>
        <p:spPr>
          <a:xfrm>
            <a:off x="4636080" y="427032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23/32 (72%)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46"/>
          <p:cNvSpPr/>
          <p:nvPr/>
        </p:nvSpPr>
        <p:spPr>
          <a:xfrm>
            <a:off x="5806440" y="4270320"/>
            <a:ext cx="180972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47"/>
          <p:cNvSpPr/>
          <p:nvPr/>
        </p:nvSpPr>
        <p:spPr>
          <a:xfrm>
            <a:off x="5824800" y="427032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20.1° ±23.5°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48"/>
          <p:cNvSpPr/>
          <p:nvPr/>
        </p:nvSpPr>
        <p:spPr>
          <a:xfrm>
            <a:off x="7616880" y="4270320"/>
            <a:ext cx="14166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49"/>
          <p:cNvSpPr/>
          <p:nvPr/>
        </p:nvSpPr>
        <p:spPr>
          <a:xfrm>
            <a:off x="7635240" y="427032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−</a:t>
            </a: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65%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50"/>
          <p:cNvSpPr/>
          <p:nvPr/>
        </p:nvSpPr>
        <p:spPr>
          <a:xfrm>
            <a:off x="164520" y="4544640"/>
            <a:ext cx="196524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51"/>
          <p:cNvSpPr/>
          <p:nvPr/>
        </p:nvSpPr>
        <p:spPr>
          <a:xfrm>
            <a:off x="182880" y="454464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Double SARSA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52"/>
          <p:cNvSpPr/>
          <p:nvPr/>
        </p:nvSpPr>
        <p:spPr>
          <a:xfrm>
            <a:off x="2130480" y="4544640"/>
            <a:ext cx="12978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53"/>
          <p:cNvSpPr/>
          <p:nvPr/>
        </p:nvSpPr>
        <p:spPr>
          <a:xfrm>
            <a:off x="2148840" y="454464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0.05, 0.4, 0.0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54"/>
          <p:cNvSpPr/>
          <p:nvPr/>
        </p:nvSpPr>
        <p:spPr>
          <a:xfrm>
            <a:off x="3429000" y="4544640"/>
            <a:ext cx="11880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55"/>
          <p:cNvSpPr/>
          <p:nvPr/>
        </p:nvSpPr>
        <p:spPr>
          <a:xfrm>
            <a:off x="3447360" y="454464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10/32 (31%)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56"/>
          <p:cNvSpPr/>
          <p:nvPr/>
        </p:nvSpPr>
        <p:spPr>
          <a:xfrm>
            <a:off x="4617720" y="4544640"/>
            <a:ext cx="11880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57"/>
          <p:cNvSpPr/>
          <p:nvPr/>
        </p:nvSpPr>
        <p:spPr>
          <a:xfrm>
            <a:off x="4636080" y="454464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11/32 (34%)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58"/>
          <p:cNvSpPr/>
          <p:nvPr/>
        </p:nvSpPr>
        <p:spPr>
          <a:xfrm>
            <a:off x="5806440" y="4544640"/>
            <a:ext cx="180972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59"/>
          <p:cNvSpPr/>
          <p:nvPr/>
        </p:nvSpPr>
        <p:spPr>
          <a:xfrm>
            <a:off x="5824800" y="454464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77.8° ±57.0°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60"/>
          <p:cNvSpPr/>
          <p:nvPr/>
        </p:nvSpPr>
        <p:spPr>
          <a:xfrm>
            <a:off x="7616880" y="4544640"/>
            <a:ext cx="14166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61"/>
          <p:cNvSpPr/>
          <p:nvPr/>
        </p:nvSpPr>
        <p:spPr>
          <a:xfrm>
            <a:off x="7635240" y="454464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+37% worse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62"/>
          <p:cNvSpPr/>
          <p:nvPr/>
        </p:nvSpPr>
        <p:spPr>
          <a:xfrm>
            <a:off x="164520" y="4818960"/>
            <a:ext cx="196524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63"/>
          <p:cNvSpPr/>
          <p:nvPr/>
        </p:nvSpPr>
        <p:spPr>
          <a:xfrm>
            <a:off x="182880" y="481896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Paper (Dutta 2020)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64"/>
          <p:cNvSpPr/>
          <p:nvPr/>
        </p:nvSpPr>
        <p:spPr>
          <a:xfrm>
            <a:off x="2130480" y="4818960"/>
            <a:ext cx="12978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65"/>
          <p:cNvSpPr/>
          <p:nvPr/>
        </p:nvSpPr>
        <p:spPr>
          <a:xfrm>
            <a:off x="2148840" y="481896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0.1, 0.6, 0.1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66"/>
          <p:cNvSpPr/>
          <p:nvPr/>
        </p:nvSpPr>
        <p:spPr>
          <a:xfrm>
            <a:off x="3429000" y="4818960"/>
            <a:ext cx="11880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67"/>
          <p:cNvSpPr/>
          <p:nvPr/>
        </p:nvSpPr>
        <p:spPr>
          <a:xfrm>
            <a:off x="3447360" y="48189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19/32 (59%)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68"/>
          <p:cNvSpPr/>
          <p:nvPr/>
        </p:nvSpPr>
        <p:spPr>
          <a:xfrm>
            <a:off x="4617720" y="4818960"/>
            <a:ext cx="11880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69"/>
          <p:cNvSpPr/>
          <p:nvPr/>
        </p:nvSpPr>
        <p:spPr>
          <a:xfrm>
            <a:off x="4636080" y="48189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N/A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70"/>
          <p:cNvSpPr/>
          <p:nvPr/>
        </p:nvSpPr>
        <p:spPr>
          <a:xfrm>
            <a:off x="5806440" y="4818960"/>
            <a:ext cx="180972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71"/>
          <p:cNvSpPr/>
          <p:nvPr/>
        </p:nvSpPr>
        <p:spPr>
          <a:xfrm>
            <a:off x="5824800" y="481896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57.0° ±2.8°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72"/>
          <p:cNvSpPr/>
          <p:nvPr/>
        </p:nvSpPr>
        <p:spPr>
          <a:xfrm>
            <a:off x="7616880" y="4818960"/>
            <a:ext cx="14166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73"/>
          <p:cNvSpPr/>
          <p:nvPr/>
        </p:nvSpPr>
        <p:spPr>
          <a:xfrm>
            <a:off x="7635240" y="481896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2"/>
          <a:stretch/>
        </p:blipFill>
        <p:spPr>
          <a:xfrm>
            <a:off x="5348520" y="566280"/>
            <a:ext cx="3794760" cy="264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Final Error Distribution — All Algorithms (With Shaping, 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Image 0" descr="preencoded.png"/>
          <p:cNvPicPr/>
          <p:nvPr/>
        </p:nvPicPr>
        <p:blipFill>
          <a:blip r:embed="rId1"/>
          <a:stretch/>
        </p:blipFill>
        <p:spPr>
          <a:xfrm>
            <a:off x="640080" y="621720"/>
            <a:ext cx="7863120" cy="3108240"/>
          </a:xfrm>
          <a:prstGeom prst="rect">
            <a:avLst/>
          </a:prstGeom>
          <a:ln w="0">
            <a:noFill/>
          </a:ln>
        </p:spPr>
      </p:pic>
      <p:sp>
        <p:nvSpPr>
          <p:cNvPr id="483" name="Text 2"/>
          <p:cNvSpPr/>
          <p:nvPr/>
        </p:nvSpPr>
        <p:spPr>
          <a:xfrm>
            <a:off x="182880" y="3612240"/>
            <a:ext cx="8777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Final Angular Error — Clip 6 Distribution: DQL tightest (IQR 5°–22°), SARSA bi-modal, QL wider spread, Double SARSA near-uniform failure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3"/>
          <p:cNvSpPr/>
          <p:nvPr/>
        </p:nvSpPr>
        <p:spPr>
          <a:xfrm>
            <a:off x="182880" y="4069080"/>
            <a:ext cx="8777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182880" y="3886200"/>
            <a:ext cx="84121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  <a:ea typeface="Calibri"/>
              </a:rPr>
              <a:t>Double Q-Learning: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Tightest distribution. Median ~9°, IQR ~5°–22°. ZERO subjects &gt;30°. Almost all within clinical success range. Most consistent algorithm.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5"/>
          <p:cNvSpPr/>
          <p:nvPr/>
        </p:nvSpPr>
        <p:spPr>
          <a:xfrm>
            <a:off x="182880" y="4242960"/>
            <a:ext cx="845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SARSA: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Bi-modal: 25/32 cluster near 0°–20° but S09/S26/S29 outliers at 38°–153°. High variance (±26.8°) despite excellent median. 3 systematic failures.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6"/>
          <p:cNvSpPr/>
          <p:nvPr/>
        </p:nvSpPr>
        <p:spPr>
          <a:xfrm>
            <a:off x="182880" y="4572000"/>
            <a:ext cx="84121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Q-Learning: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Wider spread than DQL. Median ~14°, IQR ~5°–30°. One outlier at 132° (S07). Overall good but not as consistent as DQL.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7"/>
          <p:cNvSpPr/>
          <p:nvPr/>
        </p:nvSpPr>
        <p:spPr>
          <a:xfrm>
            <a:off x="182880" y="4878720"/>
            <a:ext cx="84121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Double SARSA: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Most errors cluster near 57°+ mean. Fundamental exploration failure regardless of shaping. On-policy + dual table incompatible here.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Subject Trajectory Interpretation — Case Studies (DQL, 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"/>
          <p:cNvSpPr/>
          <p:nvPr/>
        </p:nvSpPr>
        <p:spPr>
          <a:xfrm>
            <a:off x="182880" y="658440"/>
            <a:ext cx="4315320" cy="427860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182880" y="658440"/>
            <a:ext cx="4315320" cy="40176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4"/>
          <p:cNvSpPr/>
          <p:nvPr/>
        </p:nvSpPr>
        <p:spPr>
          <a:xfrm>
            <a:off x="255960" y="676800"/>
            <a:ext cx="416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Subject S05 — DQL SUCCESS  (err = 9.5°)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255960" y="1097280"/>
            <a:ext cx="416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onsolas"/>
                <a:ea typeface="Consolas"/>
              </a:rPr>
              <a:t>anger → anger → anger → exciting → happy → happy → happy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703800" y="2761200"/>
            <a:ext cx="39348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7"/>
          <p:cNvSpPr/>
          <p:nvPr/>
        </p:nvSpPr>
        <p:spPr>
          <a:xfrm>
            <a:off x="109728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8"/>
          <p:cNvSpPr/>
          <p:nvPr/>
        </p:nvSpPr>
        <p:spPr>
          <a:xfrm flipV="1">
            <a:off x="1490400" y="2121120"/>
            <a:ext cx="393120" cy="64008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9"/>
          <p:cNvSpPr/>
          <p:nvPr/>
        </p:nvSpPr>
        <p:spPr>
          <a:xfrm flipV="1">
            <a:off x="1883520" y="1590840"/>
            <a:ext cx="393120" cy="53028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2276640" y="159084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1"/>
          <p:cNvSpPr/>
          <p:nvPr/>
        </p:nvSpPr>
        <p:spPr>
          <a:xfrm>
            <a:off x="2669760" y="1590840"/>
            <a:ext cx="39348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2"/>
          <p:cNvSpPr/>
          <p:nvPr/>
        </p:nvSpPr>
        <p:spPr>
          <a:xfrm>
            <a:off x="59436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13"/>
          <p:cNvSpPr/>
          <p:nvPr/>
        </p:nvSpPr>
        <p:spPr>
          <a:xfrm>
            <a:off x="59436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4"/>
          <p:cNvSpPr/>
          <p:nvPr/>
        </p:nvSpPr>
        <p:spPr>
          <a:xfrm>
            <a:off x="98748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15"/>
          <p:cNvSpPr/>
          <p:nvPr/>
        </p:nvSpPr>
        <p:spPr>
          <a:xfrm>
            <a:off x="98748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6"/>
          <p:cNvSpPr/>
          <p:nvPr/>
        </p:nvSpPr>
        <p:spPr>
          <a:xfrm>
            <a:off x="138060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17"/>
          <p:cNvSpPr/>
          <p:nvPr/>
        </p:nvSpPr>
        <p:spPr>
          <a:xfrm>
            <a:off x="138060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8"/>
          <p:cNvSpPr/>
          <p:nvPr/>
        </p:nvSpPr>
        <p:spPr>
          <a:xfrm>
            <a:off x="1774080" y="2011680"/>
            <a:ext cx="236880" cy="236880"/>
          </a:xfrm>
          <a:prstGeom prst="ellipse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19"/>
          <p:cNvSpPr/>
          <p:nvPr/>
        </p:nvSpPr>
        <p:spPr>
          <a:xfrm>
            <a:off x="1774080" y="226764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20"/>
          <p:cNvSpPr/>
          <p:nvPr/>
        </p:nvSpPr>
        <p:spPr>
          <a:xfrm>
            <a:off x="2167200" y="1481400"/>
            <a:ext cx="236880" cy="23688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21"/>
          <p:cNvSpPr/>
          <p:nvPr/>
        </p:nvSpPr>
        <p:spPr>
          <a:xfrm>
            <a:off x="2167200" y="17373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2"/>
          <p:cNvSpPr/>
          <p:nvPr/>
        </p:nvSpPr>
        <p:spPr>
          <a:xfrm>
            <a:off x="2560320" y="1481400"/>
            <a:ext cx="236880" cy="23688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23"/>
          <p:cNvSpPr/>
          <p:nvPr/>
        </p:nvSpPr>
        <p:spPr>
          <a:xfrm>
            <a:off x="2560320" y="17373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4"/>
          <p:cNvSpPr/>
          <p:nvPr/>
        </p:nvSpPr>
        <p:spPr>
          <a:xfrm>
            <a:off x="2953440" y="1481400"/>
            <a:ext cx="236880" cy="23688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25"/>
          <p:cNvSpPr/>
          <p:nvPr/>
        </p:nvSpPr>
        <p:spPr>
          <a:xfrm>
            <a:off x="2953440" y="17373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26"/>
          <p:cNvSpPr/>
          <p:nvPr/>
        </p:nvSpPr>
        <p:spPr>
          <a:xfrm>
            <a:off x="274320" y="2999160"/>
            <a:ext cx="411408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Interpretation: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Clips 1-3: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Agent keeps selecting anger-range clips → emotion stays stuck (Φ=−100 fires 3× → punishes stagnation). DQL's dual table learns to avoid anger-only actions.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 4: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Transition to 'Exciting' (High V, High A) — correct quadrant! Moving arousal upward toward happy zone.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Clips 5-7: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Locks into happy state with 9.5° final error. DQL's Q^B evaluation of Q^A-selected actions correctly values this transition path.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7"/>
          <p:cNvSpPr/>
          <p:nvPr/>
        </p:nvSpPr>
        <p:spPr>
          <a:xfrm>
            <a:off x="4709160" y="658440"/>
            <a:ext cx="4251240" cy="427860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8"/>
          <p:cNvSpPr/>
          <p:nvPr/>
        </p:nvSpPr>
        <p:spPr>
          <a:xfrm>
            <a:off x="4709160" y="658440"/>
            <a:ext cx="4251240" cy="40176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29"/>
          <p:cNvSpPr/>
          <p:nvPr/>
        </p:nvSpPr>
        <p:spPr>
          <a:xfrm>
            <a:off x="4782240" y="676800"/>
            <a:ext cx="410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✗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Subject S29 — SARSA FAILURE  (err = 152.9°)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30"/>
          <p:cNvSpPr/>
          <p:nvPr/>
        </p:nvSpPr>
        <p:spPr>
          <a:xfrm>
            <a:off x="4782240" y="1097280"/>
            <a:ext cx="410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0392b"/>
                </a:solidFill>
                <a:latin typeface="Consolas"/>
                <a:ea typeface="Consolas"/>
              </a:rPr>
              <a:t>anger → fear → anger → anger → anger → anger → anger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1"/>
          <p:cNvSpPr/>
          <p:nvPr/>
        </p:nvSpPr>
        <p:spPr>
          <a:xfrm flipV="1">
            <a:off x="5184360" y="2395440"/>
            <a:ext cx="393480" cy="3657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32"/>
          <p:cNvSpPr/>
          <p:nvPr/>
        </p:nvSpPr>
        <p:spPr>
          <a:xfrm>
            <a:off x="5577840" y="2395440"/>
            <a:ext cx="393120" cy="3657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3"/>
          <p:cNvSpPr/>
          <p:nvPr/>
        </p:nvSpPr>
        <p:spPr>
          <a:xfrm>
            <a:off x="597096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34"/>
          <p:cNvSpPr/>
          <p:nvPr/>
        </p:nvSpPr>
        <p:spPr>
          <a:xfrm>
            <a:off x="636408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5"/>
          <p:cNvSpPr/>
          <p:nvPr/>
        </p:nvSpPr>
        <p:spPr>
          <a:xfrm>
            <a:off x="675720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6"/>
          <p:cNvSpPr/>
          <p:nvPr/>
        </p:nvSpPr>
        <p:spPr>
          <a:xfrm>
            <a:off x="7150320" y="2761200"/>
            <a:ext cx="39348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37"/>
          <p:cNvSpPr/>
          <p:nvPr/>
        </p:nvSpPr>
        <p:spPr>
          <a:xfrm>
            <a:off x="507492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38"/>
          <p:cNvSpPr/>
          <p:nvPr/>
        </p:nvSpPr>
        <p:spPr>
          <a:xfrm>
            <a:off x="507492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9"/>
          <p:cNvSpPr/>
          <p:nvPr/>
        </p:nvSpPr>
        <p:spPr>
          <a:xfrm>
            <a:off x="5468040" y="2286000"/>
            <a:ext cx="236880" cy="236880"/>
          </a:xfrm>
          <a:prstGeom prst="ellipse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40"/>
          <p:cNvSpPr/>
          <p:nvPr/>
        </p:nvSpPr>
        <p:spPr>
          <a:xfrm>
            <a:off x="5468040" y="25419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41"/>
          <p:cNvSpPr/>
          <p:nvPr/>
        </p:nvSpPr>
        <p:spPr>
          <a:xfrm>
            <a:off x="586116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42"/>
          <p:cNvSpPr/>
          <p:nvPr/>
        </p:nvSpPr>
        <p:spPr>
          <a:xfrm>
            <a:off x="586116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43"/>
          <p:cNvSpPr/>
          <p:nvPr/>
        </p:nvSpPr>
        <p:spPr>
          <a:xfrm>
            <a:off x="625464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44"/>
          <p:cNvSpPr/>
          <p:nvPr/>
        </p:nvSpPr>
        <p:spPr>
          <a:xfrm>
            <a:off x="625464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45"/>
          <p:cNvSpPr/>
          <p:nvPr/>
        </p:nvSpPr>
        <p:spPr>
          <a:xfrm>
            <a:off x="664776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6"/>
          <p:cNvSpPr/>
          <p:nvPr/>
        </p:nvSpPr>
        <p:spPr>
          <a:xfrm>
            <a:off x="664776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47"/>
          <p:cNvSpPr/>
          <p:nvPr/>
        </p:nvSpPr>
        <p:spPr>
          <a:xfrm>
            <a:off x="704088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48"/>
          <p:cNvSpPr/>
          <p:nvPr/>
        </p:nvSpPr>
        <p:spPr>
          <a:xfrm>
            <a:off x="704088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49"/>
          <p:cNvSpPr/>
          <p:nvPr/>
        </p:nvSpPr>
        <p:spPr>
          <a:xfrm>
            <a:off x="743400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50"/>
          <p:cNvSpPr/>
          <p:nvPr/>
        </p:nvSpPr>
        <p:spPr>
          <a:xfrm>
            <a:off x="743400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51"/>
          <p:cNvSpPr/>
          <p:nvPr/>
        </p:nvSpPr>
        <p:spPr>
          <a:xfrm>
            <a:off x="8028360" y="1481400"/>
            <a:ext cx="236880" cy="236880"/>
          </a:xfrm>
          <a:prstGeom prst="ellipse">
            <a:avLst/>
          </a:prstGeom>
          <a:solidFill>
            <a:srgbClr val="1a7a4a">
              <a:alpha val="60000"/>
            </a:srgbClr>
          </a:solidFill>
          <a:ln w="12600">
            <a:solidFill>
              <a:srgbClr val="1a7a4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52"/>
          <p:cNvSpPr/>
          <p:nvPr/>
        </p:nvSpPr>
        <p:spPr>
          <a:xfrm>
            <a:off x="7909560" y="1737360"/>
            <a:ext cx="474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1a7a4a"/>
                </a:solidFill>
                <a:latin typeface="Calibri"/>
                <a:ea typeface="Calibri"/>
              </a:rPr>
              <a:t>Target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1a7a4a"/>
                </a:solidFill>
                <a:latin typeface="Calibri"/>
                <a:ea typeface="Calibri"/>
              </a:rPr>
              <a:t>(Happy)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53"/>
          <p:cNvSpPr/>
          <p:nvPr/>
        </p:nvSpPr>
        <p:spPr>
          <a:xfrm>
            <a:off x="4800600" y="2999160"/>
            <a:ext cx="406836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Interpretation: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Clip 1: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selects a 'Fear' clip → brief progress.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Clips 2-7: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then reverts to anger clips and STAYS there all 5 remaining clips. Anger loops back to anger for this subject (S29's emotion transitions are idiosyncratic).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152.9° error: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Opposite direction from happy! Subject's anger state → anger response creates a trap that no SARSA policy can escape. Φ fires every clip.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Why SARSA fails here: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On-policy update with the LOSO model (trained on 31 subjects) never learned the specific escape path for S29's unusual EEG-emotion transitions.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Double SARSA — Novel Algorithm Analysis &amp; Why It Struggles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5" name="Image 0" descr="preencoded.png"/>
          <p:cNvPicPr/>
          <p:nvPr/>
        </p:nvPicPr>
        <p:blipFill>
          <a:blip r:embed="rId1"/>
          <a:stretch/>
        </p:blipFill>
        <p:spPr>
          <a:xfrm>
            <a:off x="137160" y="621720"/>
            <a:ext cx="4388400" cy="2632680"/>
          </a:xfrm>
          <a:prstGeom prst="rect">
            <a:avLst/>
          </a:prstGeom>
          <a:ln w="0">
            <a:noFill/>
          </a:ln>
        </p:spPr>
      </p:pic>
      <p:pic>
        <p:nvPicPr>
          <p:cNvPr id="546" name="Image 1" descr="preencoded.png"/>
          <p:cNvPicPr/>
          <p:nvPr/>
        </p:nvPicPr>
        <p:blipFill>
          <a:blip r:embed="rId2"/>
          <a:stretch/>
        </p:blipFill>
        <p:spPr>
          <a:xfrm>
            <a:off x="4645080" y="621720"/>
            <a:ext cx="4361040" cy="2632680"/>
          </a:xfrm>
          <a:prstGeom prst="rect">
            <a:avLst/>
          </a:prstGeom>
          <a:ln w="0">
            <a:noFill/>
          </a:ln>
        </p:spPr>
      </p:pic>
      <p:sp>
        <p:nvSpPr>
          <p:cNvPr id="547" name="Text 2"/>
          <p:cNvSpPr/>
          <p:nvPr/>
        </p:nvSpPr>
        <p:spPr>
          <a:xfrm>
            <a:off x="137160" y="3273480"/>
            <a:ext cx="4388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Error stays ~78° — barely moves across 6 clips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3"/>
          <p:cNvSpPr/>
          <p:nvPr/>
        </p:nvSpPr>
        <p:spPr>
          <a:xfrm>
            <a:off x="4645080" y="3273480"/>
            <a:ext cx="4361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Shaping barely helps (10 vs 9 subjects) — systematic failure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4"/>
          <p:cNvSpPr/>
          <p:nvPr/>
        </p:nvSpPr>
        <p:spPr>
          <a:xfrm>
            <a:off x="228600" y="3611880"/>
            <a:ext cx="8731800" cy="153144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5"/>
          <p:cNvSpPr/>
          <p:nvPr/>
        </p:nvSpPr>
        <p:spPr>
          <a:xfrm>
            <a:off x="320040" y="36486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0392b"/>
                </a:solidFill>
                <a:latin typeface="Calibri"/>
                <a:ea typeface="Calibri"/>
              </a:rPr>
              <a:t>Why Double SARSA Fails — Deep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6"/>
          <p:cNvSpPr/>
          <p:nvPr/>
        </p:nvSpPr>
        <p:spPr>
          <a:xfrm>
            <a:off x="320040" y="3996000"/>
            <a:ext cx="85032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1. Double bottleneck: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On-policy constraint means a' must be chosen by policy AND evaluated by Q^B. Both sources of conservatism combine to prevent aggressive exploration needed.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2. DEAP action space mismatch: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Only 40 clips. With ε→0 (greedy choice = 0.05), the on-policy agent quickly finds a 'safe' local emotion and stops exploring — all on-policy updates reinforce that path.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3. Identical trajectories w/ and w/o shaping: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Both runs produce near-identical subject-level results (compare logs) — confirming the failure is structural, not a shaping issue.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4. Results (w/ shaping):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10/32 &lt;20°, 77.8° mean — WORSE than 1000-ep results. The dual Q-tables appear to require more episodes or different task structure to benefit.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The Missing Link — EEG Emotion Classifier for Closed-Loop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"/>
          <p:cNvSpPr/>
          <p:nvPr/>
        </p:nvSpPr>
        <p:spPr>
          <a:xfrm>
            <a:off x="182880" y="658440"/>
            <a:ext cx="4159800" cy="239508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3"/>
          <p:cNvSpPr/>
          <p:nvPr/>
        </p:nvSpPr>
        <p:spPr>
          <a:xfrm>
            <a:off x="182880" y="658440"/>
            <a:ext cx="4159800" cy="3650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4"/>
          <p:cNvSpPr/>
          <p:nvPr/>
        </p:nvSpPr>
        <p:spPr>
          <a:xfrm>
            <a:off x="274320" y="676800"/>
            <a:ext cx="3976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Current System (Our 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5"/>
          <p:cNvSpPr/>
          <p:nvPr/>
        </p:nvSpPr>
        <p:spPr>
          <a:xfrm>
            <a:off x="292680" y="1051560"/>
            <a:ext cx="39312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  <a:ea typeface="Calibri"/>
              </a:rPr>
              <a:t>1.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DEAP: Pre-labelled valence/arousal per clip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Q-table reads stored annotations as 'state'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3.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RL selects next clip from Q(s,a)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4.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Next state read from DEAP labels again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Cannot deploy — requires pre-labeled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6"/>
          <p:cNvSpPr/>
          <p:nvPr/>
        </p:nvSpPr>
        <p:spPr>
          <a:xfrm>
            <a:off x="4663440" y="658440"/>
            <a:ext cx="4296960" cy="239508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7"/>
          <p:cNvSpPr/>
          <p:nvPr/>
        </p:nvSpPr>
        <p:spPr>
          <a:xfrm>
            <a:off x="4663440" y="658440"/>
            <a:ext cx="4296960" cy="36504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8"/>
          <p:cNvSpPr/>
          <p:nvPr/>
        </p:nvSpPr>
        <p:spPr>
          <a:xfrm>
            <a:off x="4754880" y="676800"/>
            <a:ext cx="4114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Proposed Full System (Future 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9"/>
          <p:cNvSpPr/>
          <p:nvPr/>
        </p:nvSpPr>
        <p:spPr>
          <a:xfrm>
            <a:off x="4773240" y="1051560"/>
            <a:ext cx="40957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  <a:ea typeface="Calibri"/>
              </a:rPr>
              <a:t>1.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Wearable EEG headset records 32-channel signal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BiLSTM classifier predicts emotion (94% accuracy)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3.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RL agent reads classifier output as state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4.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Best RL (DQL) selects optimal song → re-classify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✓ </a:t>
            </a: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Fully real-time closed-loop therapy system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0"/>
          <p:cNvSpPr/>
          <p:nvPr/>
        </p:nvSpPr>
        <p:spPr>
          <a:xfrm>
            <a:off x="182880" y="3145680"/>
            <a:ext cx="8777520" cy="1828080"/>
          </a:xfrm>
          <a:prstGeom prst="rect">
            <a:avLst/>
          </a:prstGeom>
          <a:solidFill>
            <a:srgbClr val="f5fafc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1"/>
          <p:cNvSpPr/>
          <p:nvPr/>
        </p:nvSpPr>
        <p:spPr>
          <a:xfrm>
            <a:off x="320040" y="318204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BiLSTM Classifier Results (Mouazen et al., 2024) — Key Missing Component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2"/>
          <p:cNvSpPr/>
          <p:nvPr/>
        </p:nvSpPr>
        <p:spPr>
          <a:xfrm>
            <a:off x="228600" y="3547800"/>
            <a:ext cx="2084040" cy="1352520"/>
          </a:xfrm>
          <a:prstGeom prst="rect">
            <a:avLst/>
          </a:prstGeom>
          <a:solidFill>
            <a:srgbClr val="e0f7fa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13"/>
          <p:cNvSpPr/>
          <p:nvPr/>
        </p:nvSpPr>
        <p:spPr>
          <a:xfrm>
            <a:off x="27432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BiLSTM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14"/>
          <p:cNvSpPr/>
          <p:nvPr/>
        </p:nvSpPr>
        <p:spPr>
          <a:xfrm>
            <a:off x="27432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85%  |  Test: 94%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5"/>
          <p:cNvSpPr/>
          <p:nvPr/>
        </p:nvSpPr>
        <p:spPr>
          <a:xfrm>
            <a:off x="27432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Theta + Alpha most important (SHAP)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Best model for integration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6"/>
          <p:cNvSpPr/>
          <p:nvPr/>
        </p:nvSpPr>
        <p:spPr>
          <a:xfrm>
            <a:off x="2404800" y="3547800"/>
            <a:ext cx="2084040" cy="1352520"/>
          </a:xfrm>
          <a:prstGeom prst="rect">
            <a:avLst/>
          </a:prstGeom>
          <a:solidFill>
            <a:srgbClr val="e0f2f1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17"/>
          <p:cNvSpPr/>
          <p:nvPr/>
        </p:nvSpPr>
        <p:spPr>
          <a:xfrm>
            <a:off x="245052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96b"/>
                </a:solidFill>
                <a:latin typeface="Calibri"/>
                <a:ea typeface="Calibri"/>
              </a:rPr>
              <a:t>GRU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8"/>
          <p:cNvSpPr/>
          <p:nvPr/>
        </p:nvSpPr>
        <p:spPr>
          <a:xfrm>
            <a:off x="245052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83%  |  Test: 93%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19"/>
          <p:cNvSpPr/>
          <p:nvPr/>
        </p:nvSpPr>
        <p:spPr>
          <a:xfrm>
            <a:off x="245052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Efficient 2s window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Good for real-time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20"/>
          <p:cNvSpPr/>
          <p:nvPr/>
        </p:nvSpPr>
        <p:spPr>
          <a:xfrm>
            <a:off x="4581000" y="3547800"/>
            <a:ext cx="2084040" cy="1352520"/>
          </a:xfrm>
          <a:prstGeom prst="rect">
            <a:avLst/>
          </a:prstGeom>
          <a:solidFill>
            <a:srgbClr val="e3f2fd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21"/>
          <p:cNvSpPr/>
          <p:nvPr/>
        </p:nvSpPr>
        <p:spPr>
          <a:xfrm>
            <a:off x="462672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CNN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22"/>
          <p:cNvSpPr/>
          <p:nvPr/>
        </p:nvSpPr>
        <p:spPr>
          <a:xfrm>
            <a:off x="462672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84%  |  Test: 91%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23"/>
          <p:cNvSpPr/>
          <p:nvPr/>
        </p:nvSpPr>
        <p:spPr>
          <a:xfrm>
            <a:off x="462672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Spatial EEG patterns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Fast inference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4"/>
          <p:cNvSpPr/>
          <p:nvPr/>
        </p:nvSpPr>
        <p:spPr>
          <a:xfrm>
            <a:off x="6757560" y="3547800"/>
            <a:ext cx="2084040" cy="1352520"/>
          </a:xfrm>
          <a:prstGeom prst="rect">
            <a:avLst/>
          </a:prstGeom>
          <a:solidFill>
            <a:srgbClr val="fff8e1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5"/>
          <p:cNvSpPr/>
          <p:nvPr/>
        </p:nvSpPr>
        <p:spPr>
          <a:xfrm>
            <a:off x="680328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Trans+LSTM+Fusion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26"/>
          <p:cNvSpPr/>
          <p:nvPr/>
        </p:nvSpPr>
        <p:spPr>
          <a:xfrm>
            <a:off x="680328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91%  |  Test: 73.6%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27"/>
          <p:cNvSpPr/>
          <p:nvPr/>
        </p:nvSpPr>
        <p:spPr>
          <a:xfrm>
            <a:off x="680328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Overfits on 6 subjects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Needs more data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Limitations &amp; Future 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"/>
          <p:cNvSpPr/>
          <p:nvPr/>
        </p:nvSpPr>
        <p:spPr>
          <a:xfrm>
            <a:off x="182880" y="658440"/>
            <a:ext cx="4187160" cy="422388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3"/>
          <p:cNvSpPr/>
          <p:nvPr/>
        </p:nvSpPr>
        <p:spPr>
          <a:xfrm>
            <a:off x="182880" y="658440"/>
            <a:ext cx="4187160" cy="3650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4"/>
          <p:cNvSpPr/>
          <p:nvPr/>
        </p:nvSpPr>
        <p:spPr>
          <a:xfrm>
            <a:off x="274320" y="67680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5"/>
          <p:cNvSpPr/>
          <p:nvPr/>
        </p:nvSpPr>
        <p:spPr>
          <a:xfrm>
            <a:off x="274320" y="106056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Small action space: Only 40 DEAP clips; real therapy needs 1000s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6"/>
          <p:cNvSpPr/>
          <p:nvPr/>
        </p:nvSpPr>
        <p:spPr>
          <a:xfrm>
            <a:off x="274320" y="14083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 real-time EEG classifier integrated (uses pre-labeled DEAP data)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7"/>
          <p:cNvSpPr/>
          <p:nvPr/>
        </p:nvSpPr>
        <p:spPr>
          <a:xfrm>
            <a:off x="274320" y="17557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Double SARSA fundamentally limited: on-policy + dual table + sparse rewards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8"/>
          <p:cNvSpPr/>
          <p:nvPr/>
        </p:nvSpPr>
        <p:spPr>
          <a:xfrm>
            <a:off x="274320" y="21031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3-6 subjects fail all algorithms — inter-subject biological variance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9"/>
          <p:cNvSpPr/>
          <p:nvPr/>
        </p:nvSpPr>
        <p:spPr>
          <a:xfrm>
            <a:off x="274320" y="24505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Discrete Q-table: cannot generalize across continuous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10"/>
          <p:cNvSpPr/>
          <p:nvPr/>
        </p:nvSpPr>
        <p:spPr>
          <a:xfrm>
            <a:off x="274320" y="27979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Single target: 'happy' only — multi-goal RL unexplored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1"/>
          <p:cNvSpPr/>
          <p:nvPr/>
        </p:nvSpPr>
        <p:spPr>
          <a:xfrm>
            <a:off x="274320" y="314568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DEAP: Lab-controlled EEG ≠ real-world home listening responses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12"/>
          <p:cNvSpPr/>
          <p:nvPr/>
        </p:nvSpPr>
        <p:spPr>
          <a:xfrm>
            <a:off x="274320" y="349308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3000 ep still not enough: some subjects need even more training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3"/>
          <p:cNvSpPr/>
          <p:nvPr/>
        </p:nvSpPr>
        <p:spPr>
          <a:xfrm>
            <a:off x="4709160" y="658440"/>
            <a:ext cx="4251240" cy="422388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4"/>
          <p:cNvSpPr/>
          <p:nvPr/>
        </p:nvSpPr>
        <p:spPr>
          <a:xfrm>
            <a:off x="4709160" y="658440"/>
            <a:ext cx="4251240" cy="36504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15"/>
          <p:cNvSpPr/>
          <p:nvPr/>
        </p:nvSpPr>
        <p:spPr>
          <a:xfrm>
            <a:off x="4800600" y="67680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Future 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16"/>
          <p:cNvSpPr/>
          <p:nvPr/>
        </p:nvSpPr>
        <p:spPr>
          <a:xfrm>
            <a:off x="4800600" y="106056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Integrate BiLSTM (94% accuracy) for real-time EEG → emotion classification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17"/>
          <p:cNvSpPr/>
          <p:nvPr/>
        </p:nvSpPr>
        <p:spPr>
          <a:xfrm>
            <a:off x="4800600" y="14083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Deep RL (DQN/A3C): neural Q-function for continuous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18"/>
          <p:cNvSpPr/>
          <p:nvPr/>
        </p:nvSpPr>
        <p:spPr>
          <a:xfrm>
            <a:off x="4800600" y="17557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Increase episodes further: test 5000–10000 ep for Double SARSA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19"/>
          <p:cNvSpPr/>
          <p:nvPr/>
        </p:nvSpPr>
        <p:spPr>
          <a:xfrm>
            <a:off x="4800600" y="21031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Larger action space: 200+ clips with rich valence/arousal diversity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20"/>
          <p:cNvSpPr/>
          <p:nvPr/>
        </p:nvSpPr>
        <p:spPr>
          <a:xfrm>
            <a:off x="4800600" y="24505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Multiple emotion targets: calm, excited, relief, not just happy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21"/>
          <p:cNvSpPr/>
          <p:nvPr/>
        </p:nvSpPr>
        <p:spPr>
          <a:xfrm>
            <a:off x="4800600" y="27979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Real-world wearable EEG + Spotify/YouTube API integration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22"/>
          <p:cNvSpPr/>
          <p:nvPr/>
        </p:nvSpPr>
        <p:spPr>
          <a:xfrm>
            <a:off x="4800600" y="314568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Online RL: adapts per-subject during the session (personalization)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3"/>
          <p:cNvSpPr/>
          <p:nvPr/>
        </p:nvSpPr>
        <p:spPr>
          <a:xfrm>
            <a:off x="4800600" y="349308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Randomized clinical trials to validate therapeutic effectiveness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-731520" y="-548640"/>
            <a:ext cx="3474000" cy="3474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600">
            <a:solidFill>
              <a:srgbClr val="028090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"/>
          <p:cNvSpPr/>
          <p:nvPr/>
        </p:nvSpPr>
        <p:spPr>
          <a:xfrm>
            <a:off x="7772400" y="3474720"/>
            <a:ext cx="2376720" cy="2376720"/>
          </a:xfrm>
          <a:prstGeom prst="ellipse">
            <a:avLst/>
          </a:prstGeom>
          <a:solidFill>
            <a:srgbClr val="00a896">
              <a:alpha val="27000"/>
            </a:srgbClr>
          </a:solidFill>
          <a:ln w="12600">
            <a:solidFill>
              <a:srgbClr val="00a896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2"/>
          <p:cNvSpPr/>
          <p:nvPr/>
        </p:nvSpPr>
        <p:spPr>
          <a:xfrm>
            <a:off x="365760" y="1645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Conclusions &amp; Key Takeaways — 3000 Episodes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3"/>
          <p:cNvSpPr/>
          <p:nvPr/>
        </p:nvSpPr>
        <p:spPr>
          <a:xfrm>
            <a:off x="2286000" y="768240"/>
            <a:ext cx="4571280" cy="4500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4"/>
          <p:cNvSpPr/>
          <p:nvPr/>
        </p:nvSpPr>
        <p:spPr>
          <a:xfrm>
            <a:off x="274320" y="91440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5"/>
          <p:cNvSpPr/>
          <p:nvPr/>
        </p:nvSpPr>
        <p:spPr>
          <a:xfrm>
            <a:off x="347400" y="9327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aa7"/>
                </a:solidFill>
                <a:latin typeface="Calibri"/>
                <a:ea typeface="Calibri"/>
              </a:rPr>
              <a:t>★★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6"/>
          <p:cNvSpPr/>
          <p:nvPr/>
        </p:nvSpPr>
        <p:spPr>
          <a:xfrm>
            <a:off x="841320" y="9327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with reward shaping is the overall winner at 3000 episodes: 27/32 &lt;20° error, 29/32 &lt;30°, mean 8.3° ±7.4° — an 85% reduction from paper's 57°. Lowest variance: most clinically reliable.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7"/>
          <p:cNvSpPr/>
          <p:nvPr/>
        </p:nvSpPr>
        <p:spPr>
          <a:xfrm>
            <a:off x="274320" y="171900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8"/>
          <p:cNvSpPr/>
          <p:nvPr/>
        </p:nvSpPr>
        <p:spPr>
          <a:xfrm>
            <a:off x="347400" y="17373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96"/>
                </a:solidFill>
                <a:latin typeface="Calibri"/>
                <a:ea typeface="Calibri"/>
              </a:rPr>
              <a:t>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9"/>
          <p:cNvSpPr/>
          <p:nvPr/>
        </p:nvSpPr>
        <p:spPr>
          <a:xfrm>
            <a:off x="841320" y="17373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SARSA dramatically improved at 3000 episodes: 25/32 &lt;20° (from 9/32 at 1000 ep). On-policy learning CAN work given enough training. BUT 3 subjects have large failures, giving high variance ±26.8°.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10"/>
          <p:cNvSpPr/>
          <p:nvPr/>
        </p:nvSpPr>
        <p:spPr>
          <a:xfrm>
            <a:off x="274320" y="252360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1"/>
          <p:cNvSpPr/>
          <p:nvPr/>
        </p:nvSpPr>
        <p:spPr>
          <a:xfrm>
            <a:off x="347400" y="25419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0c4d0"/>
                </a:solidFill>
                <a:latin typeface="Calibri"/>
                <a:ea typeface="Calibri"/>
              </a:rPr>
              <a:t>~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12"/>
          <p:cNvSpPr/>
          <p:nvPr/>
        </p:nvSpPr>
        <p:spPr>
          <a:xfrm>
            <a:off x="841320" y="25419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Q-Learning is competitive but shows a shaping reversal: without Φ achieves 24/32, 13.9° (better than with shaping 21/32, 20.1°). More training reduces dependence on the penalty.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3"/>
          <p:cNvSpPr/>
          <p:nvPr/>
        </p:nvSpPr>
        <p:spPr>
          <a:xfrm>
            <a:off x="274320" y="332856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14"/>
          <p:cNvSpPr/>
          <p:nvPr/>
        </p:nvSpPr>
        <p:spPr>
          <a:xfrm>
            <a:off x="347400" y="33465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7675"/>
                </a:solidFill>
                <a:latin typeface="Calibri"/>
                <a:ea typeface="Calibri"/>
              </a:rPr>
              <a:t>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5"/>
          <p:cNvSpPr/>
          <p:nvPr/>
        </p:nvSpPr>
        <p:spPr>
          <a:xfrm>
            <a:off x="841320" y="33465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Double SARSA fails structurally: 10/32, 77.8° mean — combining on-policy conservatism with dual tables creates a double bottleneck. More training does not fix the fundamental exploration problem.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Shape 16"/>
          <p:cNvSpPr/>
          <p:nvPr/>
        </p:nvSpPr>
        <p:spPr>
          <a:xfrm>
            <a:off x="274320" y="413316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17"/>
          <p:cNvSpPr/>
          <p:nvPr/>
        </p:nvSpPr>
        <p:spPr>
          <a:xfrm>
            <a:off x="347400" y="415152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fe6e9"/>
                </a:solidFill>
                <a:latin typeface="Calibri"/>
                <a:ea typeface="Calibri"/>
              </a:rPr>
              <a:t>◈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18"/>
          <p:cNvSpPr/>
          <p:nvPr/>
        </p:nvSpPr>
        <p:spPr>
          <a:xfrm>
            <a:off x="841320" y="415152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The full clinical system requires integrating the BiLSTM EEG classifier (94% accuracy) with our best RL agent (DQL) for a real-time closed-loop music therapy system — the critical missing piece.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19"/>
          <p:cNvSpPr/>
          <p:nvPr/>
        </p:nvSpPr>
        <p:spPr>
          <a:xfrm>
            <a:off x="274320" y="4883040"/>
            <a:ext cx="8594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alibri"/>
                <a:ea typeface="Calibri"/>
              </a:rPr>
              <a:t>Thank You  •  Sahil Nagwani (U23AI106)  •  Vishal Gautam (U23AI127)  •  PRAKRITI Manhar (U23AI114)  |  Dept. of AI, SVNIT Surat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2026-04-16T21:48:18Z</dcterms:created>
  <dc:creator>PptxGenJS</dc:creator>
  <dc:description/>
  <dc:language>en-US</dc:language>
  <cp:lastModifiedBy/>
  <dcterms:modified xsi:type="dcterms:W3CDTF">2026-04-17T12:04:35Z</dcterms:modified>
  <cp:revision>6</cp:revision>
  <dc:subject>PptxGenJS Presentation</dc:subject>
  <dc:title>RL EEG Music Emotion — Updated 3000 Episodes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