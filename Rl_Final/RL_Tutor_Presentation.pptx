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s>
</file>

<file path=ppt/charts/_rels/chart8.xml.rels><?xml version="1.0" encoding="UTF-8" standalone="yes"?>
<Relationships xmlns="http://schemas.openxmlformats.org/package/2006/relationships"><Relationship Id="rId1" Type="http://schemas.openxmlformats.org/officeDocument/2006/relationships/package" Target="../embeddings/Workbook8.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GB" sz="1100" b="0" i="0" u="none" strike="noStrike" kern="1200" baseline="0">
                <a:solidFill>
                  <a:srgbClr val="0D1B2A"/>
                </a:solidFill>
                <a:latin typeface="Arial" panose="020B0604020202020204"/>
                <a:ea typeface="+mn-ea"/>
                <a:cs typeface="+mn-cs"/>
              </a:defRPr>
            </a:pPr>
            <a:r>
              <a:rPr sz="1100" b="0" i="0" u="none" strike="noStrike">
                <a:solidFill>
                  <a:srgbClr val="0D1B2A"/>
                </a:solidFill>
                <a:latin typeface="Arial" panose="020B0604020202020204"/>
              </a:rPr>
              <a:t>Teaching Behavior Comparison (%)</a:t>
            </a:r>
            <a:endParaRPr sz="1100" b="0" i="0" u="none" strike="noStrike">
              <a:solidFill>
                <a:srgbClr val="0D1B2A"/>
              </a:solidFill>
              <a:latin typeface="Arial" panose="020B0604020202020204"/>
            </a:endParaRPr>
          </a:p>
        </c:rich>
      </c:tx>
      <c:layout/>
      <c:overlay val="0"/>
    </c:title>
    <c:autoTitleDeleted val="0"/>
    <c:plotArea>
      <c:layout/>
      <c:barChart>
        <c:barDir val="col"/>
        <c:grouping val="clustered"/>
        <c:varyColors val="0"/>
        <c:ser>
          <c:idx val="0"/>
          <c:order val="0"/>
          <c:tx>
            <c:strRef>
              <c:f>Sheet1!$B$1</c:f>
              <c:strCache>
                <c:ptCount val="1"/>
                <c:pt idx="0">
                  <c:v>Standard LLMs</c:v>
                </c:pt>
              </c:strCache>
            </c:strRef>
          </c:tx>
          <c:spPr>
            <a:solidFill>
              <a:srgbClr val="C62828"/>
            </a:solidFill>
            <a:effectLst/>
          </c:spPr>
          <c:invertIfNegative val="0"/>
          <c:dLbls>
            <c:dLbl>
              <c:idx val="0"/>
              <c:delete val="1"/>
            </c:dLbl>
            <c:dLbl>
              <c:idx val="1"/>
              <c:delete val="1"/>
            </c:dLbl>
            <c:dLbl>
              <c:idx val="2"/>
              <c:delete val="1"/>
            </c:dLbl>
            <c:dLbl>
              <c:idx val="3"/>
              <c:delete val="1"/>
            </c:dLbl>
            <c:numFmt formatCode="#,##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FFFFFF"/>
                    </a:solidFill>
                    <a:latin typeface="Arial" panose="020B0604020202020204"/>
                    <a:ea typeface="+mn-ea"/>
                    <a:cs typeface="+mn-cs"/>
                  </a:defRPr>
                </a:pPr>
              </a:p>
            </c:txPr>
            <c:dLblPos val="outEnd"/>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Direct Answers</c:v>
                </c:pt>
                <c:pt idx="1">
                  <c:v>Step-by-Step</c:v>
                </c:pt>
                <c:pt idx="2">
                  <c:v>Encouragement</c:v>
                </c:pt>
                <c:pt idx="3">
                  <c:v>Socratic Q</c:v>
                </c:pt>
              </c:strCache>
            </c:strRef>
          </c:cat>
          <c:val>
            <c:numRef>
              <c:f>Sheet1!$B$2:$B$5</c:f>
              <c:numCache>
                <c:formatCode>General</c:formatCode>
                <c:ptCount val="4"/>
                <c:pt idx="0">
                  <c:v>95</c:v>
                </c:pt>
                <c:pt idx="1">
                  <c:v>15</c:v>
                </c:pt>
                <c:pt idx="2">
                  <c:v>10</c:v>
                </c:pt>
                <c:pt idx="3">
                  <c:v>5</c:v>
                </c:pt>
              </c:numCache>
            </c:numRef>
          </c:val>
        </c:ser>
        <c:ser>
          <c:idx val="1"/>
          <c:order val="1"/>
          <c:tx>
            <c:strRef>
              <c:f>Sheet1!$C$1</c:f>
              <c:strCache>
                <c:ptCount val="1"/>
                <c:pt idx="0">
                  <c:v>Expert Human Tutors</c:v>
                </c:pt>
              </c:strCache>
            </c:strRef>
          </c:tx>
          <c:spPr>
            <a:solidFill>
              <a:srgbClr val="00897B"/>
            </a:solidFill>
            <a:effectLst/>
          </c:spPr>
          <c:invertIfNegative val="0"/>
          <c:dLbls>
            <c:dLbl>
              <c:idx val="0"/>
              <c:delete val="1"/>
            </c:dLbl>
            <c:dLbl>
              <c:idx val="1"/>
              <c:delete val="1"/>
            </c:dLbl>
            <c:dLbl>
              <c:idx val="2"/>
              <c:delete val="1"/>
            </c:dLbl>
            <c:dLbl>
              <c:idx val="3"/>
              <c:delete val="1"/>
            </c:dLbl>
            <c:numFmt formatCode="#,##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FFFFFF"/>
                    </a:solidFill>
                    <a:latin typeface="Arial" panose="020B0604020202020204"/>
                    <a:ea typeface="+mn-ea"/>
                    <a:cs typeface="+mn-cs"/>
                  </a:defRPr>
                </a:pPr>
              </a:p>
            </c:txPr>
            <c:dLblPos val="outEnd"/>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Direct Answers</c:v>
                </c:pt>
                <c:pt idx="1">
                  <c:v>Step-by-Step</c:v>
                </c:pt>
                <c:pt idx="2">
                  <c:v>Encouragement</c:v>
                </c:pt>
                <c:pt idx="3">
                  <c:v>Socratic Q</c:v>
                </c:pt>
              </c:strCache>
            </c:strRef>
          </c:cat>
          <c:val>
            <c:numRef>
              <c:f>Sheet1!$C$2:$C$5</c:f>
              <c:numCache>
                <c:formatCode>General</c:formatCode>
                <c:ptCount val="4"/>
                <c:pt idx="0">
                  <c:v>10</c:v>
                </c:pt>
                <c:pt idx="1">
                  <c:v>85</c:v>
                </c:pt>
                <c:pt idx="2">
                  <c:v>80</c:v>
                </c:pt>
                <c:pt idx="3">
                  <c:v>90</c:v>
                </c:pt>
              </c:numCache>
            </c:numRef>
          </c:val>
        </c:ser>
        <c:dLbls>
          <c:showLegendKey val="0"/>
          <c:showVal val="0"/>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607D8B"/>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100"/>
        </c:scaling>
        <c:delete val="0"/>
        <c:axPos val="l"/>
        <c:majorGridlines>
          <c:spPr>
            <a:ln w="6350" cap="flat" cmpd="sng" algn="ctr">
              <a:solidFill>
                <a:srgbClr val="E2E8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607D8B"/>
                </a:solidFill>
                <a:latin typeface="Arial" panose="020B0604020202020204"/>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GB" sz="900" b="0" i="0" u="none" strike="noStrike" kern="1200" baseline="0">
              <a:solidFill>
                <a:srgbClr val="263238"/>
              </a:solidFill>
              <a:latin typeface="+mn-lt"/>
              <a:ea typeface="+mn-ea"/>
              <a:cs typeface="+mn-cs"/>
            </a:defRPr>
          </a:pPr>
        </a:p>
      </c:txPr>
    </c:legend>
    <c:plotVisOnly val="1"/>
    <c:dispBlanksAs val="span"/>
    <c:showDLblsOverMax val="0"/>
    <c:extLst>
      <c:ext uri="{0b15fc19-7d7d-44ad-8c2d-2c3a37ce22c3}">
        <chartProps xmlns="https://web.wps.cn/et/2018/main" chartId="{a80eda80-5853-4b53-a5c3-714b275280bb}"/>
      </c:ext>
    </c:extLst>
  </c:chart>
  <c:spPr>
    <a:solidFill>
      <a:srgbClr val="FFFFFF"/>
    </a:solidFill>
    <a:ln>
      <a:noFill/>
    </a:ln>
    <a:effectLst/>
  </c:spPr>
  <c:txPr>
    <a:bodyPr/>
    <a:lstStyle/>
    <a:p>
      <a:pPr>
        <a:defRPr lang="en-GB"/>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GB" sz="1100" b="0" i="0" u="none" strike="noStrike" kern="1200" baseline="0">
                <a:solidFill>
                  <a:srgbClr val="0D1B2A"/>
                </a:solidFill>
                <a:latin typeface="Arial" panose="020B0604020202020204"/>
                <a:ea typeface="+mn-ea"/>
                <a:cs typeface="+mn-cs"/>
              </a:defRPr>
            </a:pPr>
            <a:r>
              <a:rPr sz="1100" b="0" i="0" u="none" strike="noStrike">
                <a:solidFill>
                  <a:srgbClr val="0D1B2A"/>
                </a:solidFill>
                <a:latin typeface="Arial" panose="020B0604020202020204"/>
              </a:rPr>
              <a:t>Cumulative Reward Across 10 Turns</a:t>
            </a:r>
            <a:endParaRPr sz="1100" b="0" i="0" u="none" strike="noStrike">
              <a:solidFill>
                <a:srgbClr val="0D1B2A"/>
              </a:solidFill>
              <a:latin typeface="Arial" panose="020B0604020202020204"/>
            </a:endParaRPr>
          </a:p>
        </c:rich>
      </c:tx>
      <c:layout/>
      <c:overlay val="0"/>
    </c:title>
    <c:autoTitleDeleted val="0"/>
    <c:plotArea>
      <c:layout/>
      <c:lineChart>
        <c:grouping val="none"/>
        <c:varyColors val="0"/>
        <c:ser>
          <c:idx val="0"/>
          <c:order val="0"/>
          <c:tx>
            <c:strRef>
              <c:f>Sheet1!$B$1</c:f>
              <c:strCache>
                <c:ptCount val="1"/>
                <c:pt idx="0">
                  <c:v>Standard RLHF</c:v>
                </c:pt>
              </c:strCache>
            </c:strRef>
          </c:tx>
          <c:spPr>
            <a:ln w="31750" cap="flat" cmpd="sng" algn="ctr">
              <a:solidFill>
                <a:srgbClr val="C62828"/>
              </a:solidFill>
              <a:prstDash val="solid"/>
              <a:round/>
            </a:ln>
            <a:effectLst/>
          </c:spPr>
          <c:marker>
            <c:symbol val="circle"/>
            <c:size val="6"/>
            <c:spPr>
              <a:solidFill>
                <a:srgbClr val="C62828"/>
              </a:solidFill>
              <a:ln w="9525" cap="flat" cmpd="sng" algn="ctr">
                <a:solidFill>
                  <a:srgbClr val="C62828"/>
                </a:solidFill>
                <a:prstDash val="solid"/>
                <a:round/>
              </a:ln>
              <a:effectLst/>
            </c:spPr>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numFmt formatCode="#,##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000000"/>
                    </a:solidFill>
                    <a:latin typeface="Arial" panose="020B0604020202020204"/>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Sheet1!$A$2:$A$11</c:f>
              <c:strCache>
                <c:ptCount val="10"/>
                <c:pt idx="0">
                  <c:v>T1</c:v>
                </c:pt>
                <c:pt idx="1">
                  <c:v>T2</c:v>
                </c:pt>
                <c:pt idx="2">
                  <c:v>T3</c:v>
                </c:pt>
                <c:pt idx="3">
                  <c:v>T4</c:v>
                </c:pt>
                <c:pt idx="4">
                  <c:v>T5</c:v>
                </c:pt>
                <c:pt idx="5">
                  <c:v>T6</c:v>
                </c:pt>
                <c:pt idx="6">
                  <c:v>T7</c:v>
                </c:pt>
                <c:pt idx="7">
                  <c:v>T8</c:v>
                </c:pt>
                <c:pt idx="8">
                  <c:v>T9</c:v>
                </c:pt>
                <c:pt idx="9">
                  <c:v>T10</c:v>
                </c:pt>
              </c:strCache>
            </c:strRef>
          </c:cat>
          <c:val>
            <c:numRef>
              <c:f>Sheet1!$B$2:$B$11</c:f>
              <c:numCache>
                <c:formatCode>General</c:formatCode>
                <c:ptCount val="10"/>
                <c:pt idx="0">
                  <c:v>1</c:v>
                </c:pt>
                <c:pt idx="1">
                  <c:v>0</c:v>
                </c:pt>
                <c:pt idx="2">
                  <c:v>0</c:v>
                </c:pt>
                <c:pt idx="3">
                  <c:v>0</c:v>
                </c:pt>
                <c:pt idx="4">
                  <c:v>0</c:v>
                </c:pt>
                <c:pt idx="5">
                  <c:v>0</c:v>
                </c:pt>
                <c:pt idx="6">
                  <c:v>0</c:v>
                </c:pt>
                <c:pt idx="7">
                  <c:v>0</c:v>
                </c:pt>
                <c:pt idx="8">
                  <c:v>0</c:v>
                </c:pt>
                <c:pt idx="9">
                  <c:v>0</c:v>
                </c:pt>
              </c:numCache>
            </c:numRef>
          </c:val>
          <c:smooth val="1"/>
        </c:ser>
        <c:ser>
          <c:idx val="1"/>
          <c:order val="1"/>
          <c:tx>
            <c:strRef>
              <c:f>Sheet1!$C$1</c:f>
              <c:strCache>
                <c:ptCount val="1"/>
                <c:pt idx="0">
                  <c:v>Offline RL (Ours)</c:v>
                </c:pt>
              </c:strCache>
            </c:strRef>
          </c:tx>
          <c:spPr>
            <a:ln w="31750" cap="flat" cmpd="sng" algn="ctr">
              <a:solidFill>
                <a:srgbClr val="00897B"/>
              </a:solidFill>
              <a:prstDash val="solid"/>
              <a:round/>
            </a:ln>
            <a:effectLst/>
          </c:spPr>
          <c:marker>
            <c:symbol val="circle"/>
            <c:size val="6"/>
            <c:spPr>
              <a:solidFill>
                <a:srgbClr val="00897B"/>
              </a:solidFill>
              <a:ln w="9525" cap="flat" cmpd="sng" algn="ctr">
                <a:solidFill>
                  <a:srgbClr val="00897B"/>
                </a:solidFill>
                <a:prstDash val="solid"/>
                <a:round/>
              </a:ln>
              <a:effectLst/>
            </c:spPr>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numFmt formatCode="#,##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000000"/>
                    </a:solidFill>
                    <a:latin typeface="Arial" panose="020B0604020202020204"/>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Sheet1!$A$2:$A$11</c:f>
              <c:strCache>
                <c:ptCount val="10"/>
                <c:pt idx="0">
                  <c:v>T1</c:v>
                </c:pt>
                <c:pt idx="1">
                  <c:v>T2</c:v>
                </c:pt>
                <c:pt idx="2">
                  <c:v>T3</c:v>
                </c:pt>
                <c:pt idx="3">
                  <c:v>T4</c:v>
                </c:pt>
                <c:pt idx="4">
                  <c:v>T5</c:v>
                </c:pt>
                <c:pt idx="5">
                  <c:v>T6</c:v>
                </c:pt>
                <c:pt idx="6">
                  <c:v>T7</c:v>
                </c:pt>
                <c:pt idx="7">
                  <c:v>T8</c:v>
                </c:pt>
                <c:pt idx="8">
                  <c:v>T9</c:v>
                </c:pt>
                <c:pt idx="9">
                  <c:v>T10</c:v>
                </c:pt>
              </c:strCache>
            </c:strRef>
          </c:cat>
          <c:val>
            <c:numRef>
              <c:f>Sheet1!$C$2:$C$11</c:f>
              <c:numCache>
                <c:formatCode>General</c:formatCode>
                <c:ptCount val="10"/>
                <c:pt idx="0">
                  <c:v>0.1</c:v>
                </c:pt>
                <c:pt idx="1">
                  <c:v>0.2</c:v>
                </c:pt>
                <c:pt idx="2">
                  <c:v>0.3</c:v>
                </c:pt>
                <c:pt idx="3">
                  <c:v>0.35</c:v>
                </c:pt>
                <c:pt idx="4">
                  <c:v>0.45</c:v>
                </c:pt>
                <c:pt idx="5">
                  <c:v>0.55</c:v>
                </c:pt>
                <c:pt idx="6">
                  <c:v>0.65</c:v>
                </c:pt>
                <c:pt idx="7">
                  <c:v>0.75</c:v>
                </c:pt>
                <c:pt idx="8">
                  <c:v>0.88</c:v>
                </c:pt>
                <c:pt idx="9">
                  <c:v>1</c:v>
                </c:pt>
              </c:numCache>
            </c:numRef>
          </c:val>
          <c:smooth val="1"/>
        </c:ser>
        <c:dLbls>
          <c:showLegendKey val="0"/>
          <c:showVal val="0"/>
          <c:showCatName val="0"/>
          <c:showSerName val="0"/>
          <c:showPercent val="0"/>
          <c:showBubbleSize val="0"/>
        </c:dLbls>
        <c:marker val="1"/>
        <c:smooth val="1"/>
        <c:axId val="2094734554"/>
        <c:axId val="2094734552"/>
      </c:line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607D8B"/>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E2E8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607D8B"/>
                </a:solidFill>
                <a:latin typeface="Arial" panose="020B0604020202020204"/>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GB" sz="900" b="0" i="0" u="none" strike="noStrike" kern="1200" baseline="0">
              <a:solidFill>
                <a:schemeClr val="tx1"/>
              </a:solidFill>
              <a:latin typeface="+mn-lt"/>
              <a:ea typeface="+mn-ea"/>
              <a:cs typeface="+mn-cs"/>
            </a:defRPr>
          </a:pPr>
        </a:p>
      </c:txPr>
    </c:legend>
    <c:plotVisOnly val="1"/>
    <c:dispBlanksAs val="span"/>
    <c:showDLblsOverMax val="0"/>
    <c:extLst>
      <c:ext uri="{0b15fc19-7d7d-44ad-8c2d-2c3a37ce22c3}">
        <chartProps xmlns="https://web.wps.cn/et/2018/main" chartId="{fe36f476-0c81-4cae-a8b0-c3ec2b5752fa}"/>
      </c:ext>
    </c:extLst>
  </c:chart>
  <c:spPr>
    <a:solidFill>
      <a:srgbClr val="FFFFFF"/>
    </a:solidFill>
    <a:ln>
      <a:noFill/>
    </a:ln>
    <a:effectLst/>
  </c:spPr>
  <c:txPr>
    <a:bodyPr/>
    <a:lstStyle/>
    <a:p>
      <a:pPr>
        <a:defRPr lang="en-GB"/>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GB" sz="1200" b="0" i="0" u="none" strike="noStrike" kern="1200" baseline="0">
                <a:solidFill>
                  <a:srgbClr val="0D1B2A"/>
                </a:solidFill>
                <a:latin typeface="Arial" panose="020B0604020202020204"/>
                <a:ea typeface="+mn-ea"/>
                <a:cs typeface="+mn-cs"/>
              </a:defRPr>
            </a:pPr>
            <a:r>
              <a:rPr sz="1200" b="0" i="0" u="none" strike="noStrike">
                <a:solidFill>
                  <a:srgbClr val="0D1B2A"/>
                </a:solidFill>
                <a:latin typeface="Arial" panose="020B0604020202020204"/>
              </a:rPr>
              <a:t>Success Rate by Method (%)</a:t>
            </a:r>
            <a:endParaRPr sz="1200" b="0" i="0" u="none" strike="noStrike">
              <a:solidFill>
                <a:srgbClr val="0D1B2A"/>
              </a:solidFill>
              <a:latin typeface="Arial" panose="020B0604020202020204"/>
            </a:endParaRPr>
          </a:p>
        </c:rich>
      </c:tx>
      <c:layout/>
      <c:overlay val="0"/>
    </c:title>
    <c:autoTitleDeleted val="0"/>
    <c:plotArea>
      <c:layout/>
      <c:barChart>
        <c:barDir val="bar"/>
        <c:grouping val="clustered"/>
        <c:varyColors val="0"/>
        <c:ser>
          <c:idx val="0"/>
          <c:order val="0"/>
          <c:tx>
            <c:strRef>
              <c:f>Sheet1!$B$1</c:f>
              <c:strCache>
                <c:ptCount val="1"/>
                <c:pt idx="0">
                  <c:v>Success Rate (%)</c:v>
                </c:pt>
              </c:strCache>
            </c:strRef>
          </c:tx>
          <c:spPr>
            <a:solidFill>
              <a:srgbClr val="90A4AE"/>
            </a:solidFill>
            <a:effectLst/>
          </c:spPr>
          <c:invertIfNegative val="0"/>
          <c:dPt>
            <c:idx val="0"/>
            <c:invertIfNegative val="0"/>
            <c:bubble3D val="0"/>
            <c:spPr>
              <a:solidFill>
                <a:srgbClr val="90A4AE"/>
              </a:solidFill>
              <a:effectLst/>
            </c:spPr>
          </c:dPt>
          <c:dPt>
            <c:idx val="1"/>
            <c:invertIfNegative val="0"/>
            <c:bubble3D val="0"/>
            <c:spPr>
              <a:solidFill>
                <a:srgbClr val="42A5F5"/>
              </a:solidFill>
              <a:effectLst/>
            </c:spPr>
          </c:dPt>
          <c:dPt>
            <c:idx val="2"/>
            <c:invertIfNegative val="0"/>
            <c:bubble3D val="0"/>
            <c:spPr>
              <a:solidFill>
                <a:srgbClr val="AB47BC"/>
              </a:solidFill>
              <a:effectLst/>
            </c:spPr>
          </c:dPt>
          <c:dPt>
            <c:idx val="3"/>
            <c:invertIfNegative val="0"/>
            <c:bubble3D val="0"/>
            <c:spPr>
              <a:solidFill>
                <a:srgbClr val="00897B"/>
              </a:solidFill>
              <a:effectLst/>
            </c:spPr>
          </c:dPt>
          <c:dPt>
            <c:idx val="4"/>
            <c:invertIfNegative val="0"/>
            <c:bubble3D val="0"/>
            <c:spPr>
              <a:solidFill>
                <a:srgbClr val="1565C0"/>
              </a:solidFill>
              <a:effectLst/>
            </c:spPr>
          </c:dPt>
          <c:dLbls>
            <c:numFmt formatCode="#,##0" sourceLinked="0"/>
            <c:spPr>
              <a:noFill/>
              <a:ln>
                <a:noFill/>
              </a:ln>
              <a:effectLst/>
            </c:spPr>
            <c:txPr>
              <a:bodyPr rot="0" spcFirstLastPara="0" vertOverflow="ellipsis" vert="horz" wrap="square" lIns="38100" tIns="19050" rIns="38100" bIns="19050" anchor="ctr" anchorCtr="1"/>
              <a:lstStyle/>
              <a:p>
                <a:pPr>
                  <a:defRPr lang="en-GB" sz="1000" b="0" i="0" u="none" strike="noStrike" kern="1200" baseline="0">
                    <a:solidFill>
                      <a:srgbClr val="FFFFFF"/>
                    </a:solidFill>
                    <a:latin typeface="Arial" panose="020B0604020202020204"/>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Prompt Engineering</c:v>
                </c:pt>
                <c:pt idx="1">
                  <c:v>Behavioral Cloning</c:v>
                </c:pt>
                <c:pt idx="2">
                  <c:v>Online RL (PPO)</c:v>
                </c:pt>
                <c:pt idx="3">
                  <c:v>Offline CQL (Paper)</c:v>
                </c:pt>
                <c:pt idx="4">
                  <c:v>Our 409D Extension</c:v>
                </c:pt>
              </c:strCache>
            </c:strRef>
          </c:cat>
          <c:val>
            <c:numRef>
              <c:f>Sheet1!$B$2:$B$6</c:f>
              <c:numCache>
                <c:formatCode>General</c:formatCode>
                <c:ptCount val="5"/>
                <c:pt idx="0">
                  <c:v>36</c:v>
                </c:pt>
                <c:pt idx="1">
                  <c:v>42.5</c:v>
                </c:pt>
                <c:pt idx="2">
                  <c:v>45</c:v>
                </c:pt>
                <c:pt idx="3">
                  <c:v>60.33</c:v>
                </c:pt>
                <c:pt idx="4">
                  <c:v>64.12</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263238"/>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80"/>
          <c:min val="0"/>
        </c:scaling>
        <c:delete val="0"/>
        <c:axPos val="b"/>
        <c:majorGridlines>
          <c:spPr>
            <a:ln w="6350" cap="flat" cmpd="sng" algn="ctr">
              <a:solidFill>
                <a:srgbClr val="E2E8F0"/>
              </a:solidFill>
              <a:prstDash val="solid"/>
              <a:round/>
            </a:ln>
          </c:spPr>
        </c:majorGridlines>
        <c:numFmt formatCode="General" sourceLinked="0"/>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607D8B"/>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cafe7f92-fda7-4aa1-abf6-eca0ecf337c3}"/>
      </c:ext>
    </c:extLst>
  </c:chart>
  <c:spPr>
    <a:solidFill>
      <a:srgbClr val="FFFFFF"/>
    </a:solidFill>
    <a:ln>
      <a:noFill/>
    </a:ln>
    <a:effectLst/>
  </c:spPr>
  <c:txPr>
    <a:bodyPr/>
    <a:lstStyle/>
    <a:p>
      <a:pPr>
        <a:defRPr lang="en-GB"/>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GB" sz="1100" b="0" i="0" u="none" strike="noStrike" kern="1200" baseline="0">
                <a:solidFill>
                  <a:srgbClr val="0D1B2A"/>
                </a:solidFill>
                <a:latin typeface="Arial" panose="020B0604020202020204"/>
                <a:ea typeface="+mn-ea"/>
                <a:cs typeface="+mn-cs"/>
              </a:defRPr>
            </a:pPr>
            <a:r>
              <a:rPr sz="1100" b="0" i="0" u="none" strike="noStrike">
                <a:solidFill>
                  <a:srgbClr val="0D1B2A"/>
                </a:solidFill>
                <a:latin typeface="Arial" panose="020B0604020202020204"/>
              </a:rPr>
              <a:t>25D State Vector — Feature Categories</a:t>
            </a:r>
            <a:endParaRPr sz="1100" b="0" i="0" u="none" strike="noStrike">
              <a:solidFill>
                <a:srgbClr val="0D1B2A"/>
              </a:solidFill>
              <a:latin typeface="Arial" panose="020B0604020202020204"/>
            </a:endParaRPr>
          </a:p>
        </c:rich>
      </c:tx>
      <c:layout/>
      <c:overlay val="0"/>
    </c:title>
    <c:autoTitleDeleted val="0"/>
    <c:plotArea>
      <c:layout/>
      <c:pieChart>
        <c:varyColors val="1"/>
        <c:ser>
          <c:idx val="0"/>
          <c:order val="0"/>
          <c:tx>
            <c:strRef>
              <c:f>Sheet1!$B$1</c:f>
              <c:strCache>
                <c:ptCount val="1"/>
                <c:pt idx="0">
                  <c:v>State Vector Breakdown</c:v>
                </c:pt>
              </c:strCache>
            </c:strRef>
          </c:tx>
          <c:spPr>
            <a:solidFill>
              <a:schemeClr val="accent1"/>
            </a:solidFill>
            <a:ln w="9525" cap="flat">
              <a:solidFill>
                <a:srgbClr val="F9F9F9"/>
              </a:solidFill>
              <a:prstDash val="solid"/>
              <a:round/>
            </a:ln>
            <a:effectLst/>
          </c:spPr>
          <c:explosion val="0"/>
          <c:dPt>
            <c:idx val="0"/>
            <c:bubble3D val="0"/>
            <c:spPr>
              <a:solidFill>
                <a:srgbClr val="B71C1C"/>
              </a:solidFill>
              <a:effectLst/>
            </c:spPr>
          </c:dPt>
          <c:dPt>
            <c:idx val="1"/>
            <c:bubble3D val="0"/>
            <c:spPr>
              <a:solidFill>
                <a:srgbClr val="1565C0"/>
              </a:solidFill>
              <a:effectLst/>
            </c:spPr>
          </c:dPt>
          <c:dPt>
            <c:idx val="2"/>
            <c:bubble3D val="0"/>
            <c:spPr>
              <a:solidFill>
                <a:srgbClr val="00695C"/>
              </a:solidFill>
              <a:effectLst/>
            </c:spPr>
          </c:dPt>
          <c:dPt>
            <c:idx val="3"/>
            <c:bubble3D val="0"/>
            <c:spPr>
              <a:solidFill>
                <a:srgbClr val="E65100"/>
              </a:solidFill>
              <a:effectLst/>
            </c:spPr>
          </c:dPt>
          <c:dPt>
            <c:idx val="4"/>
            <c:bubble3D val="0"/>
            <c:spPr>
              <a:solidFill>
                <a:srgbClr val="6A1B9A"/>
              </a:solidFill>
              <a:effectLst/>
            </c:spPr>
          </c:dPt>
          <c:dPt>
            <c:idx val="5"/>
            <c:bubble3D val="0"/>
            <c:spPr>
              <a:solidFill>
                <a:srgbClr val="37474F"/>
              </a:solidFill>
              <a:effectLst/>
            </c:spPr>
          </c:dPt>
          <c:dLbls>
            <c:dLbl>
              <c:idx val="0"/>
              <c:layout/>
              <c:numFmt formatCode="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000000"/>
                      </a:solidFill>
                      <a:latin typeface="Arial" panose="020B0604020202020204"/>
                      <a:ea typeface="+mn-ea"/>
                      <a:cs typeface="+mn-cs"/>
                    </a:defRPr>
                  </a:pPr>
                </a:p>
              </c:txPr>
              <c:dLblPos val="bestFit"/>
              <c:showLegendKey val="0"/>
              <c:showVal val="0"/>
              <c:showCatName val="0"/>
              <c:showSerName val="0"/>
              <c:showPercent val="1"/>
              <c:showBubbleSize val="0"/>
              <c:extLst>
                <c:ext xmlns:c15="http://schemas.microsoft.com/office/drawing/2012/chart" uri="{CE6537A1-D6FC-4f65-9D91-7224C49458BB}"/>
              </c:extLst>
            </c:dLbl>
            <c:dLbl>
              <c:idx val="1"/>
              <c:layout/>
              <c:numFmt formatCode="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000000"/>
                      </a:solidFill>
                      <a:latin typeface="Arial" panose="020B0604020202020204"/>
                      <a:ea typeface="+mn-ea"/>
                      <a:cs typeface="+mn-cs"/>
                    </a:defRPr>
                  </a:pPr>
                </a:p>
              </c:txPr>
              <c:dLblPos val="bestFit"/>
              <c:showLegendKey val="0"/>
              <c:showVal val="0"/>
              <c:showCatName val="0"/>
              <c:showSerName val="0"/>
              <c:showPercent val="1"/>
              <c:showBubbleSize val="0"/>
              <c:extLst>
                <c:ext xmlns:c15="http://schemas.microsoft.com/office/drawing/2012/chart" uri="{CE6537A1-D6FC-4f65-9D91-7224C49458BB}"/>
              </c:extLst>
            </c:dLbl>
            <c:dLbl>
              <c:idx val="2"/>
              <c:layout/>
              <c:numFmt formatCode="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000000"/>
                      </a:solidFill>
                      <a:latin typeface="Arial" panose="020B0604020202020204"/>
                      <a:ea typeface="+mn-ea"/>
                      <a:cs typeface="+mn-cs"/>
                    </a:defRPr>
                  </a:pPr>
                </a:p>
              </c:txPr>
              <c:dLblPos val="bestFit"/>
              <c:showLegendKey val="0"/>
              <c:showVal val="0"/>
              <c:showCatName val="0"/>
              <c:showSerName val="0"/>
              <c:showPercent val="1"/>
              <c:showBubbleSize val="0"/>
              <c:extLst>
                <c:ext xmlns:c15="http://schemas.microsoft.com/office/drawing/2012/chart" uri="{CE6537A1-D6FC-4f65-9D91-7224C49458BB}"/>
              </c:extLst>
            </c:dLbl>
            <c:dLbl>
              <c:idx val="3"/>
              <c:layout/>
              <c:numFmt formatCode="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000000"/>
                      </a:solidFill>
                      <a:latin typeface="Arial" panose="020B0604020202020204"/>
                      <a:ea typeface="+mn-ea"/>
                      <a:cs typeface="+mn-cs"/>
                    </a:defRPr>
                  </a:pPr>
                </a:p>
              </c:txPr>
              <c:dLblPos val="bestFit"/>
              <c:showLegendKey val="0"/>
              <c:showVal val="0"/>
              <c:showCatName val="0"/>
              <c:showSerName val="0"/>
              <c:showPercent val="1"/>
              <c:showBubbleSize val="0"/>
              <c:extLst>
                <c:ext xmlns:c15="http://schemas.microsoft.com/office/drawing/2012/chart" uri="{CE6537A1-D6FC-4f65-9D91-7224C49458BB}"/>
              </c:extLst>
            </c:dLbl>
            <c:dLbl>
              <c:idx val="4"/>
              <c:layout/>
              <c:numFmt formatCode="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000000"/>
                      </a:solidFill>
                      <a:latin typeface="Arial" panose="020B0604020202020204"/>
                      <a:ea typeface="+mn-ea"/>
                      <a:cs typeface="+mn-cs"/>
                    </a:defRPr>
                  </a:pPr>
                </a:p>
              </c:txPr>
              <c:dLblPos val="bestFit"/>
              <c:showLegendKey val="0"/>
              <c:showVal val="0"/>
              <c:showCatName val="0"/>
              <c:showSerName val="0"/>
              <c:showPercent val="1"/>
              <c:showBubbleSize val="0"/>
              <c:extLst>
                <c:ext xmlns:c15="http://schemas.microsoft.com/office/drawing/2012/chart" uri="{CE6537A1-D6FC-4f65-9D91-7224C49458BB}"/>
              </c:extLst>
            </c:dLbl>
            <c:dLbl>
              <c:idx val="5"/>
              <c:layout/>
              <c:numFmt formatCode="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000000"/>
                      </a:solidFill>
                      <a:latin typeface="Arial" panose="020B0604020202020204"/>
                      <a:ea typeface="+mn-ea"/>
                      <a:cs typeface="+mn-cs"/>
                    </a:defRPr>
                  </a:pPr>
                </a:p>
              </c:txPr>
              <c:dLblPos val="bestFit"/>
              <c:showLegendKey val="0"/>
              <c:showVal val="0"/>
              <c:showCatName val="0"/>
              <c:showSerName val="0"/>
              <c:showPercent val="1"/>
              <c:showBubbleSize val="0"/>
              <c:extLst>
                <c:ext xmlns:c15="http://schemas.microsoft.com/office/drawing/2012/chart" uri="{CE6537A1-D6FC-4f65-9D91-7224C49458BB}"/>
              </c:extLst>
            </c:dLbl>
            <c:numFmt formatCode="0%" sourceLinked="0"/>
            <c:spPr>
              <a:noFill/>
              <a:ln>
                <a:noFill/>
              </a:ln>
              <a:effectLst/>
            </c:spPr>
            <c:txPr>
              <a:bodyPr rot="0" spcFirstLastPara="0" vertOverflow="ellipsis" vert="horz" wrap="square" lIns="38100" tIns="19050" rIns="38100" bIns="19050" anchor="ctr" anchorCtr="1"/>
              <a:lstStyle/>
              <a:p>
                <a:pPr>
                  <a:defRPr lang="en-GB" sz="1800" b="0" i="0" u="none" strike="noStrike" kern="1200" baseline="0">
                    <a:solidFill>
                      <a:srgbClr val="000000"/>
                    </a:solidFill>
                    <a:latin typeface="Arial" panose="020B0604020202020204"/>
                    <a:ea typeface="+mn-ea"/>
                    <a:cs typeface="+mn-cs"/>
                  </a:defRPr>
                </a:pPr>
              </a:p>
            </c:txPr>
            <c:dLblPos val="ctr"/>
            <c:showLegendKey val="0"/>
            <c:showVal val="0"/>
            <c:showCatName val="1"/>
            <c:showSerName val="0"/>
            <c:showPercent val="1"/>
            <c:showBubbleSize val="0"/>
            <c:showLeaderLines val="0"/>
            <c:extLst>
              <c:ext xmlns:c15="http://schemas.microsoft.com/office/drawing/2012/chart" uri="{CE6537A1-D6FC-4f65-9D91-7224C49458BB}">
                <c15:layout/>
                <c15:showLeaderLines val="0"/>
                <c15:leaderLines/>
              </c:ext>
            </c:extLst>
          </c:dLbls>
          <c:cat>
            <c:strRef>
              <c:f>Sheet1!$A$2:$A$7</c:f>
              <c:strCache>
                <c:ptCount val="6"/>
                <c:pt idx="0">
                  <c:v>Emotional State (Q7–13)</c:v>
                </c:pt>
                <c:pt idx="1">
                  <c:v>Engagement Tracking (Q1–6)</c:v>
                </c:pt>
                <c:pt idx="2">
                  <c:v>Content Analysis (Q14–17)</c:v>
                </c:pt>
                <c:pt idx="3">
                  <c:v>Tutor Behavior (Q18–20)</c:v>
                </c:pt>
                <c:pt idx="4">
                  <c:v>Counters (Q21–23)</c:v>
                </c:pt>
                <c:pt idx="5">
                  <c:v>Classifiers (Q24–25)</c:v>
                </c:pt>
              </c:strCache>
            </c:strRef>
          </c:cat>
          <c:val>
            <c:numRef>
              <c:f>Sheet1!$B$2:$B$7</c:f>
              <c:numCache>
                <c:formatCode>General</c:formatCode>
                <c:ptCount val="6"/>
                <c:pt idx="0">
                  <c:v>28</c:v>
                </c:pt>
                <c:pt idx="1">
                  <c:v>24</c:v>
                </c:pt>
                <c:pt idx="2">
                  <c:v>16</c:v>
                </c:pt>
                <c:pt idx="3">
                  <c:v>12</c:v>
                </c:pt>
                <c:pt idx="4">
                  <c:v>12</c:v>
                </c:pt>
                <c:pt idx="5">
                  <c:v>8</c:v>
                </c:pt>
              </c:numCache>
            </c:numRef>
          </c:val>
        </c:ser>
        <c:dLbls>
          <c:showLegendKey val="0"/>
          <c:showVal val="0"/>
          <c:showCatName val="1"/>
          <c:showSerName val="0"/>
          <c:showPercent val="1"/>
          <c:showBubbleSize val="0"/>
          <c:showLeaderLines val="1"/>
        </c:dLbls>
        <c:firstSliceAng val="0"/>
      </c:pieChart>
      <c:spPr>
        <a:noFill/>
        <a:ln>
          <a:noFill/>
        </a:ln>
        <a:effectLst/>
      </c:spPr>
    </c:plotArea>
    <c:legend>
      <c:legendPos val="b"/>
      <c:layout/>
      <c:overlay val="0"/>
      <c:txPr>
        <a:bodyPr rot="0" spcFirstLastPara="0" vertOverflow="ellipsis" vert="horz" wrap="square" anchor="ctr" anchorCtr="1"/>
        <a:lstStyle/>
        <a:p>
          <a:pPr>
            <a:defRPr lang="en-GB" sz="900" b="0" i="0" u="none" strike="noStrike" kern="1200" baseline="0">
              <a:solidFill>
                <a:srgbClr val="263238"/>
              </a:solidFill>
              <a:latin typeface="+mn-lt"/>
              <a:ea typeface="+mn-ea"/>
              <a:cs typeface="+mn-cs"/>
            </a:defRPr>
          </a:pPr>
        </a:p>
      </c:txPr>
    </c:legend>
    <c:plotVisOnly val="1"/>
    <c:dispBlanksAs val="span"/>
    <c:showDLblsOverMax val="0"/>
    <c:extLst>
      <c:ext uri="{0b15fc19-7d7d-44ad-8c2d-2c3a37ce22c3}">
        <chartProps xmlns="https://web.wps.cn/et/2018/main" chartId="{e24319e9-a234-4870-9907-0cfb1594554a}"/>
      </c:ext>
    </c:extLst>
  </c:chart>
  <c:spPr>
    <a:solidFill>
      <a:srgbClr val="FFFFFF"/>
    </a:solidFill>
    <a:ln>
      <a:noFill/>
    </a:ln>
    <a:effectLst/>
  </c:spPr>
  <c:txPr>
    <a:bodyPr/>
    <a:lstStyle/>
    <a:p>
      <a:pPr>
        <a:defRPr lang="en-GB"/>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GB" sz="1100" b="0" i="0" u="none" strike="noStrike" kern="1200" baseline="0">
                <a:solidFill>
                  <a:srgbClr val="0D1B2A"/>
                </a:solidFill>
                <a:latin typeface="Arial" panose="020B0604020202020204"/>
                <a:ea typeface="+mn-ea"/>
                <a:cs typeface="+mn-cs"/>
              </a:defRPr>
            </a:pPr>
            <a:r>
              <a:rPr sz="1100" b="0" i="0" u="none" strike="noStrike">
                <a:solidFill>
                  <a:srgbClr val="0D1B2A"/>
                </a:solidFill>
                <a:latin typeface="Arial" panose="020B0604020202020204"/>
              </a:rPr>
              <a:t>Student Success Rate by Method — Replication of Figure 3</a:t>
            </a:r>
            <a:endParaRPr sz="1100" b="0" i="0" u="none" strike="noStrike">
              <a:solidFill>
                <a:srgbClr val="0D1B2A"/>
              </a:solidFill>
              <a:latin typeface="Arial" panose="020B0604020202020204"/>
            </a:endParaRPr>
          </a:p>
        </c:rich>
      </c:tx>
      <c:layout/>
      <c:overlay val="0"/>
    </c:title>
    <c:autoTitleDeleted val="0"/>
    <c:plotArea>
      <c:layout/>
      <c:barChart>
        <c:barDir val="col"/>
        <c:grouping val="clustered"/>
        <c:varyColors val="0"/>
        <c:ser>
          <c:idx val="0"/>
          <c:order val="0"/>
          <c:tx>
            <c:strRef>
              <c:f>Sheet1!$B$1</c:f>
              <c:strCache>
                <c:ptCount val="1"/>
                <c:pt idx="0">
                  <c:v>Success Rate (%)</c:v>
                </c:pt>
              </c:strCache>
            </c:strRef>
          </c:tx>
          <c:spPr>
            <a:solidFill>
              <a:srgbClr val="90A4AE"/>
            </a:solidFill>
            <a:effectLst/>
          </c:spPr>
          <c:invertIfNegative val="0"/>
          <c:dPt>
            <c:idx val="0"/>
            <c:invertIfNegative val="0"/>
            <c:bubble3D val="0"/>
            <c:spPr>
              <a:solidFill>
                <a:srgbClr val="90A4AE"/>
              </a:solidFill>
              <a:effectLst/>
            </c:spPr>
          </c:dPt>
          <c:dPt>
            <c:idx val="1"/>
            <c:invertIfNegative val="0"/>
            <c:bubble3D val="0"/>
            <c:spPr>
              <a:solidFill>
                <a:srgbClr val="42A5F5"/>
              </a:solidFill>
              <a:effectLst/>
            </c:spPr>
          </c:dPt>
          <c:dPt>
            <c:idx val="2"/>
            <c:invertIfNegative val="0"/>
            <c:bubble3D val="0"/>
            <c:spPr>
              <a:solidFill>
                <a:srgbClr val="4CAF50"/>
              </a:solidFill>
              <a:effectLst/>
            </c:spPr>
          </c:dPt>
          <c:dPt>
            <c:idx val="3"/>
            <c:invertIfNegative val="0"/>
            <c:bubble3D val="0"/>
            <c:spPr>
              <a:solidFill>
                <a:srgbClr val="00897B"/>
              </a:solidFill>
              <a:effectLst/>
            </c:spPr>
          </c:dPt>
          <c:dLbls>
            <c:numFmt formatCode="#,##0" sourceLinked="0"/>
            <c:spPr>
              <a:noFill/>
              <a:ln>
                <a:noFill/>
              </a:ln>
              <a:effectLst/>
            </c:spPr>
            <c:txPr>
              <a:bodyPr rot="0" spcFirstLastPara="0" vertOverflow="ellipsis" vert="horz" wrap="square" lIns="38100" tIns="19050" rIns="38100" bIns="19050" anchor="ctr" anchorCtr="1"/>
              <a:lstStyle/>
              <a:p>
                <a:pPr>
                  <a:defRPr lang="en-GB" sz="1400" b="0" i="0" u="none" strike="noStrike" kern="1200" baseline="0">
                    <a:solidFill>
                      <a:srgbClr val="FFFFFF"/>
                    </a:solidFill>
                    <a:latin typeface="Arial" panose="020B0604020202020204"/>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Prompt Engineering
Baseline</c:v>
                </c:pt>
                <c:pt idx="1">
                  <c:v>Behavioral
Cloning (BC)</c:v>
                </c:pt>
                <c:pt idx="2">
                  <c:v>CQL Base
Dataset D</c:v>
                </c:pt>
                <c:pt idx="3">
                  <c:v>CQL + Augmented
Data (D+)</c:v>
                </c:pt>
              </c:strCache>
            </c:strRef>
          </c:cat>
          <c:val>
            <c:numRef>
              <c:f>Sheet1!$B$2:$B$5</c:f>
              <c:numCache>
                <c:formatCode>General</c:formatCode>
                <c:ptCount val="4"/>
                <c:pt idx="0">
                  <c:v>36</c:v>
                </c:pt>
                <c:pt idx="1">
                  <c:v>42.5</c:v>
                </c:pt>
                <c:pt idx="2">
                  <c:v>48.67</c:v>
                </c:pt>
                <c:pt idx="3">
                  <c:v>60.33</c:v>
                </c:pt>
              </c:numCache>
            </c:numRef>
          </c:val>
        </c:ser>
        <c:dLbls>
          <c:showLegendKey val="0"/>
          <c:showVal val="1"/>
          <c:showCatName val="0"/>
          <c:showSerName val="0"/>
          <c:showPercent val="0"/>
          <c:showBubbleSize val="0"/>
        </c:dLbls>
        <c:gapWidth val="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263238"/>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80"/>
          <c:min val="0"/>
        </c:scaling>
        <c:delete val="0"/>
        <c:axPos val="l"/>
        <c:majorGridlines>
          <c:spPr>
            <a:ln w="6350" cap="flat" cmpd="sng" algn="ctr">
              <a:solidFill>
                <a:srgbClr val="E2E8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607D8B"/>
                </a:solidFill>
                <a:latin typeface="Arial" panose="020B06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4ac055fc-ba32-433d-8a7c-ae6cbcdc6769}"/>
      </c:ext>
    </c:extLst>
  </c:chart>
  <c:spPr>
    <a:solidFill>
      <a:srgbClr val="FFFFFF"/>
    </a:solidFill>
    <a:ln>
      <a:noFill/>
    </a:ln>
    <a:effectLst/>
  </c:spPr>
  <c:txPr>
    <a:bodyPr/>
    <a:lstStyle/>
    <a:p>
      <a:pPr>
        <a:defRPr lang="en-GB"/>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GB" sz="1100" b="0" i="0" u="none" strike="noStrike" kern="1200" baseline="0">
                <a:solidFill>
                  <a:srgbClr val="0D1B2A"/>
                </a:solidFill>
                <a:latin typeface="Arial" panose="020B0604020202020204"/>
                <a:ea typeface="+mn-ea"/>
                <a:cs typeface="+mn-cs"/>
              </a:defRPr>
            </a:pPr>
            <a:r>
              <a:rPr sz="1100" b="0" i="0" u="none" strike="noStrike">
                <a:solidFill>
                  <a:srgbClr val="0D1B2A"/>
                </a:solidFill>
                <a:latin typeface="Arial" panose="020B0604020202020204"/>
              </a:rPr>
              <a:t>TD Loss Over Training Epochs</a:t>
            </a:r>
            <a:endParaRPr sz="1100" b="0" i="0" u="none" strike="noStrike">
              <a:solidFill>
                <a:srgbClr val="0D1B2A"/>
              </a:solidFill>
              <a:latin typeface="Arial" panose="020B0604020202020204"/>
            </a:endParaRPr>
          </a:p>
        </c:rich>
      </c:tx>
      <c:layout/>
      <c:overlay val="0"/>
    </c:title>
    <c:autoTitleDeleted val="0"/>
    <c:plotArea>
      <c:layout/>
      <c:lineChart>
        <c:grouping val="none"/>
        <c:varyColors val="0"/>
        <c:ser>
          <c:idx val="0"/>
          <c:order val="0"/>
          <c:tx>
            <c:strRef>
              <c:f>Sheet1!$B$1</c:f>
              <c:strCache>
                <c:ptCount val="1"/>
                <c:pt idx="0">
                  <c:v>Baseline CQL (Sparse)</c:v>
                </c:pt>
              </c:strCache>
            </c:strRef>
          </c:tx>
          <c:spPr>
            <a:ln w="31750" cap="flat" cmpd="sng" algn="ctr">
              <a:solidFill>
                <a:srgbClr val="C62828"/>
              </a:solidFill>
              <a:prstDash val="solid"/>
              <a:round/>
            </a:ln>
            <a:effectLst/>
          </c:spPr>
          <c:marker>
            <c:symbol val="circle"/>
            <c:size val="6"/>
            <c:spPr>
              <a:solidFill>
                <a:srgbClr val="C62828"/>
              </a:solidFill>
              <a:ln w="9525" cap="flat" cmpd="sng" algn="ctr">
                <a:solidFill>
                  <a:srgbClr val="C62828"/>
                </a:solidFill>
                <a:prstDash val="solid"/>
                <a:round/>
              </a:ln>
              <a:effectLst/>
            </c:spPr>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000000"/>
                    </a:solidFill>
                    <a:latin typeface="Arial" panose="020B0604020202020204"/>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Sheet1!$A$2:$A$16</c:f>
              <c:strCache>
                <c:ptCount val="15"/>
                <c:pt idx="0">
                  <c:v>E1</c:v>
                </c:pt>
                <c:pt idx="1">
                  <c:v>E2</c:v>
                </c:pt>
                <c:pt idx="2">
                  <c:v>E3</c:v>
                </c:pt>
                <c:pt idx="3">
                  <c:v>E4</c:v>
                </c:pt>
                <c:pt idx="4">
                  <c:v>E5</c:v>
                </c:pt>
                <c:pt idx="5">
                  <c:v>E6</c:v>
                </c:pt>
                <c:pt idx="6">
                  <c:v>E7</c:v>
                </c:pt>
                <c:pt idx="7">
                  <c:v>E8</c:v>
                </c:pt>
                <c:pt idx="8">
                  <c:v>E9</c:v>
                </c:pt>
                <c:pt idx="9">
                  <c:v>E10</c:v>
                </c:pt>
                <c:pt idx="10">
                  <c:v>E11</c:v>
                </c:pt>
                <c:pt idx="11">
                  <c:v>E12</c:v>
                </c:pt>
                <c:pt idx="12">
                  <c:v>E13</c:v>
                </c:pt>
                <c:pt idx="13">
                  <c:v>E14</c:v>
                </c:pt>
                <c:pt idx="14">
                  <c:v>E15</c:v>
                </c:pt>
              </c:strCache>
            </c:strRef>
          </c:cat>
          <c:val>
            <c:numRef>
              <c:f>Sheet1!$B$2:$B$16</c:f>
              <c:numCache>
                <c:formatCode>General</c:formatCode>
                <c:ptCount val="15"/>
                <c:pt idx="0">
                  <c:v>2.1</c:v>
                </c:pt>
                <c:pt idx="1">
                  <c:v>1.95</c:v>
                </c:pt>
                <c:pt idx="2">
                  <c:v>1.88</c:v>
                </c:pt>
                <c:pt idx="3">
                  <c:v>1.75</c:v>
                </c:pt>
                <c:pt idx="4">
                  <c:v>1.6</c:v>
                </c:pt>
                <c:pt idx="5">
                  <c:v>1.52</c:v>
                </c:pt>
                <c:pt idx="6">
                  <c:v>1.4</c:v>
                </c:pt>
                <c:pt idx="7">
                  <c:v>1.3</c:v>
                </c:pt>
                <c:pt idx="8">
                  <c:v>1.2</c:v>
                </c:pt>
                <c:pt idx="9">
                  <c:v>1.1</c:v>
                </c:pt>
                <c:pt idx="10">
                  <c:v>0.95</c:v>
                </c:pt>
                <c:pt idx="11">
                  <c:v>0.8</c:v>
                </c:pt>
                <c:pt idx="12">
                  <c:v>0.65</c:v>
                </c:pt>
                <c:pt idx="13">
                  <c:v>0.5</c:v>
                </c:pt>
                <c:pt idx="14">
                  <c:v>0.35</c:v>
                </c:pt>
              </c:numCache>
            </c:numRef>
          </c:val>
          <c:smooth val="1"/>
        </c:ser>
        <c:ser>
          <c:idx val="1"/>
          <c:order val="1"/>
          <c:tx>
            <c:strRef>
              <c:f>Sheet1!$C$1</c:f>
              <c:strCache>
                <c:ptCount val="1"/>
                <c:pt idx="0">
                  <c:v>Ours (Dense + HER)</c:v>
                </c:pt>
              </c:strCache>
            </c:strRef>
          </c:tx>
          <c:spPr>
            <a:ln w="31750" cap="flat" cmpd="sng" algn="ctr">
              <a:solidFill>
                <a:srgbClr val="00897B"/>
              </a:solidFill>
              <a:prstDash val="solid"/>
              <a:round/>
            </a:ln>
            <a:effectLst/>
          </c:spPr>
          <c:marker>
            <c:symbol val="circle"/>
            <c:size val="6"/>
            <c:spPr>
              <a:solidFill>
                <a:srgbClr val="00897B"/>
              </a:solidFill>
              <a:ln w="9525" cap="flat" cmpd="sng" algn="ctr">
                <a:solidFill>
                  <a:srgbClr val="00897B"/>
                </a:solidFill>
                <a:prstDash val="solid"/>
                <a:round/>
              </a:ln>
              <a:effectLst/>
            </c:spPr>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spPr>
              <a:noFill/>
              <a:ln>
                <a:noFill/>
              </a:ln>
              <a:effectLst/>
            </c:spPr>
            <c:txPr>
              <a:bodyPr rot="0" spcFirstLastPara="0" vertOverflow="ellipsis" vert="horz" wrap="square" lIns="38100" tIns="19050" rIns="38100" bIns="19050" anchor="ctr" anchorCtr="1"/>
              <a:lstStyle/>
              <a:p>
                <a:pPr>
                  <a:defRPr lang="en-GB" sz="1200" b="0" i="0" u="none" strike="noStrike" kern="1200" baseline="0">
                    <a:solidFill>
                      <a:srgbClr val="000000"/>
                    </a:solidFill>
                    <a:latin typeface="Arial" panose="020B0604020202020204"/>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Sheet1!$A$2:$A$16</c:f>
              <c:strCache>
                <c:ptCount val="15"/>
                <c:pt idx="0">
                  <c:v>E1</c:v>
                </c:pt>
                <c:pt idx="1">
                  <c:v>E2</c:v>
                </c:pt>
                <c:pt idx="2">
                  <c:v>E3</c:v>
                </c:pt>
                <c:pt idx="3">
                  <c:v>E4</c:v>
                </c:pt>
                <c:pt idx="4">
                  <c:v>E5</c:v>
                </c:pt>
                <c:pt idx="5">
                  <c:v>E6</c:v>
                </c:pt>
                <c:pt idx="6">
                  <c:v>E7</c:v>
                </c:pt>
                <c:pt idx="7">
                  <c:v>E8</c:v>
                </c:pt>
                <c:pt idx="8">
                  <c:v>E9</c:v>
                </c:pt>
                <c:pt idx="9">
                  <c:v>E10</c:v>
                </c:pt>
                <c:pt idx="10">
                  <c:v>E11</c:v>
                </c:pt>
                <c:pt idx="11">
                  <c:v>E12</c:v>
                </c:pt>
                <c:pt idx="12">
                  <c:v>E13</c:v>
                </c:pt>
                <c:pt idx="13">
                  <c:v>E14</c:v>
                </c:pt>
                <c:pt idx="14">
                  <c:v>E15</c:v>
                </c:pt>
              </c:strCache>
            </c:strRef>
          </c:cat>
          <c:val>
            <c:numRef>
              <c:f>Sheet1!$C$2:$C$16</c:f>
              <c:numCache>
                <c:formatCode>General</c:formatCode>
                <c:ptCount val="15"/>
                <c:pt idx="0">
                  <c:v>1.8</c:v>
                </c:pt>
                <c:pt idx="1">
                  <c:v>1.2</c:v>
                </c:pt>
                <c:pt idx="2">
                  <c:v>0.7</c:v>
                </c:pt>
                <c:pt idx="3">
                  <c:v>0.35</c:v>
                </c:pt>
                <c:pt idx="4">
                  <c:v>0.18</c:v>
                </c:pt>
                <c:pt idx="5">
                  <c:v>0.12</c:v>
                </c:pt>
                <c:pt idx="6">
                  <c:v>0.09</c:v>
                </c:pt>
                <c:pt idx="7">
                  <c:v>0.07</c:v>
                </c:pt>
                <c:pt idx="8">
                  <c:v>0.06</c:v>
                </c:pt>
                <c:pt idx="9">
                  <c:v>0.05</c:v>
                </c:pt>
                <c:pt idx="10">
                  <c:v>0.05</c:v>
                </c:pt>
                <c:pt idx="11">
                  <c:v>0.04</c:v>
                </c:pt>
                <c:pt idx="12">
                  <c:v>0.04</c:v>
                </c:pt>
                <c:pt idx="13">
                  <c:v>0.04</c:v>
                </c:pt>
                <c:pt idx="14">
                  <c:v>0.03</c:v>
                </c:pt>
              </c:numCache>
            </c:numRef>
          </c:val>
          <c:smooth val="1"/>
        </c:ser>
        <c:dLbls>
          <c:showLegendKey val="0"/>
          <c:showVal val="0"/>
          <c:showCatName val="0"/>
          <c:showSerName val="0"/>
          <c:showPercent val="0"/>
          <c:showBubbleSize val="0"/>
        </c:dLbls>
        <c:marker val="1"/>
        <c:smooth val="1"/>
        <c:axId val="2094734554"/>
        <c:axId val="2094734552"/>
      </c:line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607D8B"/>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E2E8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607D8B"/>
                </a:solidFill>
                <a:latin typeface="Arial" panose="020B0604020202020204"/>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GB" sz="900" b="0" i="0" u="none" strike="noStrike" kern="1200" baseline="0">
              <a:solidFill>
                <a:schemeClr val="tx1"/>
              </a:solidFill>
              <a:latin typeface="+mn-lt"/>
              <a:ea typeface="+mn-ea"/>
              <a:cs typeface="+mn-cs"/>
            </a:defRPr>
          </a:pPr>
        </a:p>
      </c:txPr>
    </c:legend>
    <c:plotVisOnly val="1"/>
    <c:dispBlanksAs val="span"/>
    <c:showDLblsOverMax val="0"/>
    <c:extLst>
      <c:ext uri="{0b15fc19-7d7d-44ad-8c2d-2c3a37ce22c3}">
        <chartProps xmlns="https://web.wps.cn/et/2018/main" chartId="{b7e9c6da-8e64-4709-abf0-8e252e7cd27e}"/>
      </c:ext>
    </c:extLst>
  </c:chart>
  <c:spPr>
    <a:solidFill>
      <a:srgbClr val="FFFFFF"/>
    </a:solidFill>
    <a:ln>
      <a:noFill/>
    </a:ln>
    <a:effectLst/>
  </c:spPr>
  <c:txPr>
    <a:bodyPr/>
    <a:lstStyle/>
    <a:p>
      <a:pPr>
        <a:defRPr lang="en-GB"/>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GB" sz="1100" b="0" i="0" u="none" strike="noStrike" kern="1200" baseline="0">
                <a:solidFill>
                  <a:srgbClr val="0D1B2A"/>
                </a:solidFill>
                <a:latin typeface="Arial" panose="020B0604020202020204"/>
                <a:ea typeface="+mn-ea"/>
                <a:cs typeface="+mn-cs"/>
              </a:defRPr>
            </a:pPr>
            <a:r>
              <a:rPr sz="1100" b="0" i="0" u="none" strike="noStrike">
                <a:solidFill>
                  <a:srgbClr val="0D1B2A"/>
                </a:solidFill>
                <a:latin typeface="Arial" panose="020B0604020202020204"/>
              </a:rPr>
              <a:t>Action Distribution (%)</a:t>
            </a:r>
            <a:endParaRPr sz="1100" b="0" i="0" u="none" strike="noStrike">
              <a:solidFill>
                <a:srgbClr val="0D1B2A"/>
              </a:solidFill>
              <a:latin typeface="Arial" panose="020B0604020202020204"/>
            </a:endParaRPr>
          </a:p>
        </c:rich>
      </c:tx>
      <c:layout/>
      <c:overlay val="0"/>
    </c:title>
    <c:autoTitleDeleted val="0"/>
    <c:plotArea>
      <c:layout/>
      <c:barChart>
        <c:barDir val="col"/>
        <c:grouping val="clustered"/>
        <c:varyColors val="0"/>
        <c:ser>
          <c:idx val="0"/>
          <c:order val="0"/>
          <c:tx>
            <c:strRef>
              <c:f>Sheet1!$B$1</c:f>
              <c:strCache>
                <c:ptCount val="1"/>
                <c:pt idx="0">
                  <c:v>Baseline Policy</c:v>
                </c:pt>
              </c:strCache>
            </c:strRef>
          </c:tx>
          <c:spPr>
            <a:solidFill>
              <a:srgbClr val="C62828"/>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GB" sz="1000" b="0" i="0" u="none" strike="noStrike" kern="1200" baseline="0">
                    <a:solidFill>
                      <a:srgbClr val="FFFFFF"/>
                    </a:solidFill>
                    <a:latin typeface="Arial" panose="020B0604020202020204"/>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Instruct</c:v>
                </c:pt>
                <c:pt idx="1">
                  <c:v>Encourage</c:v>
                </c:pt>
                <c:pt idx="2">
                  <c:v>Verify Sub-step</c:v>
                </c:pt>
                <c:pt idx="3">
                  <c:v>Ask Question</c:v>
                </c:pt>
              </c:strCache>
            </c:strRef>
          </c:cat>
          <c:val>
            <c:numRef>
              <c:f>Sheet1!$B$2:$B$5</c:f>
              <c:numCache>
                <c:formatCode>General</c:formatCode>
                <c:ptCount val="4"/>
                <c:pt idx="0">
                  <c:v>70</c:v>
                </c:pt>
                <c:pt idx="1">
                  <c:v>12</c:v>
                </c:pt>
                <c:pt idx="2">
                  <c:v>10</c:v>
                </c:pt>
                <c:pt idx="3">
                  <c:v>8</c:v>
                </c:pt>
              </c:numCache>
            </c:numRef>
          </c:val>
        </c:ser>
        <c:ser>
          <c:idx val="1"/>
          <c:order val="1"/>
          <c:tx>
            <c:strRef>
              <c:f>Sheet1!$C$1</c:f>
              <c:strCache>
                <c:ptCount val="1"/>
                <c:pt idx="0">
                  <c:v>Our 409D Policy</c:v>
                </c:pt>
              </c:strCache>
            </c:strRef>
          </c:tx>
          <c:spPr>
            <a:solidFill>
              <a:srgbClr val="00897B"/>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GB" sz="1000" b="0" i="0" u="none" strike="noStrike" kern="1200" baseline="0">
                    <a:solidFill>
                      <a:srgbClr val="FFFFFF"/>
                    </a:solidFill>
                    <a:latin typeface="Arial" panose="020B0604020202020204"/>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Instruct</c:v>
                </c:pt>
                <c:pt idx="1">
                  <c:v>Encourage</c:v>
                </c:pt>
                <c:pt idx="2">
                  <c:v>Verify Sub-step</c:v>
                </c:pt>
                <c:pt idx="3">
                  <c:v>Ask Question</c:v>
                </c:pt>
              </c:strCache>
            </c:strRef>
          </c:cat>
          <c:val>
            <c:numRef>
              <c:f>Sheet1!$C$2:$C$5</c:f>
              <c:numCache>
                <c:formatCode>General</c:formatCode>
                <c:ptCount val="4"/>
                <c:pt idx="0">
                  <c:v>25</c:v>
                </c:pt>
                <c:pt idx="1">
                  <c:v>25</c:v>
                </c:pt>
                <c:pt idx="2">
                  <c:v>30</c:v>
                </c:pt>
                <c:pt idx="3">
                  <c:v>20</c:v>
                </c:pt>
              </c:numCache>
            </c:numRef>
          </c:val>
        </c:ser>
        <c:dLbls>
          <c:showLegendKey val="0"/>
          <c:showVal val="1"/>
          <c:showCatName val="0"/>
          <c:showSerName val="0"/>
          <c:showPercent val="0"/>
          <c:showBubbleSize val="0"/>
        </c:dLbls>
        <c:gapWidth val="3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263238"/>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80"/>
        </c:scaling>
        <c:delete val="0"/>
        <c:axPos val="l"/>
        <c:majorGridlines>
          <c:spPr>
            <a:ln w="6350" cap="flat" cmpd="sng" algn="ctr">
              <a:solidFill>
                <a:srgbClr val="E2E8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607D8B"/>
                </a:solidFill>
                <a:latin typeface="Arial" panose="020B0604020202020204"/>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GB" sz="900" b="0" i="0" u="none" strike="noStrike" kern="1200" baseline="0">
              <a:solidFill>
                <a:schemeClr val="tx1"/>
              </a:solidFill>
              <a:latin typeface="+mn-lt"/>
              <a:ea typeface="+mn-ea"/>
              <a:cs typeface="+mn-cs"/>
            </a:defRPr>
          </a:pPr>
        </a:p>
      </c:txPr>
    </c:legend>
    <c:plotVisOnly val="1"/>
    <c:dispBlanksAs val="span"/>
    <c:showDLblsOverMax val="0"/>
    <c:extLst>
      <c:ext uri="{0b15fc19-7d7d-44ad-8c2d-2c3a37ce22c3}">
        <chartProps xmlns="https://web.wps.cn/et/2018/main" chartId="{12b09890-5026-44b4-90fe-c2b8cc4370db}"/>
      </c:ext>
    </c:extLst>
  </c:chart>
  <c:spPr>
    <a:solidFill>
      <a:srgbClr val="FFFFFF"/>
    </a:solidFill>
    <a:ln>
      <a:noFill/>
    </a:ln>
    <a:effectLst/>
  </c:spPr>
  <c:txPr>
    <a:bodyPr/>
    <a:lstStyle/>
    <a:p>
      <a:pPr>
        <a:defRPr lang="en-GB"/>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GB" sz="1100" b="0" i="0" u="none" strike="noStrike" kern="1200" baseline="0">
                <a:solidFill>
                  <a:srgbClr val="0D1B2A"/>
                </a:solidFill>
                <a:latin typeface="Arial" panose="020B0604020202020204"/>
                <a:ea typeface="+mn-ea"/>
                <a:cs typeface="+mn-cs"/>
              </a:defRPr>
            </a:pPr>
            <a:r>
              <a:rPr sz="1100" b="0" i="0" u="none" strike="noStrike">
                <a:solidFill>
                  <a:srgbClr val="0D1B2A"/>
                </a:solidFill>
                <a:latin typeface="Arial" panose="020B0604020202020204"/>
              </a:rPr>
              <a:t>Success Rate (%) by Domain</a:t>
            </a:r>
            <a:endParaRPr sz="1100" b="0" i="0" u="none" strike="noStrike">
              <a:solidFill>
                <a:srgbClr val="0D1B2A"/>
              </a:solidFill>
              <a:latin typeface="Arial" panose="020B0604020202020204"/>
            </a:endParaRPr>
          </a:p>
        </c:rich>
      </c:tx>
      <c:layout/>
      <c:overlay val="0"/>
    </c:title>
    <c:autoTitleDeleted val="0"/>
    <c:plotArea>
      <c:layout/>
      <c:barChart>
        <c:barDir val="col"/>
        <c:grouping val="clustered"/>
        <c:varyColors val="0"/>
        <c:ser>
          <c:idx val="0"/>
          <c:order val="0"/>
          <c:tx>
            <c:strRef>
              <c:f>Sheet1!$B$1</c:f>
              <c:strCache>
                <c:ptCount val="1"/>
                <c:pt idx="0">
                  <c:v>Paper (Baseline CQL)</c:v>
                </c:pt>
              </c:strCache>
            </c:strRef>
          </c:tx>
          <c:spPr>
            <a:solidFill>
              <a:srgbClr val="EF5350"/>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GB" sz="1000" b="0" i="0" u="none" strike="noStrike" kern="1200" baseline="0">
                    <a:solidFill>
                      <a:srgbClr val="FFFFFF"/>
                    </a:solidFill>
                    <a:latin typeface="Arial" panose="020B0604020202020204"/>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Mathematics
(GSM8K)</c:v>
                </c:pt>
                <c:pt idx="1">
                  <c:v>Physics
(Kinematics)</c:v>
                </c:pt>
                <c:pt idx="2">
                  <c:v>History
(US History)</c:v>
                </c:pt>
                <c:pt idx="3">
                  <c:v>Programming
(Python)</c:v>
                </c:pt>
              </c:strCache>
            </c:strRef>
          </c:cat>
          <c:val>
            <c:numRef>
              <c:f>Sheet1!$B$2:$B$5</c:f>
              <c:numCache>
                <c:formatCode>General</c:formatCode>
                <c:ptCount val="4"/>
                <c:pt idx="0">
                  <c:v>60.33</c:v>
                </c:pt>
                <c:pt idx="1">
                  <c:v>26.2</c:v>
                </c:pt>
                <c:pt idx="2">
                  <c:v>25.8</c:v>
                </c:pt>
                <c:pt idx="3">
                  <c:v>27.48</c:v>
                </c:pt>
              </c:numCache>
            </c:numRef>
          </c:val>
        </c:ser>
        <c:ser>
          <c:idx val="1"/>
          <c:order val="1"/>
          <c:tx>
            <c:strRef>
              <c:f>Sheet1!$C$1</c:f>
              <c:strCache>
                <c:ptCount val="1"/>
                <c:pt idx="0">
                  <c:v>Ours (409D Context-Aware)</c:v>
                </c:pt>
              </c:strCache>
            </c:strRef>
          </c:tx>
          <c:spPr>
            <a:solidFill>
              <a:srgbClr val="00897B"/>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GB" sz="1000" b="0" i="0" u="none" strike="noStrike" kern="1200" baseline="0">
                    <a:solidFill>
                      <a:srgbClr val="FFFFFF"/>
                    </a:solidFill>
                    <a:latin typeface="Arial" panose="020B0604020202020204"/>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Mathematics
(GSM8K)</c:v>
                </c:pt>
                <c:pt idx="1">
                  <c:v>Physics
(Kinematics)</c:v>
                </c:pt>
                <c:pt idx="2">
                  <c:v>History
(US History)</c:v>
                </c:pt>
                <c:pt idx="3">
                  <c:v>Programming
(Python)</c:v>
                </c:pt>
              </c:strCache>
            </c:strRef>
          </c:cat>
          <c:val>
            <c:numRef>
              <c:f>Sheet1!$C$2:$C$5</c:f>
              <c:numCache>
                <c:formatCode>General</c:formatCode>
                <c:ptCount val="4"/>
                <c:pt idx="0">
                  <c:v>64.12</c:v>
                </c:pt>
                <c:pt idx="1">
                  <c:v>62.8</c:v>
                </c:pt>
                <c:pt idx="2">
                  <c:v>62.6</c:v>
                </c:pt>
                <c:pt idx="3">
                  <c:v>61.9</c:v>
                </c:pt>
              </c:numCache>
            </c:numRef>
          </c:val>
        </c:ser>
        <c:dLbls>
          <c:showLegendKey val="0"/>
          <c:showVal val="1"/>
          <c:showCatName val="0"/>
          <c:showSerName val="0"/>
          <c:showPercent val="0"/>
          <c:showBubbleSize val="0"/>
        </c:dLbls>
        <c:gapWidth val="3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263238"/>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80"/>
          <c:min val="0"/>
        </c:scaling>
        <c:delete val="0"/>
        <c:axPos val="l"/>
        <c:majorGridlines>
          <c:spPr>
            <a:ln w="6350" cap="flat" cmpd="sng" algn="ctr">
              <a:solidFill>
                <a:srgbClr val="E2E8F0"/>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GB" sz="1200" b="0" i="0" u="none" strike="noStrike" kern="1200" baseline="0">
                <a:solidFill>
                  <a:srgbClr val="607D8B"/>
                </a:solidFill>
                <a:latin typeface="Arial" panose="020B0604020202020204"/>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GB" sz="900" b="0" i="0" u="none" strike="noStrike" kern="1200" baseline="0">
              <a:solidFill>
                <a:schemeClr val="tx1"/>
              </a:solidFill>
              <a:latin typeface="+mn-lt"/>
              <a:ea typeface="+mn-ea"/>
              <a:cs typeface="+mn-cs"/>
            </a:defRPr>
          </a:pPr>
        </a:p>
      </c:txPr>
    </c:legend>
    <c:plotVisOnly val="1"/>
    <c:dispBlanksAs val="span"/>
    <c:showDLblsOverMax val="0"/>
    <c:extLst>
      <c:ext uri="{0b15fc19-7d7d-44ad-8c2d-2c3a37ce22c3}">
        <chartProps xmlns="https://web.wps.cn/et/2018/main" chartId="{f900761e-395f-43e1-9678-4e9b247930f6}"/>
      </c:ext>
    </c:extLst>
  </c:chart>
  <c:spPr>
    <a:solidFill>
      <a:srgbClr val="FFFFFF"/>
    </a:solidFill>
    <a:ln>
      <a:noFill/>
    </a:ln>
    <a:effectLst/>
  </c:spPr>
  <c:txPr>
    <a:bodyPr/>
    <a:lstStyle/>
    <a:p>
      <a:pPr>
        <a:defRPr lang="en-GB"/>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we are presenting our work on using offline Reinforcement Learning to build intelligent AI tutors that can guide students across any academic domain — not just mathematics.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can see in this graph, standard LLMs like ChatGPT give direct answers 95% of the time. In contrast, expert human tutors use step-by-step guidance 85% of the time, adaptive encouragement 80%, and Socratic questioning 90%. Our goal was to close this gap using Reinforcement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panel shows three core problems. On the right graph: the red line is standard RLHF — it gets maximum reward at Turn 1 then drops to zero. Our Offline RL approach (green) accumulates reward gradually, reaching maximum at Turn 10 when the student has truly learned. This is the fundamental shift we're 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gap we identified in the literature is that all previous approaches, including the Stanford paper's CQL, used a problem-agnostic state representation. The 25-dimensional state vector only captured behavioral signals like 'Is the student frustrated?' but had zero awareness of whether the student was solving algebra or geometry. This is the generalizability crisis we set out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replaced the paper's expensive Claude 3 Sonnet API with the free Groq-hosted Llama-3.1-8b-instant model. This allowed us to generate data at zero cost. The CoMTA dataset was integrated via few-shot prompting — we injected 3 realistic dialogue examples showing students getting distracted mid-conversation, asking irrelevant questions, and making common mathematical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pie chart shows the composition of the 25-dimensional state vector. The largest portion — 28% — captures emotional states like frustration and lack of confidence. 24% tracks engagement signals like whether the student is on-topic. 16% analyzes content. This vector is the backbone of our entire RL pipeline — it is what allows us to apply classical RL algorithms to natural language tutoring.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captures the four core innovations. Most importantly, the 409D vector: the original paper operated entirely in a 25-dimensional behavioral space with zero semantic awareness. We add a 384-dimensional semantic context vector produced by SentenceTransformer, making our state 16× more expressive. The red bars in the original approach are behaviorally identical across all subjects. Our green bars distinguish algebra from calculus from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mathematical insight here is the CQL loss function. Standard Q-learning maximizes Q(s,a) for all actions. CQL adds a penalty term that actively pushes DOWN the Q-values of actions not present in the offline dataset. This conservatism prevents the policy from choosing dangerous untested actions during deployment. On the right, you can see our augmentation pipeline — we use an ExtraTreesRegressor ensemble to predict optimistic Q-values, then generate synthetic trajectories to expand our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bar chart is the direct replication of the paper's Figure 3. Simple prompting achieves only 36%. Behavioral cloning — which just imitates expert actions — reaches 42.5%. Base CQL hits 48.67%. And finally, our full pipeline with optimism-guided data augmentation achieves 60.33%. The 67.58% relative improvement over prompt engineering matches and exceeds the paper's claimed ~50%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critical observations here. First, the left graph: the red line is the baseline's Q-value loss — it takes over 15 epochs to start decreasing. Our green line with Dense Shaping and HER drops to near-zero within 5 epochs — a 3× speedup. Second, the right graph: the baseline model spams the 'Instruct' action 70% of the time — it's literally spoon-feeding answers. Our model distributes its actions much more evenly, with 'Verify Sub-step' being most frequent at 30%. This is exactly how a real human teacher behaves.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our entire presentation. For Mathematics, both models perform similarly — around 60-64%. But the moment we switch to Physics, History, or Programming, the original paper's model collapses to the 24-27% range — shown by the red bars. Our green bars maintain a steady 62-63% across ALL four domains. The 409-dimensional context vector, with its semantic problem embedding, is exactly what enabled this breakthrough.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theoretical insight is that our modifications transform the RL problem from a behavior-only MDP to a context-aware MDP. In the original formulation, two completely different problems — say, basic addition and differential calculus — would produce identical state representations if the student exhibited the same emotional behavior. Our 384D semantic embedding breaks this degeneracy by encoding the mathematical or logical structure of the problem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transparent about our limitations. The biggest constraint is data scale — generating 3,000 high-quality conversations requires significant API bandwidth. Our approach of using the free Groq tier with Llama-3 proves the architecture works, but scaling to production would require either a dedicated API budget or a locally hosted open-source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exciting implication of our work is universality. Because the SentenceTransformer encodes ANY text into the same 384-dimensional space, our pipeline doesn't care whether the input is a math equation, a historical fact, or a Python code snippet. This means a single trained CQL policy could theoretically tutor across the entire academic curriculum.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our entire journey: we started by replicating the Stanford baseline. We then diagnosed its fatal generalizability flaw. And we engineered a solution using semantic embeddings, dense rewards, hindsight replay, and epsilon-greedy exploration. Our 409D model completely outperforms the original across every dimension — success rate, data efficiency, convergence speed, action diversity, and domain generality. Thank you for your time, and we are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notesSlide" Target="../notesSlides/notesSlide3.xml"/><Relationship Id="rId14" Type="http://schemas.openxmlformats.org/officeDocument/2006/relationships/slideLayout" Target="../slideLayouts/slideLayout1.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chart" Target="../charts/char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chart" Target="../charts/char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chart" Target="../charts/chart5.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chart" Target="../charts/chart7.xml"/><Relationship Id="rId1" Type="http://schemas.openxmlformats.org/officeDocument/2006/relationships/chart" Target="../charts/chart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chart" Target="../charts/char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1565C0"/>
          </a:solidFill>
        </p:spPr>
      </p:sp>
      <p:sp>
        <p:nvSpPr>
          <p:cNvPr id="3" name="Shape 1"/>
          <p:cNvSpPr/>
          <p:nvPr/>
        </p:nvSpPr>
        <p:spPr>
          <a:xfrm>
            <a:off x="228600" y="0"/>
            <a:ext cx="73152" cy="5143500"/>
          </a:xfrm>
          <a:prstGeom prst="rect">
            <a:avLst/>
          </a:prstGeom>
          <a:solidFill>
            <a:srgbClr val="00897B"/>
          </a:solidFill>
        </p:spPr>
      </p:sp>
      <p:sp>
        <p:nvSpPr>
          <p:cNvPr id="4" name="Shape 2"/>
          <p:cNvSpPr/>
          <p:nvPr/>
        </p:nvSpPr>
        <p:spPr>
          <a:xfrm>
            <a:off x="0" y="4389120"/>
            <a:ext cx="9144000" cy="754380"/>
          </a:xfrm>
          <a:prstGeom prst="rect">
            <a:avLst/>
          </a:prstGeom>
          <a:solidFill>
            <a:srgbClr val="0A1628"/>
          </a:solidFill>
        </p:spPr>
      </p:sp>
      <p:sp>
        <p:nvSpPr>
          <p:cNvPr id="5" name="Shape 3"/>
          <p:cNvSpPr/>
          <p:nvPr/>
        </p:nvSpPr>
        <p:spPr>
          <a:xfrm>
            <a:off x="6858000" y="-457200"/>
            <a:ext cx="3200400" cy="3200400"/>
          </a:xfrm>
          <a:prstGeom prst="ellipse">
            <a:avLst/>
          </a:prstGeom>
          <a:solidFill>
            <a:srgbClr val="1565C0">
              <a:alpha val="15000"/>
            </a:srgbClr>
          </a:solidFill>
          <a:ln w="12700">
            <a:solidFill>
              <a:srgbClr val="1565C0">
                <a:alpha val="40000"/>
              </a:srgbClr>
            </a:solidFill>
            <a:prstDash val="solid"/>
          </a:ln>
        </p:spPr>
      </p:sp>
      <p:sp>
        <p:nvSpPr>
          <p:cNvPr id="6" name="Shape 4"/>
          <p:cNvSpPr/>
          <p:nvPr/>
        </p:nvSpPr>
        <p:spPr>
          <a:xfrm>
            <a:off x="7772400" y="457200"/>
            <a:ext cx="1828800" cy="1828800"/>
          </a:xfrm>
          <a:prstGeom prst="ellipse">
            <a:avLst/>
          </a:prstGeom>
          <a:solidFill>
            <a:srgbClr val="00897B">
              <a:alpha val="20000"/>
            </a:srgbClr>
          </a:solidFill>
          <a:ln w="12700">
            <a:solidFill>
              <a:srgbClr val="00897B"/>
            </a:solidFill>
            <a:prstDash val="solid"/>
          </a:ln>
        </p:spPr>
      </p:sp>
      <p:sp>
        <p:nvSpPr>
          <p:cNvPr id="7" name="Text 5"/>
          <p:cNvSpPr/>
          <p:nvPr/>
        </p:nvSpPr>
        <p:spPr>
          <a:xfrm>
            <a:off x="548640" y="731520"/>
            <a:ext cx="8046720" cy="640080"/>
          </a:xfrm>
          <a:prstGeom prst="rect">
            <a:avLst/>
          </a:prstGeom>
          <a:noFill/>
        </p:spPr>
        <p:txBody>
          <a:bodyPr wrap="square" rtlCol="0" anchor="ctr"/>
          <a:lstStyle/>
          <a:p>
            <a:pPr marL="0" indent="0">
              <a:buNone/>
            </a:pPr>
            <a:r>
              <a:rPr lang="en-US" sz="3200" b="1" dirty="0">
                <a:solidFill>
                  <a:srgbClr val="FFFFFF"/>
                </a:solidFill>
                <a:latin typeface="Calibri" panose="020F0502020204030204" pitchFamily="34" charset="0"/>
                <a:ea typeface="Calibri" panose="020F0502020204030204" pitchFamily="34" charset="-122"/>
                <a:cs typeface="Calibri" panose="020F0502020204030204" pitchFamily="34" charset="-120"/>
              </a:rPr>
              <a:t>Efficient Reinforcement Learning</a:t>
            </a:r>
            <a:endParaRPr lang="en-US" sz="3200" dirty="0"/>
          </a:p>
        </p:txBody>
      </p:sp>
      <p:sp>
        <p:nvSpPr>
          <p:cNvPr id="8" name="Text 6"/>
          <p:cNvSpPr/>
          <p:nvPr/>
        </p:nvSpPr>
        <p:spPr>
          <a:xfrm>
            <a:off x="548640" y="1325880"/>
            <a:ext cx="8046720" cy="594360"/>
          </a:xfrm>
          <a:prstGeom prst="rect">
            <a:avLst/>
          </a:prstGeom>
          <a:noFill/>
        </p:spPr>
        <p:txBody>
          <a:bodyPr wrap="square" rtlCol="0" anchor="ctr"/>
          <a:lstStyle/>
          <a:p>
            <a:pPr marL="0" indent="0">
              <a:buNone/>
            </a:pPr>
            <a:r>
              <a:rPr lang="en-US" sz="3000" b="1" dirty="0">
                <a:solidFill>
                  <a:srgbClr val="64B5F6"/>
                </a:solidFill>
                <a:latin typeface="Calibri" panose="020F0502020204030204" pitchFamily="34" charset="0"/>
                <a:ea typeface="Calibri" panose="020F0502020204030204" pitchFamily="34" charset="-122"/>
                <a:cs typeface="Calibri" panose="020F0502020204030204" pitchFamily="34" charset="-120"/>
              </a:rPr>
              <a:t>for Omni-Domain LLM Tutors</a:t>
            </a:r>
            <a:endParaRPr lang="en-US" sz="3000" dirty="0"/>
          </a:p>
        </p:txBody>
      </p:sp>
      <p:sp>
        <p:nvSpPr>
          <p:cNvPr id="9" name="Shape 7"/>
          <p:cNvSpPr/>
          <p:nvPr/>
        </p:nvSpPr>
        <p:spPr>
          <a:xfrm>
            <a:off x="548640" y="2029968"/>
            <a:ext cx="5029200" cy="36576"/>
          </a:xfrm>
          <a:prstGeom prst="rect">
            <a:avLst/>
          </a:prstGeom>
          <a:solidFill>
            <a:srgbClr val="00897B"/>
          </a:solidFill>
        </p:spPr>
      </p:sp>
      <p:sp>
        <p:nvSpPr>
          <p:cNvPr id="10" name="Text 8"/>
          <p:cNvSpPr/>
          <p:nvPr/>
        </p:nvSpPr>
        <p:spPr>
          <a:xfrm>
            <a:off x="548640" y="2148840"/>
            <a:ext cx="8046720" cy="457200"/>
          </a:xfrm>
          <a:prstGeom prst="rect">
            <a:avLst/>
          </a:prstGeom>
          <a:noFill/>
        </p:spPr>
        <p:txBody>
          <a:bodyPr wrap="square" rtlCol="0" anchor="ctr"/>
          <a:lstStyle/>
          <a:p>
            <a:pPr marL="0" indent="0">
              <a:buNone/>
            </a:pPr>
            <a:r>
              <a:rPr lang="en-US" sz="1400" i="1" dirty="0">
                <a:solidFill>
                  <a:srgbClr val="B0BEC5"/>
                </a:solidFill>
                <a:latin typeface="Calibri" panose="020F0502020204030204" pitchFamily="34" charset="0"/>
                <a:ea typeface="Calibri" panose="020F0502020204030204" pitchFamily="34" charset="-122"/>
                <a:cs typeface="Calibri" panose="020F0502020204030204" pitchFamily="34" charset="-120"/>
              </a:rPr>
              <a:t>Replicating, Diagnosing, and Engineering Beyond the Stanford Baseline</a:t>
            </a:r>
            <a:endParaRPr lang="en-US" sz="1400" dirty="0"/>
          </a:p>
        </p:txBody>
      </p:sp>
      <p:sp>
        <p:nvSpPr>
          <p:cNvPr id="11" name="Text 9"/>
          <p:cNvSpPr/>
          <p:nvPr/>
        </p:nvSpPr>
        <p:spPr>
          <a:xfrm>
            <a:off x="548640" y="2788920"/>
            <a:ext cx="8046720" cy="777240"/>
          </a:xfrm>
          <a:prstGeom prst="rect">
            <a:avLst/>
          </a:prstGeom>
          <a:noFill/>
        </p:spPr>
        <p:txBody>
          <a:bodyPr wrap="square" rtlCol="0" anchor="ctr"/>
          <a:lstStyle/>
          <a:p>
            <a:pPr marL="0" indent="0">
              <a:buNone/>
            </a:pPr>
            <a:r>
              <a:rPr lang="en-US" sz="1500" b="1" dirty="0">
                <a:solidFill>
                  <a:srgbClr val="CFD8DC"/>
                </a:solidFill>
                <a:latin typeface="Calibri" panose="020F0502020204030204" pitchFamily="34" charset="0"/>
                <a:ea typeface="Calibri" panose="020F0502020204030204" pitchFamily="34" charset="-122"/>
                <a:cs typeface="Calibri" panose="020F0502020204030204" pitchFamily="34" charset="-120"/>
              </a:rPr>
              <a:t>Divyansh</a:t>
            </a:r>
            <a:r>
              <a:rPr lang="en-IN" altLang="en-US" sz="1500" b="1" dirty="0">
                <a:solidFill>
                  <a:srgbClr val="CFD8DC"/>
                </a:solidFill>
                <a:latin typeface="Calibri" panose="020F0502020204030204" pitchFamily="34" charset="0"/>
                <a:ea typeface="Calibri" panose="020F0502020204030204" pitchFamily="34" charset="-122"/>
                <a:cs typeface="Calibri" panose="020F0502020204030204" pitchFamily="34" charset="-120"/>
              </a:rPr>
              <a:t> (U23AI082)</a:t>
            </a:r>
            <a:r>
              <a:rPr lang="en-US" sz="1500" b="1" dirty="0">
                <a:solidFill>
                  <a:srgbClr val="CFD8DC"/>
                </a:solidFill>
                <a:latin typeface="Calibri" panose="020F0502020204030204" pitchFamily="34" charset="0"/>
                <a:ea typeface="Calibri" panose="020F0502020204030204" pitchFamily="34" charset="-122"/>
                <a:cs typeface="Calibri" panose="020F0502020204030204" pitchFamily="34" charset="-120"/>
              </a:rPr>
              <a:t>  •  Tanu</a:t>
            </a:r>
            <a:r>
              <a:rPr lang="en-IN" altLang="en-US" sz="1500" b="1" dirty="0">
                <a:solidFill>
                  <a:srgbClr val="CFD8DC"/>
                </a:solidFill>
                <a:latin typeface="Calibri" panose="020F0502020204030204" pitchFamily="34" charset="0"/>
                <a:ea typeface="Calibri" panose="020F0502020204030204" pitchFamily="34" charset="-122"/>
                <a:cs typeface="Calibri" panose="020F0502020204030204" pitchFamily="34" charset="-120"/>
              </a:rPr>
              <a:t> (U23AI076)</a:t>
            </a:r>
            <a:r>
              <a:rPr lang="en-US" sz="1500" b="1" dirty="0">
                <a:solidFill>
                  <a:srgbClr val="CFD8DC"/>
                </a:solidFill>
                <a:latin typeface="Calibri" panose="020F0502020204030204" pitchFamily="34" charset="0"/>
                <a:ea typeface="Calibri" panose="020F0502020204030204" pitchFamily="34" charset="-122"/>
                <a:cs typeface="Calibri" panose="020F0502020204030204" pitchFamily="34" charset="-120"/>
              </a:rPr>
              <a:t>  •  Hanmanth</a:t>
            </a:r>
            <a:r>
              <a:rPr lang="en-IN" altLang="en-US" sz="1500" b="1" dirty="0">
                <a:solidFill>
                  <a:srgbClr val="CFD8DC"/>
                </a:solidFill>
                <a:latin typeface="Calibri" panose="020F0502020204030204" pitchFamily="34" charset="0"/>
                <a:ea typeface="Calibri" panose="020F0502020204030204" pitchFamily="34" charset="-122"/>
                <a:cs typeface="Calibri" panose="020F0502020204030204" pitchFamily="34" charset="-120"/>
              </a:rPr>
              <a:t>(U23AI098)</a:t>
            </a:r>
            <a:endParaRPr lang="en-US" sz="1500" dirty="0"/>
          </a:p>
          <a:p>
            <a:pPr marL="0" indent="0">
              <a:buNone/>
            </a:pPr>
            <a:r>
              <a:rPr lang="en-IN" altLang="en-US" sz="1500" dirty="0">
                <a:solidFill>
                  <a:srgbClr val="CFD8DC"/>
                </a:solidFill>
                <a:latin typeface="Calibri" panose="020F0502020204030204" pitchFamily="34" charset="0"/>
                <a:ea typeface="Calibri" panose="020F0502020204030204" pitchFamily="34" charset="-122"/>
                <a:cs typeface="Calibri" panose="020F0502020204030204" pitchFamily="34" charset="-120"/>
              </a:rPr>
              <a:t>SVNIT</a:t>
            </a:r>
            <a:r>
              <a:rPr lang="en-US" sz="1500" dirty="0">
                <a:solidFill>
                  <a:srgbClr val="CFD8DC"/>
                </a:solidFill>
                <a:latin typeface="Calibri" panose="020F0502020204030204" pitchFamily="34" charset="0"/>
                <a:ea typeface="Calibri" panose="020F0502020204030204" pitchFamily="34" charset="-122"/>
                <a:cs typeface="Calibri" panose="020F0502020204030204" pitchFamily="34" charset="-120"/>
              </a:rPr>
              <a:t>  |  April 2026</a:t>
            </a:r>
            <a:endParaRPr lang="en-US" sz="1500" dirty="0"/>
          </a:p>
        </p:txBody>
      </p:sp>
      <p:sp>
        <p:nvSpPr>
          <p:cNvPr id="12" name="Shape 10"/>
          <p:cNvSpPr/>
          <p:nvPr/>
        </p:nvSpPr>
        <p:spPr>
          <a:xfrm>
            <a:off x="548640" y="3749040"/>
            <a:ext cx="1920240" cy="347472"/>
          </a:xfrm>
          <a:prstGeom prst="rect">
            <a:avLst/>
          </a:prstGeom>
          <a:solidFill>
            <a:srgbClr val="00897B">
              <a:alpha val="70000"/>
            </a:srgbClr>
          </a:solidFill>
          <a:ln w="12700">
            <a:solidFill>
              <a:srgbClr val="00897B"/>
            </a:solidFill>
            <a:prstDash val="solid"/>
          </a:ln>
          <a:effectLst>
            <a:outerShdw blurRad="101600" dist="38100" dir="8100000" algn="bl" rotWithShape="0">
              <a:srgbClr val="000000">
                <a:alpha val="10000"/>
              </a:srgbClr>
            </a:outerShdw>
          </a:effectLst>
        </p:spPr>
      </p:sp>
      <p:sp>
        <p:nvSpPr>
          <p:cNvPr id="13" name="Text 11"/>
          <p:cNvSpPr/>
          <p:nvPr/>
        </p:nvSpPr>
        <p:spPr>
          <a:xfrm>
            <a:off x="548640" y="3749040"/>
            <a:ext cx="1920240" cy="347472"/>
          </a:xfrm>
          <a:prstGeom prst="rect">
            <a:avLst/>
          </a:prstGeom>
          <a:noFill/>
        </p:spPr>
        <p:txBody>
          <a:bodyPr wrap="square" rtlCol="0" anchor="ctr"/>
          <a:lstStyle/>
          <a:p>
            <a:pPr marL="0" indent="0" algn="ctr">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Offline RL</a:t>
            </a:r>
            <a:endParaRPr lang="en-US" sz="1000" dirty="0"/>
          </a:p>
        </p:txBody>
      </p:sp>
      <p:sp>
        <p:nvSpPr>
          <p:cNvPr id="14" name="Shape 12"/>
          <p:cNvSpPr/>
          <p:nvPr/>
        </p:nvSpPr>
        <p:spPr>
          <a:xfrm>
            <a:off x="2651760" y="3749040"/>
            <a:ext cx="1920240" cy="347472"/>
          </a:xfrm>
          <a:prstGeom prst="rect">
            <a:avLst/>
          </a:prstGeom>
          <a:solidFill>
            <a:srgbClr val="00897B">
              <a:alpha val="70000"/>
            </a:srgbClr>
          </a:solidFill>
          <a:ln w="12700">
            <a:solidFill>
              <a:srgbClr val="00897B"/>
            </a:solidFill>
            <a:prstDash val="solid"/>
          </a:ln>
          <a:effectLst>
            <a:outerShdw blurRad="101600" dist="38100" dir="8100000" algn="bl" rotWithShape="0">
              <a:srgbClr val="000000">
                <a:alpha val="10000"/>
              </a:srgbClr>
            </a:outerShdw>
          </a:effectLst>
        </p:spPr>
      </p:sp>
      <p:sp>
        <p:nvSpPr>
          <p:cNvPr id="15" name="Text 13"/>
          <p:cNvSpPr/>
          <p:nvPr/>
        </p:nvSpPr>
        <p:spPr>
          <a:xfrm>
            <a:off x="2651760" y="3749040"/>
            <a:ext cx="1920240" cy="347472"/>
          </a:xfrm>
          <a:prstGeom prst="rect">
            <a:avLst/>
          </a:prstGeom>
          <a:noFill/>
        </p:spPr>
        <p:txBody>
          <a:bodyPr wrap="square" rtlCol="0" anchor="ctr"/>
          <a:lstStyle/>
          <a:p>
            <a:pPr marL="0" indent="0" algn="ctr">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CQL</a:t>
            </a:r>
            <a:endParaRPr lang="en-US" sz="1000" dirty="0"/>
          </a:p>
        </p:txBody>
      </p:sp>
      <p:sp>
        <p:nvSpPr>
          <p:cNvPr id="16" name="Shape 14"/>
          <p:cNvSpPr/>
          <p:nvPr/>
        </p:nvSpPr>
        <p:spPr>
          <a:xfrm>
            <a:off x="4754880" y="3749040"/>
            <a:ext cx="1920240" cy="347472"/>
          </a:xfrm>
          <a:prstGeom prst="rect">
            <a:avLst/>
          </a:prstGeom>
          <a:solidFill>
            <a:srgbClr val="00897B">
              <a:alpha val="70000"/>
            </a:srgbClr>
          </a:solidFill>
          <a:ln w="12700">
            <a:solidFill>
              <a:srgbClr val="00897B"/>
            </a:solidFill>
            <a:prstDash val="solid"/>
          </a:ln>
          <a:effectLst>
            <a:outerShdw blurRad="101600" dist="38100" dir="8100000" algn="bl" rotWithShape="0">
              <a:srgbClr val="000000">
                <a:alpha val="10000"/>
              </a:srgbClr>
            </a:outerShdw>
          </a:effectLst>
        </p:spPr>
      </p:sp>
      <p:sp>
        <p:nvSpPr>
          <p:cNvPr id="17" name="Text 15"/>
          <p:cNvSpPr/>
          <p:nvPr/>
        </p:nvSpPr>
        <p:spPr>
          <a:xfrm>
            <a:off x="4754880" y="3749040"/>
            <a:ext cx="1920240" cy="347472"/>
          </a:xfrm>
          <a:prstGeom prst="rect">
            <a:avLst/>
          </a:prstGeom>
          <a:noFill/>
        </p:spPr>
        <p:txBody>
          <a:bodyPr wrap="square" rtlCol="0" anchor="ctr"/>
          <a:lstStyle/>
          <a:p>
            <a:pPr marL="0" indent="0" algn="ctr">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LLM Tutoring</a:t>
            </a:r>
            <a:endParaRPr lang="en-US" sz="1000" dirty="0"/>
          </a:p>
        </p:txBody>
      </p:sp>
      <p:sp>
        <p:nvSpPr>
          <p:cNvPr id="18" name="Shape 16"/>
          <p:cNvSpPr/>
          <p:nvPr/>
        </p:nvSpPr>
        <p:spPr>
          <a:xfrm>
            <a:off x="6858000" y="3749040"/>
            <a:ext cx="1920240" cy="347472"/>
          </a:xfrm>
          <a:prstGeom prst="rect">
            <a:avLst/>
          </a:prstGeom>
          <a:solidFill>
            <a:srgbClr val="00897B">
              <a:alpha val="70000"/>
            </a:srgbClr>
          </a:solidFill>
          <a:ln w="12700">
            <a:solidFill>
              <a:srgbClr val="00897B"/>
            </a:solidFill>
            <a:prstDash val="solid"/>
          </a:ln>
          <a:effectLst>
            <a:outerShdw blurRad="101600" dist="38100" dir="8100000" algn="bl" rotWithShape="0">
              <a:srgbClr val="000000">
                <a:alpha val="10000"/>
              </a:srgbClr>
            </a:outerShdw>
          </a:effectLst>
        </p:spPr>
      </p:sp>
      <p:sp>
        <p:nvSpPr>
          <p:cNvPr id="19" name="Text 17"/>
          <p:cNvSpPr/>
          <p:nvPr/>
        </p:nvSpPr>
        <p:spPr>
          <a:xfrm>
            <a:off x="6858000" y="3749040"/>
            <a:ext cx="1920240" cy="347472"/>
          </a:xfrm>
          <a:prstGeom prst="rect">
            <a:avLst/>
          </a:prstGeom>
          <a:noFill/>
        </p:spPr>
        <p:txBody>
          <a:bodyPr wrap="square" rtlCol="0" anchor="ctr"/>
          <a:lstStyle/>
          <a:p>
            <a:pPr marL="0" indent="0" algn="ctr">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Cross-Domain AI</a:t>
            </a:r>
            <a:endParaRPr lang="en-US" sz="1000" dirty="0"/>
          </a:p>
        </p:txBody>
      </p:sp>
      <p:sp>
        <p:nvSpPr>
          <p:cNvPr id="20" name="Text 18"/>
          <p:cNvSpPr/>
          <p:nvPr/>
        </p:nvSpPr>
        <p:spPr>
          <a:xfrm>
            <a:off x="548640" y="4480560"/>
            <a:ext cx="7315200" cy="274320"/>
          </a:xfrm>
          <a:prstGeom prst="rect">
            <a:avLst/>
          </a:prstGeom>
          <a:noFill/>
        </p:spPr>
        <p:txBody>
          <a:bodyPr wrap="square" rtlCol="0" anchor="ctr"/>
          <a:lstStyle/>
          <a:p>
            <a:pPr marL="0" indent="0">
              <a:buNone/>
            </a:pPr>
            <a:r>
              <a:rPr lang="en-US" sz="1000" dirty="0">
                <a:solidFill>
                  <a:srgbClr val="546E7A"/>
                </a:solidFill>
                <a:latin typeface="Calibri" panose="020F0502020204030204" pitchFamily="34" charset="0"/>
                <a:ea typeface="Calibri" panose="020F0502020204030204" pitchFamily="34" charset="-122"/>
                <a:cs typeface="Calibri" panose="020F0502020204030204" pitchFamily="34" charset="-120"/>
              </a:rPr>
              <a:t>Stanford CS 2024 — Replication + Extension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p:spPr>
      </p:sp>
      <p:sp>
        <p:nvSpPr>
          <p:cNvPr id="3" name="Text 1"/>
          <p:cNvSpPr/>
          <p:nvPr/>
        </p:nvSpPr>
        <p:spPr>
          <a:xfrm>
            <a:off x="274320" y="0"/>
            <a:ext cx="8595360" cy="68580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The Global Tutoring Crisis</a:t>
            </a:r>
            <a:endParaRPr lang="en-US" sz="2200" dirty="0"/>
          </a:p>
        </p:txBody>
      </p:sp>
      <p:sp>
        <p:nvSpPr>
          <p:cNvPr id="4" name="Shape 2"/>
          <p:cNvSpPr/>
          <p:nvPr/>
        </p:nvSpPr>
        <p:spPr>
          <a:xfrm>
            <a:off x="274320" y="868680"/>
            <a:ext cx="5029200" cy="100584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5" name="Shape 3"/>
          <p:cNvSpPr/>
          <p:nvPr/>
        </p:nvSpPr>
        <p:spPr>
          <a:xfrm>
            <a:off x="274320" y="868680"/>
            <a:ext cx="73152" cy="1005840"/>
          </a:xfrm>
          <a:prstGeom prst="rect">
            <a:avLst/>
          </a:prstGeom>
          <a:solidFill>
            <a:srgbClr val="1565C0"/>
          </a:solidFill>
        </p:spPr>
      </p:sp>
      <p:sp>
        <p:nvSpPr>
          <p:cNvPr id="6" name="Text 4"/>
          <p:cNvSpPr/>
          <p:nvPr/>
        </p:nvSpPr>
        <p:spPr>
          <a:xfrm>
            <a:off x="502920" y="868680"/>
            <a:ext cx="4663440" cy="1005840"/>
          </a:xfrm>
          <a:prstGeom prst="rect">
            <a:avLst/>
          </a:prstGeom>
          <a:noFill/>
        </p:spPr>
        <p:txBody>
          <a:bodyPr wrap="square" rtlCol="0" anchor="ctr"/>
          <a:lstStyle/>
          <a:p>
            <a:pPr marL="0" indent="0">
              <a:buNone/>
            </a:pPr>
            <a:r>
              <a:rPr lang="en-US" sz="1200" dirty="0">
                <a:solidFill>
                  <a:srgbClr val="263238"/>
                </a:solidFill>
                <a:latin typeface="Calibri" panose="020F0502020204030204" pitchFamily="34" charset="0"/>
                <a:ea typeface="Calibri" panose="020F0502020204030204" pitchFamily="34" charset="-122"/>
                <a:cs typeface="Calibri" panose="020F0502020204030204" pitchFamily="34" charset="-120"/>
              </a:rPr>
              <a:t>1-on-1 human tutoring improves student performance by 2σ (Bloom's 2-Sigma Problem, 1984) — but is inaccessible to 90% of students worldwide due to cost.</a:t>
            </a:r>
            <a:endParaRPr lang="en-US" sz="1200" dirty="0"/>
          </a:p>
        </p:txBody>
      </p:sp>
      <p:sp>
        <p:nvSpPr>
          <p:cNvPr id="7" name="Shape 5"/>
          <p:cNvSpPr/>
          <p:nvPr/>
        </p:nvSpPr>
        <p:spPr>
          <a:xfrm>
            <a:off x="274320" y="2057400"/>
            <a:ext cx="5029200" cy="100584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8" name="Shape 6"/>
          <p:cNvSpPr/>
          <p:nvPr/>
        </p:nvSpPr>
        <p:spPr>
          <a:xfrm>
            <a:off x="274320" y="2057400"/>
            <a:ext cx="73152" cy="1005840"/>
          </a:xfrm>
          <a:prstGeom prst="rect">
            <a:avLst/>
          </a:prstGeom>
          <a:solidFill>
            <a:srgbClr val="1565C0"/>
          </a:solidFill>
        </p:spPr>
      </p:sp>
      <p:sp>
        <p:nvSpPr>
          <p:cNvPr id="9" name="Text 7"/>
          <p:cNvSpPr/>
          <p:nvPr/>
        </p:nvSpPr>
        <p:spPr>
          <a:xfrm>
            <a:off x="502920" y="2057400"/>
            <a:ext cx="4663440" cy="1005840"/>
          </a:xfrm>
          <a:prstGeom prst="rect">
            <a:avLst/>
          </a:prstGeom>
          <a:noFill/>
        </p:spPr>
        <p:txBody>
          <a:bodyPr wrap="square" rtlCol="0" anchor="ctr"/>
          <a:lstStyle/>
          <a:p>
            <a:pPr marL="0" indent="0">
              <a:buNone/>
            </a:pPr>
            <a:r>
              <a:rPr lang="en-US" sz="1200" dirty="0">
                <a:solidFill>
                  <a:srgbClr val="263238"/>
                </a:solidFill>
                <a:latin typeface="Calibri" panose="020F0502020204030204" pitchFamily="34" charset="0"/>
                <a:ea typeface="Calibri" panose="020F0502020204030204" pitchFamily="34" charset="-122"/>
                <a:cs typeface="Calibri" panose="020F0502020204030204" pitchFamily="34" charset="-120"/>
              </a:rPr>
              <a:t>Current LLMs (ChatGPT, Gemini) give direct answers 95% of the time — they are 'spoon-feeders', not pedagogues.</a:t>
            </a:r>
            <a:endParaRPr lang="en-US" sz="1200" dirty="0"/>
          </a:p>
        </p:txBody>
      </p:sp>
      <p:sp>
        <p:nvSpPr>
          <p:cNvPr id="10" name="Shape 8"/>
          <p:cNvSpPr/>
          <p:nvPr/>
        </p:nvSpPr>
        <p:spPr>
          <a:xfrm>
            <a:off x="274320" y="3246120"/>
            <a:ext cx="5029200" cy="100584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11" name="Shape 9"/>
          <p:cNvSpPr/>
          <p:nvPr/>
        </p:nvSpPr>
        <p:spPr>
          <a:xfrm>
            <a:off x="274320" y="3246120"/>
            <a:ext cx="73152" cy="1005840"/>
          </a:xfrm>
          <a:prstGeom prst="rect">
            <a:avLst/>
          </a:prstGeom>
          <a:solidFill>
            <a:srgbClr val="1565C0"/>
          </a:solidFill>
        </p:spPr>
      </p:sp>
      <p:sp>
        <p:nvSpPr>
          <p:cNvPr id="12" name="Text 10"/>
          <p:cNvSpPr/>
          <p:nvPr/>
        </p:nvSpPr>
        <p:spPr>
          <a:xfrm>
            <a:off x="502920" y="3246120"/>
            <a:ext cx="4663440" cy="1005840"/>
          </a:xfrm>
          <a:prstGeom prst="rect">
            <a:avLst/>
          </a:prstGeom>
          <a:noFill/>
        </p:spPr>
        <p:txBody>
          <a:bodyPr wrap="square" rtlCol="0" anchor="ctr"/>
          <a:lstStyle/>
          <a:p>
            <a:pPr marL="0" indent="0">
              <a:buNone/>
            </a:pPr>
            <a:r>
              <a:rPr lang="en-US" sz="1200" dirty="0">
                <a:solidFill>
                  <a:srgbClr val="263238"/>
                </a:solidFill>
                <a:latin typeface="Calibri" panose="020F0502020204030204" pitchFamily="34" charset="0"/>
                <a:ea typeface="Calibri" panose="020F0502020204030204" pitchFamily="34" charset="-122"/>
                <a:cs typeface="Calibri" panose="020F0502020204030204" pitchFamily="34" charset="-120"/>
              </a:rPr>
              <a:t>What if we could train an AI to teach like an expert human tutor — using hints, encouragement, and Socratic questioning — across ANY subject?</a:t>
            </a:r>
            <a:endParaRPr lang="en-US" sz="1200" dirty="0"/>
          </a:p>
        </p:txBody>
      </p:sp>
      <p:graphicFrame>
        <p:nvGraphicFramePr>
          <p:cNvPr id="13" name="Chart 0"/>
          <p:cNvGraphicFramePr/>
          <p:nvPr/>
        </p:nvGraphicFramePr>
        <p:xfrm>
          <a:off x="5394960" y="777240"/>
          <a:ext cx="3566160" cy="3840480"/>
        </p:xfrm>
        <a:graphic>
          <a:graphicData uri="http://schemas.openxmlformats.org/drawingml/2006/chart">
            <c:chart xmlns:c="http://schemas.openxmlformats.org/drawingml/2006/chart" xmlns:r="http://schemas.openxmlformats.org/officeDocument/2006/relationships" r:id="rId1"/>
          </a:graphicData>
        </a:graphic>
      </p:graphicFrame>
      <p:sp>
        <p:nvSpPr>
          <p:cNvPr id="14" name="Text 11"/>
          <p:cNvSpPr/>
          <p:nvPr/>
        </p:nvSpPr>
        <p:spPr>
          <a:xfrm>
            <a:off x="8046720" y="4846320"/>
            <a:ext cx="914400" cy="274320"/>
          </a:xfrm>
          <a:prstGeom prst="rect">
            <a:avLst/>
          </a:prstGeom>
          <a:noFill/>
        </p:spPr>
        <p:txBody>
          <a:bodyPr wrap="square" rtlCol="0" anchor="ctr"/>
          <a:lstStyle/>
          <a:p>
            <a:pPr marL="0" indent="0" algn="r">
              <a:buNone/>
            </a:pPr>
            <a:r>
              <a:rPr lang="en-US" sz="1000" dirty="0">
                <a:solidFill>
                  <a:srgbClr val="607D8B"/>
                </a:solidFill>
                <a:latin typeface="Calibri" panose="020F0502020204030204" pitchFamily="34" charset="0"/>
                <a:ea typeface="Calibri" panose="020F0502020204030204" pitchFamily="34" charset="-122"/>
                <a:cs typeface="Calibri" panose="020F0502020204030204" pitchFamily="34" charset="-120"/>
              </a:rPr>
              <a:t>2 / 15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B71C1C"/>
          </a:solidFill>
        </p:spPr>
      </p:sp>
      <p:sp>
        <p:nvSpPr>
          <p:cNvPr id="3" name="Text 1"/>
          <p:cNvSpPr/>
          <p:nvPr/>
        </p:nvSpPr>
        <p:spPr>
          <a:xfrm>
            <a:off x="274320" y="0"/>
            <a:ext cx="8595360" cy="68580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The Core Technical Problem</a:t>
            </a:r>
            <a:endParaRPr lang="en-US" sz="2200" dirty="0"/>
          </a:p>
        </p:txBody>
      </p:sp>
      <p:sp>
        <p:nvSpPr>
          <p:cNvPr id="4" name="Shape 2"/>
          <p:cNvSpPr/>
          <p:nvPr/>
        </p:nvSpPr>
        <p:spPr>
          <a:xfrm>
            <a:off x="0" y="0"/>
            <a:ext cx="9144000" cy="685800"/>
          </a:xfrm>
          <a:prstGeom prst="rect">
            <a:avLst/>
          </a:prstGeom>
          <a:solidFill>
            <a:srgbClr val="B71C1C"/>
          </a:solidFill>
        </p:spPr>
      </p:sp>
      <p:sp>
        <p:nvSpPr>
          <p:cNvPr id="5" name="Text 3"/>
          <p:cNvSpPr/>
          <p:nvPr/>
        </p:nvSpPr>
        <p:spPr>
          <a:xfrm>
            <a:off x="274320" y="0"/>
            <a:ext cx="8595360" cy="68580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The Core Technical Problem</a:t>
            </a:r>
            <a:endParaRPr lang="en-US" sz="2200" dirty="0"/>
          </a:p>
        </p:txBody>
      </p:sp>
      <p:sp>
        <p:nvSpPr>
          <p:cNvPr id="6" name="Shape 4"/>
          <p:cNvSpPr/>
          <p:nvPr>
            <p:custDataLst>
              <p:tags r:id="rId2"/>
            </p:custDataLst>
          </p:nvPr>
        </p:nvSpPr>
        <p:spPr>
          <a:xfrm>
            <a:off x="274320" y="841248"/>
            <a:ext cx="5120640" cy="960120"/>
          </a:xfrm>
          <a:prstGeom prst="rect">
            <a:avLst/>
          </a:prstGeom>
          <a:solidFill>
            <a:srgbClr val="FFFFFF"/>
          </a:solidFill>
          <a:ln w="12700">
            <a:solidFill>
              <a:srgbClr val="FFCDD2"/>
            </a:solidFill>
            <a:prstDash val="solid"/>
          </a:ln>
          <a:effectLst>
            <a:outerShdw blurRad="101600" dist="38100" dir="8100000" algn="bl" rotWithShape="0">
              <a:srgbClr val="000000">
                <a:alpha val="10000"/>
              </a:srgbClr>
            </a:outerShdw>
          </a:effectLst>
        </p:spPr>
      </p:sp>
      <p:sp>
        <p:nvSpPr>
          <p:cNvPr id="7" name="Shape 5"/>
          <p:cNvSpPr/>
          <p:nvPr>
            <p:custDataLst>
              <p:tags r:id="rId3"/>
            </p:custDataLst>
          </p:nvPr>
        </p:nvSpPr>
        <p:spPr>
          <a:xfrm>
            <a:off x="274320" y="841248"/>
            <a:ext cx="73152" cy="960120"/>
          </a:xfrm>
          <a:prstGeom prst="rect">
            <a:avLst/>
          </a:prstGeom>
          <a:solidFill>
            <a:srgbClr val="B71C1C"/>
          </a:solidFill>
        </p:spPr>
      </p:sp>
      <p:sp>
        <p:nvSpPr>
          <p:cNvPr id="8" name="Text 6"/>
          <p:cNvSpPr/>
          <p:nvPr>
            <p:custDataLst>
              <p:tags r:id="rId4"/>
            </p:custDataLst>
          </p:nvPr>
        </p:nvSpPr>
        <p:spPr>
          <a:xfrm>
            <a:off x="502920" y="841248"/>
            <a:ext cx="4663440" cy="274320"/>
          </a:xfrm>
          <a:prstGeom prst="rect">
            <a:avLst/>
          </a:prstGeom>
          <a:noFill/>
        </p:spPr>
        <p:txBody>
          <a:bodyPr wrap="square" rtlCol="0" anchor="ctr"/>
          <a:lstStyle/>
          <a:p>
            <a:pPr marL="0" indent="0">
              <a:buNone/>
            </a:pPr>
            <a:r>
              <a:rPr lang="en-US" sz="1200" b="1" dirty="0">
                <a:solidFill>
                  <a:srgbClr val="B71C1C"/>
                </a:solidFill>
                <a:latin typeface="Calibri" panose="020F0502020204030204" pitchFamily="34" charset="0"/>
                <a:ea typeface="Calibri" panose="020F0502020204030204" pitchFamily="34" charset="-122"/>
                <a:cs typeface="Calibri" panose="020F0502020204030204" pitchFamily="34" charset="-120"/>
              </a:rPr>
              <a:t>Greedy RLHF</a:t>
            </a:r>
            <a:endParaRPr lang="en-US" sz="1200" dirty="0"/>
          </a:p>
        </p:txBody>
      </p:sp>
      <p:sp>
        <p:nvSpPr>
          <p:cNvPr id="9" name="Text 7"/>
          <p:cNvSpPr/>
          <p:nvPr>
            <p:custDataLst>
              <p:tags r:id="rId5"/>
            </p:custDataLst>
          </p:nvPr>
        </p:nvSpPr>
        <p:spPr>
          <a:xfrm>
            <a:off x="502920" y="1078992"/>
            <a:ext cx="4663440" cy="640080"/>
          </a:xfrm>
          <a:prstGeom prst="rect">
            <a:avLst/>
          </a:prstGeom>
          <a:noFill/>
        </p:spPr>
        <p:txBody>
          <a:bodyPr wrap="square" rtlCol="0" anchor="ctr"/>
          <a:lstStyle/>
          <a:p>
            <a:pPr marL="0" indent="0">
              <a:buNone/>
            </a:pPr>
            <a:r>
              <a:rPr lang="en-US" sz="1100" dirty="0">
                <a:solidFill>
                  <a:srgbClr val="263238"/>
                </a:solidFill>
                <a:latin typeface="Calibri" panose="020F0502020204030204" pitchFamily="34" charset="0"/>
                <a:ea typeface="Calibri" panose="020F0502020204030204" pitchFamily="34" charset="-122"/>
                <a:cs typeface="Calibri" panose="020F0502020204030204" pitchFamily="34" charset="-120"/>
              </a:rPr>
              <a:t>Standard RLHF optimizes for single-turn satisfaction — the AI gets rewarded for giving the most pleasing immediate response, not for teaching.</a:t>
            </a:r>
            <a:endParaRPr lang="en-US" sz="1100" dirty="0"/>
          </a:p>
        </p:txBody>
      </p:sp>
      <p:sp>
        <p:nvSpPr>
          <p:cNvPr id="10" name="Shape 8"/>
          <p:cNvSpPr/>
          <p:nvPr>
            <p:custDataLst>
              <p:tags r:id="rId6"/>
            </p:custDataLst>
          </p:nvPr>
        </p:nvSpPr>
        <p:spPr>
          <a:xfrm>
            <a:off x="274320" y="1956816"/>
            <a:ext cx="5120640" cy="960120"/>
          </a:xfrm>
          <a:prstGeom prst="rect">
            <a:avLst/>
          </a:prstGeom>
          <a:solidFill>
            <a:srgbClr val="FFFFFF"/>
          </a:solidFill>
          <a:ln w="12700">
            <a:solidFill>
              <a:srgbClr val="FFCDD2"/>
            </a:solidFill>
            <a:prstDash val="solid"/>
          </a:ln>
          <a:effectLst>
            <a:outerShdw blurRad="101600" dist="38100" dir="8100000" algn="bl" rotWithShape="0">
              <a:srgbClr val="000000">
                <a:alpha val="10000"/>
              </a:srgbClr>
            </a:outerShdw>
          </a:effectLst>
        </p:spPr>
      </p:sp>
      <p:sp>
        <p:nvSpPr>
          <p:cNvPr id="11" name="Shape 9"/>
          <p:cNvSpPr/>
          <p:nvPr>
            <p:custDataLst>
              <p:tags r:id="rId7"/>
            </p:custDataLst>
          </p:nvPr>
        </p:nvSpPr>
        <p:spPr>
          <a:xfrm>
            <a:off x="274320" y="1956816"/>
            <a:ext cx="73152" cy="960120"/>
          </a:xfrm>
          <a:prstGeom prst="rect">
            <a:avLst/>
          </a:prstGeom>
          <a:solidFill>
            <a:srgbClr val="B71C1C"/>
          </a:solidFill>
        </p:spPr>
      </p:sp>
      <p:sp>
        <p:nvSpPr>
          <p:cNvPr id="12" name="Text 10"/>
          <p:cNvSpPr/>
          <p:nvPr>
            <p:custDataLst>
              <p:tags r:id="rId8"/>
            </p:custDataLst>
          </p:nvPr>
        </p:nvSpPr>
        <p:spPr>
          <a:xfrm>
            <a:off x="502920" y="1956816"/>
            <a:ext cx="4663440" cy="274320"/>
          </a:xfrm>
          <a:prstGeom prst="rect">
            <a:avLst/>
          </a:prstGeom>
          <a:noFill/>
        </p:spPr>
        <p:txBody>
          <a:bodyPr wrap="square" rtlCol="0" anchor="ctr"/>
          <a:lstStyle/>
          <a:p>
            <a:pPr marL="0" indent="0">
              <a:buNone/>
            </a:pPr>
            <a:r>
              <a:rPr lang="en-US" sz="1200" b="1" dirty="0">
                <a:solidFill>
                  <a:srgbClr val="B71C1C"/>
                </a:solidFill>
                <a:latin typeface="Calibri" panose="020F0502020204030204" pitchFamily="34" charset="0"/>
                <a:ea typeface="Calibri" panose="020F0502020204030204" pitchFamily="34" charset="-122"/>
                <a:cs typeface="Calibri" panose="020F0502020204030204" pitchFamily="34" charset="-120"/>
              </a:rPr>
              <a:t>Token Explosion</a:t>
            </a:r>
            <a:endParaRPr lang="en-US" sz="1200" dirty="0"/>
          </a:p>
        </p:txBody>
      </p:sp>
      <p:sp>
        <p:nvSpPr>
          <p:cNvPr id="13" name="Text 11"/>
          <p:cNvSpPr/>
          <p:nvPr>
            <p:custDataLst>
              <p:tags r:id="rId9"/>
            </p:custDataLst>
          </p:nvPr>
        </p:nvSpPr>
        <p:spPr>
          <a:xfrm>
            <a:off x="502920" y="2194560"/>
            <a:ext cx="4663440" cy="640080"/>
          </a:xfrm>
          <a:prstGeom prst="rect">
            <a:avLst/>
          </a:prstGeom>
          <a:noFill/>
        </p:spPr>
        <p:txBody>
          <a:bodyPr wrap="square" rtlCol="0" anchor="ctr"/>
          <a:lstStyle/>
          <a:p>
            <a:pPr marL="0" indent="0">
              <a:buNone/>
            </a:pPr>
            <a:r>
              <a:rPr lang="en-US" sz="1100" dirty="0">
                <a:solidFill>
                  <a:srgbClr val="263238"/>
                </a:solidFill>
                <a:latin typeface="Calibri" panose="020F0502020204030204" pitchFamily="34" charset="0"/>
                <a:ea typeface="Calibri" panose="020F0502020204030204" pitchFamily="34" charset="-122"/>
                <a:cs typeface="Calibri" panose="020F0502020204030204" pitchFamily="34" charset="-120"/>
              </a:rPr>
              <a:t>By Turn 10 of a tutoring session, the dialogue contains 18,000+ tokens — exceeding Llama-3's 8K context window.</a:t>
            </a:r>
            <a:endParaRPr lang="en-US" sz="1100" dirty="0"/>
          </a:p>
        </p:txBody>
      </p:sp>
      <p:sp>
        <p:nvSpPr>
          <p:cNvPr id="14" name="Shape 12"/>
          <p:cNvSpPr/>
          <p:nvPr>
            <p:custDataLst>
              <p:tags r:id="rId10"/>
            </p:custDataLst>
          </p:nvPr>
        </p:nvSpPr>
        <p:spPr>
          <a:xfrm>
            <a:off x="274320" y="3072384"/>
            <a:ext cx="5120640" cy="960120"/>
          </a:xfrm>
          <a:prstGeom prst="rect">
            <a:avLst/>
          </a:prstGeom>
          <a:solidFill>
            <a:srgbClr val="FFFFFF"/>
          </a:solidFill>
          <a:ln w="12700">
            <a:solidFill>
              <a:srgbClr val="FFCDD2"/>
            </a:solidFill>
            <a:prstDash val="solid"/>
          </a:ln>
          <a:effectLst>
            <a:outerShdw blurRad="101600" dist="38100" dir="8100000" algn="bl" rotWithShape="0">
              <a:srgbClr val="000000">
                <a:alpha val="10000"/>
              </a:srgbClr>
            </a:outerShdw>
          </a:effectLst>
        </p:spPr>
      </p:sp>
      <p:sp>
        <p:nvSpPr>
          <p:cNvPr id="15" name="Shape 13"/>
          <p:cNvSpPr/>
          <p:nvPr>
            <p:custDataLst>
              <p:tags r:id="rId11"/>
            </p:custDataLst>
          </p:nvPr>
        </p:nvSpPr>
        <p:spPr>
          <a:xfrm>
            <a:off x="274320" y="3072384"/>
            <a:ext cx="73152" cy="960120"/>
          </a:xfrm>
          <a:prstGeom prst="rect">
            <a:avLst/>
          </a:prstGeom>
          <a:solidFill>
            <a:srgbClr val="B71C1C"/>
          </a:solidFill>
        </p:spPr>
      </p:sp>
      <p:sp>
        <p:nvSpPr>
          <p:cNvPr id="16" name="Text 14"/>
          <p:cNvSpPr/>
          <p:nvPr>
            <p:custDataLst>
              <p:tags r:id="rId12"/>
            </p:custDataLst>
          </p:nvPr>
        </p:nvSpPr>
        <p:spPr>
          <a:xfrm>
            <a:off x="502920" y="3072384"/>
            <a:ext cx="4663440" cy="274320"/>
          </a:xfrm>
          <a:prstGeom prst="rect">
            <a:avLst/>
          </a:prstGeom>
          <a:noFill/>
        </p:spPr>
        <p:txBody>
          <a:bodyPr wrap="square" rtlCol="0" anchor="ctr"/>
          <a:lstStyle/>
          <a:p>
            <a:pPr marL="0" indent="0">
              <a:buNone/>
            </a:pPr>
            <a:r>
              <a:rPr lang="en-US" sz="1200" b="1" dirty="0">
                <a:solidFill>
                  <a:srgbClr val="B71C1C"/>
                </a:solidFill>
                <a:latin typeface="Calibri" panose="020F0502020204030204" pitchFamily="34" charset="0"/>
                <a:ea typeface="Calibri" panose="020F0502020204030204" pitchFamily="34" charset="-122"/>
                <a:cs typeface="Calibri" panose="020F0502020204030204" pitchFamily="34" charset="-120"/>
              </a:rPr>
              <a:t>Credit Assignment</a:t>
            </a:r>
            <a:endParaRPr lang="en-US" sz="1200" dirty="0"/>
          </a:p>
        </p:txBody>
      </p:sp>
      <p:sp>
        <p:nvSpPr>
          <p:cNvPr id="17" name="Text 15"/>
          <p:cNvSpPr/>
          <p:nvPr>
            <p:custDataLst>
              <p:tags r:id="rId13"/>
            </p:custDataLst>
          </p:nvPr>
        </p:nvSpPr>
        <p:spPr>
          <a:xfrm>
            <a:off x="502920" y="3310128"/>
            <a:ext cx="4663440" cy="640080"/>
          </a:xfrm>
          <a:prstGeom prst="rect">
            <a:avLst/>
          </a:prstGeom>
          <a:noFill/>
        </p:spPr>
        <p:txBody>
          <a:bodyPr wrap="square" rtlCol="0" anchor="ctr"/>
          <a:lstStyle/>
          <a:p>
            <a:pPr marL="0" indent="0">
              <a:buNone/>
            </a:pPr>
            <a:r>
              <a:rPr lang="en-US" sz="1100" dirty="0">
                <a:solidFill>
                  <a:srgbClr val="263238"/>
                </a:solidFill>
                <a:latin typeface="Calibri" panose="020F0502020204030204" pitchFamily="34" charset="0"/>
                <a:ea typeface="Calibri" panose="020F0502020204030204" pitchFamily="34" charset="-122"/>
                <a:cs typeface="Calibri" panose="020F0502020204030204" pitchFamily="34" charset="-120"/>
              </a:rPr>
              <a:t>Which action at Turn 3 caused success at Turn 10? Sparse rewards can't answer this — the agent can't learn.</a:t>
            </a:r>
            <a:endParaRPr lang="en-US" sz="1100" dirty="0"/>
          </a:p>
        </p:txBody>
      </p:sp>
      <p:sp>
        <p:nvSpPr>
          <p:cNvPr id="18" name="Shape 16"/>
          <p:cNvSpPr/>
          <p:nvPr/>
        </p:nvSpPr>
        <p:spPr>
          <a:xfrm>
            <a:off x="274320" y="4160520"/>
            <a:ext cx="5120640" cy="749808"/>
          </a:xfrm>
          <a:prstGeom prst="rect">
            <a:avLst/>
          </a:prstGeom>
          <a:solidFill>
            <a:srgbClr val="E3F2FD"/>
          </a:solidFill>
          <a:ln w="19050">
            <a:solidFill>
              <a:srgbClr val="1565C0"/>
            </a:solidFill>
            <a:prstDash val="solid"/>
          </a:ln>
          <a:effectLst>
            <a:outerShdw blurRad="101600" dist="38100" dir="8100000" algn="bl" rotWithShape="0">
              <a:srgbClr val="000000">
                <a:alpha val="10000"/>
              </a:srgbClr>
            </a:outerShdw>
          </a:effectLst>
        </p:spPr>
      </p:sp>
      <p:sp>
        <p:nvSpPr>
          <p:cNvPr id="19" name="Text 17"/>
          <p:cNvSpPr/>
          <p:nvPr/>
        </p:nvSpPr>
        <p:spPr>
          <a:xfrm>
            <a:off x="457200" y="4206240"/>
            <a:ext cx="4754880" cy="228600"/>
          </a:xfrm>
          <a:prstGeom prst="rect">
            <a:avLst/>
          </a:prstGeom>
          <a:noFill/>
        </p:spPr>
        <p:txBody>
          <a:bodyPr wrap="square" rtlCol="0" anchor="ct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Research Question:</a:t>
            </a:r>
            <a:endParaRPr lang="en-US" sz="1000" dirty="0"/>
          </a:p>
        </p:txBody>
      </p:sp>
      <p:sp>
        <p:nvSpPr>
          <p:cNvPr id="20" name="Text 18"/>
          <p:cNvSpPr/>
          <p:nvPr/>
        </p:nvSpPr>
        <p:spPr>
          <a:xfrm>
            <a:off x="457200" y="4416552"/>
            <a:ext cx="4754880" cy="457200"/>
          </a:xfrm>
          <a:prstGeom prst="rect">
            <a:avLst/>
          </a:prstGeom>
          <a:noFill/>
        </p:spPr>
        <p:txBody>
          <a:bodyPr wrap="square" rtlCol="0" anchor="ctr"/>
          <a:lstStyle/>
          <a:p>
            <a:pPr marL="0" indent="0">
              <a:buNone/>
            </a:pPr>
            <a:r>
              <a:rPr lang="en-US" sz="1000" i="1" dirty="0">
                <a:solidFill>
                  <a:srgbClr val="0D1B2A"/>
                </a:solidFill>
                <a:latin typeface="Calibri" panose="020F0502020204030204" pitchFamily="34" charset="0"/>
                <a:ea typeface="Calibri" panose="020F0502020204030204" pitchFamily="34" charset="-122"/>
                <a:cs typeface="Calibri" panose="020F0502020204030204" pitchFamily="34" charset="-120"/>
              </a:rPr>
              <a:t>Can Offline RL, on compressed latent states, optimize multi-turn pedagogical actions to maximize long-term student learning outcomes?</a:t>
            </a:r>
            <a:endParaRPr lang="en-US" sz="1000" dirty="0"/>
          </a:p>
        </p:txBody>
      </p:sp>
      <p:graphicFrame>
        <p:nvGraphicFramePr>
          <p:cNvPr id="21" name="Chart 0"/>
          <p:cNvGraphicFramePr/>
          <p:nvPr/>
        </p:nvGraphicFramePr>
        <p:xfrm>
          <a:off x="5486400" y="777240"/>
          <a:ext cx="3474720" cy="4114800"/>
        </p:xfrm>
        <a:graphic>
          <a:graphicData uri="http://schemas.openxmlformats.org/drawingml/2006/chart">
            <c:chart xmlns:c="http://schemas.openxmlformats.org/drawingml/2006/chart" xmlns:r="http://schemas.openxmlformats.org/officeDocument/2006/relationships" r:id="rId1"/>
          </a:graphicData>
        </a:graphic>
      </p:graphicFrame>
      <p:sp>
        <p:nvSpPr>
          <p:cNvPr id="22" name="Text 19"/>
          <p:cNvSpPr/>
          <p:nvPr/>
        </p:nvSpPr>
        <p:spPr>
          <a:xfrm>
            <a:off x="8046720" y="4846320"/>
            <a:ext cx="914400" cy="274320"/>
          </a:xfrm>
          <a:prstGeom prst="rect">
            <a:avLst/>
          </a:prstGeom>
          <a:noFill/>
        </p:spPr>
        <p:txBody>
          <a:bodyPr wrap="square" rtlCol="0" anchor="ctr"/>
          <a:lstStyle/>
          <a:p>
            <a:pPr marL="0" indent="0" algn="r">
              <a:buNone/>
            </a:pPr>
            <a:r>
              <a:rPr lang="en-US" sz="1000" dirty="0">
                <a:solidFill>
                  <a:srgbClr val="607D8B"/>
                </a:solidFill>
                <a:latin typeface="Calibri" panose="020F0502020204030204" pitchFamily="34" charset="0"/>
                <a:ea typeface="Calibri" panose="020F0502020204030204" pitchFamily="34" charset="-122"/>
                <a:cs typeface="Calibri" panose="020F0502020204030204" pitchFamily="34" charset="-120"/>
              </a:rPr>
              <a:t>3 / 15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p:spPr>
      </p:sp>
      <p:sp>
        <p:nvSpPr>
          <p:cNvPr id="3" name="Text 1"/>
          <p:cNvSpPr/>
          <p:nvPr/>
        </p:nvSpPr>
        <p:spPr>
          <a:xfrm>
            <a:off x="274320" y="0"/>
            <a:ext cx="8595360" cy="68580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Placing Our Work in Context</a:t>
            </a:r>
            <a:endParaRPr lang="en-US" sz="2200" dirty="0"/>
          </a:p>
        </p:txBody>
      </p:sp>
      <p:graphicFrame>
        <p:nvGraphicFramePr>
          <p:cNvPr id="4" name="Chart 0"/>
          <p:cNvGraphicFramePr/>
          <p:nvPr/>
        </p:nvGraphicFramePr>
        <p:xfrm>
          <a:off x="274320" y="777240"/>
          <a:ext cx="5486400" cy="402336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5943600" y="777240"/>
            <a:ext cx="3017520" cy="402336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6" name="Text 3"/>
          <p:cNvSpPr/>
          <p:nvPr/>
        </p:nvSpPr>
        <p:spPr>
          <a:xfrm>
            <a:off x="6035040" y="868680"/>
            <a:ext cx="2834640" cy="274320"/>
          </a:xfrm>
          <a:prstGeom prst="rect">
            <a:avLst/>
          </a:prstGeom>
          <a:noFill/>
        </p:spPr>
        <p:txBody>
          <a:bodyPr wrap="square" rtlCol="0" anchor="ctr"/>
          <a:lstStyle/>
          <a:p>
            <a:pPr marL="0" indent="0">
              <a:buNone/>
            </a:pPr>
            <a:r>
              <a:rPr lang="en-US" sz="1200" b="1" dirty="0">
                <a:solidFill>
                  <a:srgbClr val="0D1B2A"/>
                </a:solidFill>
                <a:latin typeface="Calibri" panose="020F0502020204030204" pitchFamily="34" charset="0"/>
                <a:ea typeface="Calibri" panose="020F0502020204030204" pitchFamily="34" charset="-122"/>
                <a:cs typeface="Calibri" panose="020F0502020204030204" pitchFamily="34" charset="-120"/>
              </a:rPr>
              <a:t>Key Gap Identified</a:t>
            </a:r>
            <a:endParaRPr lang="en-US" sz="1200" dirty="0"/>
          </a:p>
        </p:txBody>
      </p:sp>
      <p:sp>
        <p:nvSpPr>
          <p:cNvPr id="7" name="Shape 4"/>
          <p:cNvSpPr/>
          <p:nvPr/>
        </p:nvSpPr>
        <p:spPr>
          <a:xfrm>
            <a:off x="5943600" y="1170432"/>
            <a:ext cx="3017520" cy="27432"/>
          </a:xfrm>
          <a:prstGeom prst="rect">
            <a:avLst/>
          </a:prstGeom>
          <a:solidFill>
            <a:srgbClr val="1565C0"/>
          </a:solidFill>
        </p:spPr>
      </p:sp>
      <p:sp>
        <p:nvSpPr>
          <p:cNvPr id="8" name="Text 5"/>
          <p:cNvSpPr/>
          <p:nvPr/>
        </p:nvSpPr>
        <p:spPr>
          <a:xfrm>
            <a:off x="6035040" y="1261872"/>
            <a:ext cx="2834640" cy="2651760"/>
          </a:xfrm>
          <a:prstGeom prst="rect">
            <a:avLst/>
          </a:prstGeom>
          <a:noFill/>
        </p:spPr>
        <p:txBody>
          <a:bodyPr wrap="square" rtlCol="0" anchor="ctr"/>
          <a:lstStyle/>
          <a:p>
            <a:pPr marL="0" indent="0">
              <a:buNone/>
            </a:pPr>
            <a:r>
              <a:rPr lang="en-US" sz="1100" dirty="0">
                <a:solidFill>
                  <a:srgbClr val="263238"/>
                </a:solidFill>
                <a:latin typeface="Calibri" panose="020F0502020204030204" pitchFamily="34" charset="0"/>
                <a:ea typeface="Calibri" panose="020F0502020204030204" pitchFamily="34" charset="-122"/>
                <a:cs typeface="Calibri" panose="020F0502020204030204" pitchFamily="34" charset="-120"/>
              </a:rPr>
              <a:t>The Stanford paper's CQL used a problem-agnostic 25D state.</a:t>
            </a:r>
            <a:endParaRPr lang="en-US" sz="1100" dirty="0"/>
          </a:p>
          <a:p>
            <a:pPr marL="0" indent="0">
              <a:buNone/>
            </a:pPr>
            <a:endParaRPr lang="en-US" sz="1100" dirty="0"/>
          </a:p>
          <a:p>
            <a:pPr marL="0" indent="0">
              <a:buNone/>
            </a:pPr>
            <a:r>
              <a:rPr lang="en-US" sz="1100" dirty="0">
                <a:solidFill>
                  <a:srgbClr val="263238"/>
                </a:solidFill>
                <a:latin typeface="Calibri" panose="020F0502020204030204" pitchFamily="34" charset="0"/>
                <a:ea typeface="Calibri" panose="020F0502020204030204" pitchFamily="34" charset="-122"/>
                <a:cs typeface="Calibri" panose="020F0502020204030204" pitchFamily="34" charset="-120"/>
              </a:rPr>
              <a:t>'Is the student frustrated?' yields the SAME score whether they're solving basic addition or differential calculus.</a:t>
            </a:r>
            <a:endParaRPr lang="en-US" sz="1100" dirty="0"/>
          </a:p>
          <a:p>
            <a:pPr marL="0" indent="0">
              <a:buNone/>
            </a:pPr>
            <a:endParaRPr lang="en-US" sz="1100" dirty="0"/>
          </a:p>
          <a:p>
            <a:pPr marL="0" indent="0">
              <a:buNone/>
            </a:pPr>
            <a:r>
              <a:rPr lang="en-US" sz="1100" dirty="0">
                <a:solidFill>
                  <a:srgbClr val="263238"/>
                </a:solidFill>
                <a:latin typeface="Calibri" panose="020F0502020204030204" pitchFamily="34" charset="0"/>
                <a:ea typeface="Calibri" panose="020F0502020204030204" pitchFamily="34" charset="-122"/>
                <a:cs typeface="Calibri" panose="020F0502020204030204" pitchFamily="34" charset="-120"/>
              </a:rPr>
              <a:t>Result: Catastrophic 27.48% collapse on unseen problem types.</a:t>
            </a:r>
            <a:endParaRPr lang="en-US" sz="1100" dirty="0"/>
          </a:p>
        </p:txBody>
      </p:sp>
      <p:sp>
        <p:nvSpPr>
          <p:cNvPr id="9" name="Shape 6"/>
          <p:cNvSpPr/>
          <p:nvPr/>
        </p:nvSpPr>
        <p:spPr>
          <a:xfrm>
            <a:off x="6035040" y="3931920"/>
            <a:ext cx="2743200" cy="594360"/>
          </a:xfrm>
          <a:prstGeom prst="rect">
            <a:avLst/>
          </a:prstGeom>
          <a:solidFill>
            <a:srgbClr val="FFF3E0"/>
          </a:solidFill>
          <a:ln w="12700">
            <a:solidFill>
              <a:srgbClr val="F57F17"/>
            </a:solidFill>
            <a:prstDash val="solid"/>
          </a:ln>
        </p:spPr>
      </p:sp>
      <p:sp>
        <p:nvSpPr>
          <p:cNvPr id="10" name="Text 7"/>
          <p:cNvSpPr/>
          <p:nvPr/>
        </p:nvSpPr>
        <p:spPr>
          <a:xfrm>
            <a:off x="6080760" y="3977640"/>
            <a:ext cx="2651760" cy="502920"/>
          </a:xfrm>
          <a:prstGeom prst="rect">
            <a:avLst/>
          </a:prstGeom>
          <a:noFill/>
        </p:spPr>
        <p:txBody>
          <a:bodyPr wrap="square" rtlCol="0" anchor="ctr"/>
          <a:lstStyle/>
          <a:p>
            <a:pPr marL="0" indent="0">
              <a:buNone/>
            </a:pPr>
            <a:r>
              <a:rPr lang="en-US" sz="1000" b="1" dirty="0">
                <a:solidFill>
                  <a:srgbClr val="E65100"/>
                </a:solidFill>
                <a:latin typeface="Calibri" panose="020F0502020204030204" pitchFamily="34" charset="0"/>
                <a:ea typeface="Calibri" panose="020F0502020204030204" pitchFamily="34" charset="-122"/>
                <a:cs typeface="Calibri" panose="020F0502020204030204" pitchFamily="34" charset="-120"/>
              </a:rPr>
              <a:t>⚠️  Generalizability Crisis — This is what we solved.</a:t>
            </a:r>
            <a:endParaRPr lang="en-US" sz="1000" dirty="0"/>
          </a:p>
        </p:txBody>
      </p:sp>
      <p:sp>
        <p:nvSpPr>
          <p:cNvPr id="11" name="Text 8"/>
          <p:cNvSpPr/>
          <p:nvPr/>
        </p:nvSpPr>
        <p:spPr>
          <a:xfrm>
            <a:off x="8046720" y="4846320"/>
            <a:ext cx="914400" cy="274320"/>
          </a:xfrm>
          <a:prstGeom prst="rect">
            <a:avLst/>
          </a:prstGeom>
          <a:noFill/>
        </p:spPr>
        <p:txBody>
          <a:bodyPr wrap="square" rtlCol="0" anchor="ctr"/>
          <a:lstStyle/>
          <a:p>
            <a:pPr marL="0" indent="0" algn="r">
              <a:buNone/>
            </a:pPr>
            <a:r>
              <a:rPr lang="en-US" sz="1000" dirty="0">
                <a:solidFill>
                  <a:srgbClr val="607D8B"/>
                </a:solidFill>
                <a:latin typeface="Calibri" panose="020F0502020204030204" pitchFamily="34" charset="0"/>
                <a:ea typeface="Calibri" panose="020F0502020204030204" pitchFamily="34" charset="-122"/>
                <a:cs typeface="Calibri" panose="020F0502020204030204" pitchFamily="34" charset="-120"/>
              </a:rPr>
              <a:t>4 / 15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695C"/>
          </a:solidFill>
        </p:spPr>
      </p:sp>
      <p:sp>
        <p:nvSpPr>
          <p:cNvPr id="3" name="Text 1"/>
          <p:cNvSpPr/>
          <p:nvPr/>
        </p:nvSpPr>
        <p:spPr>
          <a:xfrm>
            <a:off x="274320" y="0"/>
            <a:ext cx="8595360" cy="68580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Phase 1: Synthetic Dialogue Generation</a:t>
            </a:r>
            <a:endParaRPr lang="en-US" sz="2200" dirty="0"/>
          </a:p>
        </p:txBody>
      </p:sp>
      <p:sp>
        <p:nvSpPr>
          <p:cNvPr id="4" name="Shape 2"/>
          <p:cNvSpPr/>
          <p:nvPr/>
        </p:nvSpPr>
        <p:spPr>
          <a:xfrm>
            <a:off x="0" y="0"/>
            <a:ext cx="9144000" cy="685800"/>
          </a:xfrm>
          <a:prstGeom prst="rect">
            <a:avLst/>
          </a:prstGeom>
          <a:solidFill>
            <a:srgbClr val="00695C"/>
          </a:solidFill>
        </p:spPr>
      </p:sp>
      <p:sp>
        <p:nvSpPr>
          <p:cNvPr id="5" name="Text 3"/>
          <p:cNvSpPr/>
          <p:nvPr/>
        </p:nvSpPr>
        <p:spPr>
          <a:xfrm>
            <a:off x="274320" y="0"/>
            <a:ext cx="8595360" cy="68580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Phase 1: Synthetic Dialogue Generation</a:t>
            </a:r>
            <a:endParaRPr lang="en-US" sz="2200" dirty="0"/>
          </a:p>
        </p:txBody>
      </p:sp>
      <p:sp>
        <p:nvSpPr>
          <p:cNvPr id="6" name="Shape 4"/>
          <p:cNvSpPr/>
          <p:nvPr/>
        </p:nvSpPr>
        <p:spPr>
          <a:xfrm>
            <a:off x="274320" y="822960"/>
            <a:ext cx="4389120" cy="86868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7" name="Shape 5"/>
          <p:cNvSpPr/>
          <p:nvPr/>
        </p:nvSpPr>
        <p:spPr>
          <a:xfrm>
            <a:off x="365760" y="960120"/>
            <a:ext cx="502920" cy="502920"/>
          </a:xfrm>
          <a:prstGeom prst="ellipse">
            <a:avLst/>
          </a:prstGeom>
          <a:solidFill>
            <a:srgbClr val="1565C0"/>
          </a:solidFill>
        </p:spPr>
      </p:sp>
      <p:sp>
        <p:nvSpPr>
          <p:cNvPr id="8" name="Text 6"/>
          <p:cNvSpPr/>
          <p:nvPr/>
        </p:nvSpPr>
        <p:spPr>
          <a:xfrm>
            <a:off x="365760" y="960120"/>
            <a:ext cx="502920" cy="50292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9" name="Text 7"/>
          <p:cNvSpPr/>
          <p:nvPr/>
        </p:nvSpPr>
        <p:spPr>
          <a:xfrm>
            <a:off x="1005840" y="822960"/>
            <a:ext cx="3566160" cy="868680"/>
          </a:xfrm>
          <a:prstGeom prst="rect">
            <a:avLst/>
          </a:prstGeom>
          <a:noFill/>
        </p:spPr>
        <p:txBody>
          <a:bodyPr wrap="square" rtlCol="0" anchor="ctr"/>
          <a:lstStyle/>
          <a:p>
            <a:pPr marL="0" indent="0">
              <a:buNone/>
            </a:pPr>
            <a:r>
              <a:rPr lang="en-US" sz="1200" dirty="0">
                <a:solidFill>
                  <a:srgbClr val="263238"/>
                </a:solidFill>
                <a:latin typeface="Calibri" panose="020F0502020204030204" pitchFamily="34" charset="0"/>
                <a:ea typeface="Calibri" panose="020F0502020204030204" pitchFamily="34" charset="-122"/>
                <a:cs typeface="Calibri" panose="020F0502020204030204" pitchFamily="34" charset="-120"/>
              </a:rPr>
              <a:t>Groq API</a:t>
            </a:r>
            <a:endParaRPr lang="en-US" sz="1200" dirty="0"/>
          </a:p>
          <a:p>
            <a:pPr marL="0" indent="0">
              <a:buNone/>
            </a:pPr>
            <a:r>
              <a:rPr lang="en-US" sz="1200" dirty="0">
                <a:solidFill>
                  <a:srgbClr val="263238"/>
                </a:solidFill>
                <a:latin typeface="Calibri" panose="020F0502020204030204" pitchFamily="34" charset="0"/>
                <a:ea typeface="Calibri" panose="020F0502020204030204" pitchFamily="34" charset="-122"/>
                <a:cs typeface="Calibri" panose="020F0502020204030204" pitchFamily="34" charset="-120"/>
              </a:rPr>
              <a:t>Llama-3.1-8b-instant</a:t>
            </a:r>
            <a:endParaRPr lang="en-US" sz="1200" dirty="0"/>
          </a:p>
        </p:txBody>
      </p:sp>
      <p:sp>
        <p:nvSpPr>
          <p:cNvPr id="10" name="Shape 8"/>
          <p:cNvSpPr/>
          <p:nvPr/>
        </p:nvSpPr>
        <p:spPr>
          <a:xfrm>
            <a:off x="2331720" y="1691640"/>
            <a:ext cx="73152" cy="182880"/>
          </a:xfrm>
          <a:prstGeom prst="rect">
            <a:avLst/>
          </a:prstGeom>
          <a:solidFill>
            <a:srgbClr val="607D8B"/>
          </a:solidFill>
        </p:spPr>
      </p:sp>
      <p:sp>
        <p:nvSpPr>
          <p:cNvPr id="11" name="Shape 9"/>
          <p:cNvSpPr/>
          <p:nvPr/>
        </p:nvSpPr>
        <p:spPr>
          <a:xfrm>
            <a:off x="274320" y="1847088"/>
            <a:ext cx="4389120" cy="86868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12" name="Shape 10"/>
          <p:cNvSpPr/>
          <p:nvPr/>
        </p:nvSpPr>
        <p:spPr>
          <a:xfrm>
            <a:off x="365760" y="1984248"/>
            <a:ext cx="502920" cy="502920"/>
          </a:xfrm>
          <a:prstGeom prst="ellipse">
            <a:avLst/>
          </a:prstGeom>
          <a:solidFill>
            <a:srgbClr val="00695C"/>
          </a:solidFill>
        </p:spPr>
      </p:sp>
      <p:sp>
        <p:nvSpPr>
          <p:cNvPr id="13" name="Text 11"/>
          <p:cNvSpPr/>
          <p:nvPr/>
        </p:nvSpPr>
        <p:spPr>
          <a:xfrm>
            <a:off x="365760" y="1984248"/>
            <a:ext cx="502920" cy="50292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14" name="Text 12"/>
          <p:cNvSpPr/>
          <p:nvPr/>
        </p:nvSpPr>
        <p:spPr>
          <a:xfrm>
            <a:off x="1005840" y="1847088"/>
            <a:ext cx="3566160" cy="868680"/>
          </a:xfrm>
          <a:prstGeom prst="rect">
            <a:avLst/>
          </a:prstGeom>
          <a:noFill/>
        </p:spPr>
        <p:txBody>
          <a:bodyPr wrap="square" rtlCol="0" anchor="ctr"/>
          <a:lstStyle/>
          <a:p>
            <a:pPr marL="0" indent="0">
              <a:buNone/>
            </a:pPr>
            <a:r>
              <a:rPr lang="en-US" sz="1200" dirty="0">
                <a:solidFill>
                  <a:srgbClr val="263238"/>
                </a:solidFill>
                <a:latin typeface="Calibri" panose="020F0502020204030204" pitchFamily="34" charset="0"/>
                <a:ea typeface="Calibri" panose="020F0502020204030204" pitchFamily="34" charset="-122"/>
                <a:cs typeface="Calibri" panose="020F0502020204030204" pitchFamily="34" charset="-120"/>
              </a:rPr>
              <a:t>AI Student Agent</a:t>
            </a:r>
            <a:endParaRPr lang="en-US" sz="1200" dirty="0"/>
          </a:p>
          <a:p>
            <a:pPr marL="0" indent="0">
              <a:buNone/>
            </a:pPr>
            <a:r>
              <a:rPr lang="en-US" sz="1200" dirty="0">
                <a:solidFill>
                  <a:srgbClr val="263238"/>
                </a:solidFill>
                <a:latin typeface="Calibri" panose="020F0502020204030204" pitchFamily="34" charset="0"/>
                <a:ea typeface="Calibri" panose="020F0502020204030204" pitchFamily="34" charset="-122"/>
                <a:cs typeface="Calibri" panose="020F0502020204030204" pitchFamily="34" charset="-120"/>
              </a:rPr>
              <a:t>(CoMTA Few-Shot)</a:t>
            </a:r>
            <a:endParaRPr lang="en-US" sz="1200" dirty="0"/>
          </a:p>
        </p:txBody>
      </p:sp>
      <p:sp>
        <p:nvSpPr>
          <p:cNvPr id="15" name="Shape 13"/>
          <p:cNvSpPr/>
          <p:nvPr/>
        </p:nvSpPr>
        <p:spPr>
          <a:xfrm>
            <a:off x="2331720" y="2715768"/>
            <a:ext cx="73152" cy="182880"/>
          </a:xfrm>
          <a:prstGeom prst="rect">
            <a:avLst/>
          </a:prstGeom>
          <a:solidFill>
            <a:srgbClr val="607D8B"/>
          </a:solidFill>
        </p:spPr>
      </p:sp>
      <p:sp>
        <p:nvSpPr>
          <p:cNvPr id="16" name="Shape 14"/>
          <p:cNvSpPr/>
          <p:nvPr/>
        </p:nvSpPr>
        <p:spPr>
          <a:xfrm>
            <a:off x="274320" y="2871216"/>
            <a:ext cx="4389120" cy="86868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17" name="Shape 15"/>
          <p:cNvSpPr/>
          <p:nvPr/>
        </p:nvSpPr>
        <p:spPr>
          <a:xfrm>
            <a:off x="365760" y="3008376"/>
            <a:ext cx="502920" cy="502920"/>
          </a:xfrm>
          <a:prstGeom prst="ellipse">
            <a:avLst/>
          </a:prstGeom>
          <a:solidFill>
            <a:srgbClr val="6A1B9A"/>
          </a:solidFill>
        </p:spPr>
      </p:sp>
      <p:sp>
        <p:nvSpPr>
          <p:cNvPr id="18" name="Text 16"/>
          <p:cNvSpPr/>
          <p:nvPr/>
        </p:nvSpPr>
        <p:spPr>
          <a:xfrm>
            <a:off x="365760" y="3008376"/>
            <a:ext cx="502920" cy="50292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9" name="Text 17"/>
          <p:cNvSpPr/>
          <p:nvPr/>
        </p:nvSpPr>
        <p:spPr>
          <a:xfrm>
            <a:off x="1005840" y="2871216"/>
            <a:ext cx="3566160" cy="868680"/>
          </a:xfrm>
          <a:prstGeom prst="rect">
            <a:avLst/>
          </a:prstGeom>
          <a:noFill/>
        </p:spPr>
        <p:txBody>
          <a:bodyPr wrap="square" rtlCol="0" anchor="ctr"/>
          <a:lstStyle/>
          <a:p>
            <a:pPr marL="0" indent="0">
              <a:buNone/>
            </a:pPr>
            <a:r>
              <a:rPr lang="en-US" sz="1200" dirty="0">
                <a:solidFill>
                  <a:srgbClr val="263238"/>
                </a:solidFill>
                <a:latin typeface="Calibri" panose="020F0502020204030204" pitchFamily="34" charset="0"/>
                <a:ea typeface="Calibri" panose="020F0502020204030204" pitchFamily="34" charset="-122"/>
                <a:cs typeface="Calibri" panose="020F0502020204030204" pitchFamily="34" charset="-120"/>
              </a:rPr>
              <a:t>10-Turn Conversation</a:t>
            </a:r>
            <a:endParaRPr lang="en-US" sz="1200" dirty="0"/>
          </a:p>
          <a:p>
            <a:pPr marL="0" indent="0">
              <a:buNone/>
            </a:pPr>
            <a:r>
              <a:rPr lang="en-US" sz="1200" dirty="0">
                <a:solidFill>
                  <a:srgbClr val="263238"/>
                </a:solidFill>
                <a:latin typeface="Calibri" panose="020F0502020204030204" pitchFamily="34" charset="0"/>
                <a:ea typeface="Calibri" panose="020F0502020204030204" pitchFamily="34" charset="-122"/>
                <a:cs typeface="Calibri" panose="020F0502020204030204" pitchFamily="34" charset="-120"/>
              </a:rPr>
              <a:t>Max Loop</a:t>
            </a:r>
            <a:endParaRPr lang="en-US" sz="1200" dirty="0"/>
          </a:p>
        </p:txBody>
      </p:sp>
      <p:sp>
        <p:nvSpPr>
          <p:cNvPr id="20" name="Shape 18"/>
          <p:cNvSpPr/>
          <p:nvPr/>
        </p:nvSpPr>
        <p:spPr>
          <a:xfrm>
            <a:off x="2331720" y="3739896"/>
            <a:ext cx="73152" cy="182880"/>
          </a:xfrm>
          <a:prstGeom prst="rect">
            <a:avLst/>
          </a:prstGeom>
          <a:solidFill>
            <a:srgbClr val="607D8B"/>
          </a:solidFill>
        </p:spPr>
      </p:sp>
      <p:sp>
        <p:nvSpPr>
          <p:cNvPr id="21" name="Shape 19"/>
          <p:cNvSpPr/>
          <p:nvPr/>
        </p:nvSpPr>
        <p:spPr>
          <a:xfrm>
            <a:off x="274320" y="3895344"/>
            <a:ext cx="4389120" cy="86868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22" name="Shape 20"/>
          <p:cNvSpPr/>
          <p:nvPr/>
        </p:nvSpPr>
        <p:spPr>
          <a:xfrm>
            <a:off x="365760" y="4032504"/>
            <a:ext cx="502920" cy="502920"/>
          </a:xfrm>
          <a:prstGeom prst="ellipse">
            <a:avLst/>
          </a:prstGeom>
          <a:solidFill>
            <a:srgbClr val="E65100"/>
          </a:solidFill>
        </p:spPr>
      </p:sp>
      <p:sp>
        <p:nvSpPr>
          <p:cNvPr id="23" name="Text 21"/>
          <p:cNvSpPr/>
          <p:nvPr/>
        </p:nvSpPr>
        <p:spPr>
          <a:xfrm>
            <a:off x="365760" y="4032504"/>
            <a:ext cx="502920" cy="502920"/>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600" dirty="0"/>
          </a:p>
        </p:txBody>
      </p:sp>
      <p:sp>
        <p:nvSpPr>
          <p:cNvPr id="24" name="Text 22"/>
          <p:cNvSpPr/>
          <p:nvPr/>
        </p:nvSpPr>
        <p:spPr>
          <a:xfrm>
            <a:off x="1005840" y="3895344"/>
            <a:ext cx="3566160" cy="868680"/>
          </a:xfrm>
          <a:prstGeom prst="rect">
            <a:avLst/>
          </a:prstGeom>
          <a:noFill/>
        </p:spPr>
        <p:txBody>
          <a:bodyPr wrap="square" rtlCol="0" anchor="ctr"/>
          <a:lstStyle/>
          <a:p>
            <a:pPr marL="0" indent="0">
              <a:buNone/>
            </a:pPr>
            <a:r>
              <a:rPr lang="en-US" sz="1200" dirty="0">
                <a:solidFill>
                  <a:srgbClr val="263238"/>
                </a:solidFill>
                <a:latin typeface="Calibri" panose="020F0502020204030204" pitchFamily="34" charset="0"/>
                <a:ea typeface="Calibri" panose="020F0502020204030204" pitchFamily="34" charset="-122"/>
                <a:cs typeface="Calibri" panose="020F0502020204030204" pitchFamily="34" charset="-120"/>
              </a:rPr>
              <a:t>Action Space</a:t>
            </a:r>
            <a:endParaRPr lang="en-US" sz="1200" dirty="0"/>
          </a:p>
          <a:p>
            <a:pPr marL="0" indent="0">
              <a:buNone/>
            </a:pPr>
            <a:r>
              <a:rPr lang="en-US" sz="1200" dirty="0">
                <a:solidFill>
                  <a:srgbClr val="263238"/>
                </a:solidFill>
                <a:latin typeface="Calibri" panose="020F0502020204030204" pitchFamily="34" charset="0"/>
                <a:ea typeface="Calibri" panose="020F0502020204030204" pitchFamily="34" charset="-122"/>
                <a:cs typeface="Calibri" panose="020F0502020204030204" pitchFamily="34" charset="-120"/>
              </a:rPr>
              <a:t>{Hint, Encourage, Verify, Ask}</a:t>
            </a:r>
            <a:endParaRPr lang="en-US" sz="1200" dirty="0"/>
          </a:p>
        </p:txBody>
      </p:sp>
      <p:sp>
        <p:nvSpPr>
          <p:cNvPr id="25" name="Shape 23"/>
          <p:cNvSpPr/>
          <p:nvPr/>
        </p:nvSpPr>
        <p:spPr>
          <a:xfrm>
            <a:off x="4937760" y="777240"/>
            <a:ext cx="3977640" cy="411480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26" name="Text 24"/>
          <p:cNvSpPr/>
          <p:nvPr/>
        </p:nvSpPr>
        <p:spPr>
          <a:xfrm>
            <a:off x="5074920" y="868680"/>
            <a:ext cx="3703320" cy="274320"/>
          </a:xfrm>
          <a:prstGeom prst="rect">
            <a:avLst/>
          </a:prstGeom>
          <a:noFill/>
        </p:spPr>
        <p:txBody>
          <a:bodyPr wrap="square" rtlCol="0" anchor="ctr"/>
          <a:lstStyle/>
          <a:p>
            <a:pPr marL="0" indent="0">
              <a:buNone/>
            </a:pPr>
            <a:r>
              <a:rPr lang="en-US" sz="1200" b="1" dirty="0">
                <a:solidFill>
                  <a:srgbClr val="0D1B2A"/>
                </a:solidFill>
                <a:latin typeface="Calibri" panose="020F0502020204030204" pitchFamily="34" charset="0"/>
                <a:ea typeface="Calibri" panose="020F0502020204030204" pitchFamily="34" charset="-122"/>
                <a:cs typeface="Calibri" panose="020F0502020204030204" pitchFamily="34" charset="-120"/>
              </a:rPr>
              <a:t>Action Space — 4 Pedagogical Actions</a:t>
            </a:r>
            <a:endParaRPr lang="en-US" sz="1200" dirty="0"/>
          </a:p>
        </p:txBody>
      </p:sp>
      <p:sp>
        <p:nvSpPr>
          <p:cNvPr id="27" name="Shape 25"/>
          <p:cNvSpPr/>
          <p:nvPr/>
        </p:nvSpPr>
        <p:spPr>
          <a:xfrm>
            <a:off x="5074920" y="1261872"/>
            <a:ext cx="3657600" cy="658368"/>
          </a:xfrm>
          <a:prstGeom prst="rect">
            <a:avLst/>
          </a:prstGeom>
          <a:solidFill>
            <a:srgbClr val="1565C0">
              <a:alpha val="10000"/>
            </a:srgbClr>
          </a:solidFill>
          <a:ln w="12700">
            <a:solidFill>
              <a:srgbClr val="1565C0"/>
            </a:solidFill>
            <a:prstDash val="solid"/>
          </a:ln>
        </p:spPr>
      </p:sp>
      <p:sp>
        <p:nvSpPr>
          <p:cNvPr id="28" name="Text 26"/>
          <p:cNvSpPr/>
          <p:nvPr/>
        </p:nvSpPr>
        <p:spPr>
          <a:xfrm>
            <a:off x="5120640" y="1261872"/>
            <a:ext cx="365760" cy="658368"/>
          </a:xfrm>
          <a:prstGeom prst="rect">
            <a:avLst/>
          </a:prstGeom>
          <a:noFill/>
        </p:spPr>
        <p:txBody>
          <a:bodyPr wrap="square" rtlCol="0" anchor="ctr"/>
          <a:lstStyle/>
          <a:p>
            <a:pPr marL="0" indent="0" algn="ctr">
              <a:buNone/>
            </a:pPr>
            <a:r>
              <a:rPr lang="en-US" sz="1300" b="1" dirty="0">
                <a:solidFill>
                  <a:srgbClr val="1565C0"/>
                </a:solidFill>
                <a:latin typeface="Calibri" panose="020F0502020204030204" pitchFamily="34" charset="0"/>
                <a:ea typeface="Calibri" panose="020F0502020204030204" pitchFamily="34" charset="-122"/>
                <a:cs typeface="Calibri" panose="020F0502020204030204" pitchFamily="34" charset="-120"/>
              </a:rPr>
              <a:t>A1</a:t>
            </a:r>
            <a:endParaRPr lang="en-US" sz="1300" dirty="0"/>
          </a:p>
        </p:txBody>
      </p:sp>
      <p:sp>
        <p:nvSpPr>
          <p:cNvPr id="29" name="Text 27"/>
          <p:cNvSpPr/>
          <p:nvPr/>
        </p:nvSpPr>
        <p:spPr>
          <a:xfrm>
            <a:off x="5532120" y="1261872"/>
            <a:ext cx="3108960" cy="274320"/>
          </a:xfrm>
          <a:prstGeom prst="rect">
            <a:avLst/>
          </a:prstGeom>
          <a:noFill/>
        </p:spPr>
        <p:txBody>
          <a:bodyPr wrap="square" rtlCol="0" anchor="ctr"/>
          <a:lstStyle/>
          <a:p>
            <a:pPr marL="0" indent="0">
              <a:buNone/>
            </a:pPr>
            <a:r>
              <a:rPr lang="en-US" sz="1100" b="1" dirty="0">
                <a:solidFill>
                  <a:srgbClr val="1565C0"/>
                </a:solidFill>
                <a:latin typeface="Calibri" panose="020F0502020204030204" pitchFamily="34" charset="0"/>
                <a:ea typeface="Calibri" panose="020F0502020204030204" pitchFamily="34" charset="-122"/>
                <a:cs typeface="Calibri" panose="020F0502020204030204" pitchFamily="34" charset="-120"/>
              </a:rPr>
              <a:t>Instruct with Partial Hint</a:t>
            </a:r>
            <a:endParaRPr lang="en-US" sz="1100" dirty="0"/>
          </a:p>
        </p:txBody>
      </p:sp>
      <p:sp>
        <p:nvSpPr>
          <p:cNvPr id="30" name="Text 28"/>
          <p:cNvSpPr/>
          <p:nvPr/>
        </p:nvSpPr>
        <p:spPr>
          <a:xfrm>
            <a:off x="5532120" y="1499616"/>
            <a:ext cx="3108960" cy="274320"/>
          </a:xfrm>
          <a:prstGeom prst="rect">
            <a:avLst/>
          </a:prstGeom>
          <a:noFill/>
        </p:spPr>
        <p:txBody>
          <a:bodyPr wrap="square" rtlCol="0" anchor="ctr"/>
          <a:lstStyle/>
          <a:p>
            <a:pPr marL="0" indent="0">
              <a:buNone/>
            </a:pPr>
            <a:r>
              <a:rPr lang="en-US" sz="1000" i="1" dirty="0">
                <a:solidFill>
                  <a:srgbClr val="607D8B"/>
                </a:solidFill>
                <a:latin typeface="Calibri" panose="020F0502020204030204" pitchFamily="34" charset="0"/>
                <a:ea typeface="Calibri" panose="020F0502020204030204" pitchFamily="34" charset="-122"/>
                <a:cs typeface="Calibri" panose="020F0502020204030204" pitchFamily="34" charset="-120"/>
              </a:rPr>
              <a:t>Give a leading clue, never the answer</a:t>
            </a:r>
            <a:endParaRPr lang="en-US" sz="1000" dirty="0"/>
          </a:p>
        </p:txBody>
      </p:sp>
      <p:sp>
        <p:nvSpPr>
          <p:cNvPr id="31" name="Shape 29"/>
          <p:cNvSpPr/>
          <p:nvPr/>
        </p:nvSpPr>
        <p:spPr>
          <a:xfrm>
            <a:off x="5074920" y="2011680"/>
            <a:ext cx="3657600" cy="658368"/>
          </a:xfrm>
          <a:prstGeom prst="rect">
            <a:avLst/>
          </a:prstGeom>
          <a:solidFill>
            <a:srgbClr val="00897B">
              <a:alpha val="10000"/>
            </a:srgbClr>
          </a:solidFill>
          <a:ln w="12700">
            <a:solidFill>
              <a:srgbClr val="00897B"/>
            </a:solidFill>
            <a:prstDash val="solid"/>
          </a:ln>
        </p:spPr>
      </p:sp>
      <p:sp>
        <p:nvSpPr>
          <p:cNvPr id="32" name="Text 30"/>
          <p:cNvSpPr/>
          <p:nvPr/>
        </p:nvSpPr>
        <p:spPr>
          <a:xfrm>
            <a:off x="5120640" y="2011680"/>
            <a:ext cx="365760" cy="658368"/>
          </a:xfrm>
          <a:prstGeom prst="rect">
            <a:avLst/>
          </a:prstGeom>
          <a:noFill/>
        </p:spPr>
        <p:txBody>
          <a:bodyPr wrap="square" rtlCol="0" anchor="ctr"/>
          <a:lstStyle/>
          <a:p>
            <a:pPr marL="0" indent="0" algn="ctr">
              <a:buNone/>
            </a:pPr>
            <a:r>
              <a:rPr lang="en-US" sz="1300" b="1" dirty="0">
                <a:solidFill>
                  <a:srgbClr val="00897B"/>
                </a:solidFill>
                <a:latin typeface="Calibri" panose="020F0502020204030204" pitchFamily="34" charset="0"/>
                <a:ea typeface="Calibri" panose="020F0502020204030204" pitchFamily="34" charset="-122"/>
                <a:cs typeface="Calibri" panose="020F0502020204030204" pitchFamily="34" charset="-120"/>
              </a:rPr>
              <a:t>A2</a:t>
            </a:r>
            <a:endParaRPr lang="en-US" sz="1300" dirty="0"/>
          </a:p>
        </p:txBody>
      </p:sp>
      <p:sp>
        <p:nvSpPr>
          <p:cNvPr id="33" name="Text 31"/>
          <p:cNvSpPr/>
          <p:nvPr/>
        </p:nvSpPr>
        <p:spPr>
          <a:xfrm>
            <a:off x="5532120" y="2011680"/>
            <a:ext cx="3108960" cy="274320"/>
          </a:xfrm>
          <a:prstGeom prst="rect">
            <a:avLst/>
          </a:prstGeom>
          <a:noFill/>
        </p:spPr>
        <p:txBody>
          <a:bodyPr wrap="square" rtlCol="0" anchor="ctr"/>
          <a:lstStyle/>
          <a:p>
            <a:pPr marL="0" indent="0">
              <a:buNone/>
            </a:pPr>
            <a:r>
              <a:rPr lang="en-US" sz="1100" b="1" dirty="0">
                <a:solidFill>
                  <a:srgbClr val="00897B"/>
                </a:solidFill>
                <a:latin typeface="Calibri" panose="020F0502020204030204" pitchFamily="34" charset="0"/>
                <a:ea typeface="Calibri" panose="020F0502020204030204" pitchFamily="34" charset="-122"/>
                <a:cs typeface="Calibri" panose="020F0502020204030204" pitchFamily="34" charset="-120"/>
              </a:rPr>
              <a:t>Encourage</a:t>
            </a:r>
            <a:endParaRPr lang="en-US" sz="1100" dirty="0"/>
          </a:p>
        </p:txBody>
      </p:sp>
      <p:sp>
        <p:nvSpPr>
          <p:cNvPr id="34" name="Text 32"/>
          <p:cNvSpPr/>
          <p:nvPr/>
        </p:nvSpPr>
        <p:spPr>
          <a:xfrm>
            <a:off x="5532120" y="2249424"/>
            <a:ext cx="3108960" cy="274320"/>
          </a:xfrm>
          <a:prstGeom prst="rect">
            <a:avLst/>
          </a:prstGeom>
          <a:noFill/>
        </p:spPr>
        <p:txBody>
          <a:bodyPr wrap="square" rtlCol="0" anchor="ctr"/>
          <a:lstStyle/>
          <a:p>
            <a:pPr marL="0" indent="0">
              <a:buNone/>
            </a:pPr>
            <a:r>
              <a:rPr lang="en-US" sz="1000" i="1" dirty="0">
                <a:solidFill>
                  <a:srgbClr val="607D8B"/>
                </a:solidFill>
                <a:latin typeface="Calibri" panose="020F0502020204030204" pitchFamily="34" charset="0"/>
                <a:ea typeface="Calibri" panose="020F0502020204030204" pitchFamily="34" charset="-122"/>
                <a:cs typeface="Calibri" panose="020F0502020204030204" pitchFamily="34" charset="-120"/>
              </a:rPr>
              <a:t>Emotional support when frustration detected</a:t>
            </a:r>
            <a:endParaRPr lang="en-US" sz="1000" dirty="0"/>
          </a:p>
        </p:txBody>
      </p:sp>
      <p:sp>
        <p:nvSpPr>
          <p:cNvPr id="35" name="Shape 33"/>
          <p:cNvSpPr/>
          <p:nvPr/>
        </p:nvSpPr>
        <p:spPr>
          <a:xfrm>
            <a:off x="5074920" y="2761488"/>
            <a:ext cx="3657600" cy="658368"/>
          </a:xfrm>
          <a:prstGeom prst="rect">
            <a:avLst/>
          </a:prstGeom>
          <a:solidFill>
            <a:srgbClr val="6A1B9A">
              <a:alpha val="10000"/>
            </a:srgbClr>
          </a:solidFill>
          <a:ln w="12700">
            <a:solidFill>
              <a:srgbClr val="6A1B9A"/>
            </a:solidFill>
            <a:prstDash val="solid"/>
          </a:ln>
        </p:spPr>
      </p:sp>
      <p:sp>
        <p:nvSpPr>
          <p:cNvPr id="36" name="Text 34"/>
          <p:cNvSpPr/>
          <p:nvPr/>
        </p:nvSpPr>
        <p:spPr>
          <a:xfrm>
            <a:off x="5120640" y="2761488"/>
            <a:ext cx="365760" cy="658368"/>
          </a:xfrm>
          <a:prstGeom prst="rect">
            <a:avLst/>
          </a:prstGeom>
          <a:noFill/>
        </p:spPr>
        <p:txBody>
          <a:bodyPr wrap="square" rtlCol="0" anchor="ctr"/>
          <a:lstStyle/>
          <a:p>
            <a:pPr marL="0" indent="0" algn="ctr">
              <a:buNone/>
            </a:pPr>
            <a:r>
              <a:rPr lang="en-US" sz="1300" b="1" dirty="0">
                <a:solidFill>
                  <a:srgbClr val="6A1B9A"/>
                </a:solidFill>
                <a:latin typeface="Calibri" panose="020F0502020204030204" pitchFamily="34" charset="0"/>
                <a:ea typeface="Calibri" panose="020F0502020204030204" pitchFamily="34" charset="-122"/>
                <a:cs typeface="Calibri" panose="020F0502020204030204" pitchFamily="34" charset="-120"/>
              </a:rPr>
              <a:t>A3</a:t>
            </a:r>
            <a:endParaRPr lang="en-US" sz="1300" dirty="0"/>
          </a:p>
        </p:txBody>
      </p:sp>
      <p:sp>
        <p:nvSpPr>
          <p:cNvPr id="37" name="Text 35"/>
          <p:cNvSpPr/>
          <p:nvPr/>
        </p:nvSpPr>
        <p:spPr>
          <a:xfrm>
            <a:off x="5532120" y="2761488"/>
            <a:ext cx="3108960" cy="274320"/>
          </a:xfrm>
          <a:prstGeom prst="rect">
            <a:avLst/>
          </a:prstGeom>
          <a:noFill/>
        </p:spPr>
        <p:txBody>
          <a:bodyPr wrap="square" rtlCol="0" anchor="ctr"/>
          <a:lstStyle/>
          <a:p>
            <a:pPr marL="0" indent="0">
              <a:buNone/>
            </a:pPr>
            <a:r>
              <a:rPr lang="en-US" sz="1100" b="1" dirty="0">
                <a:solidFill>
                  <a:srgbClr val="6A1B9A"/>
                </a:solidFill>
                <a:latin typeface="Calibri" panose="020F0502020204030204" pitchFamily="34" charset="0"/>
                <a:ea typeface="Calibri" panose="020F0502020204030204" pitchFamily="34" charset="-122"/>
                <a:cs typeface="Calibri" panose="020F0502020204030204" pitchFamily="34" charset="-120"/>
              </a:rPr>
              <a:t>Verify Sub-step</a:t>
            </a:r>
            <a:endParaRPr lang="en-US" sz="1100" dirty="0"/>
          </a:p>
        </p:txBody>
      </p:sp>
      <p:sp>
        <p:nvSpPr>
          <p:cNvPr id="38" name="Text 36"/>
          <p:cNvSpPr/>
          <p:nvPr/>
        </p:nvSpPr>
        <p:spPr>
          <a:xfrm>
            <a:off x="5532120" y="2999232"/>
            <a:ext cx="3108960" cy="274320"/>
          </a:xfrm>
          <a:prstGeom prst="rect">
            <a:avLst/>
          </a:prstGeom>
          <a:noFill/>
        </p:spPr>
        <p:txBody>
          <a:bodyPr wrap="square" rtlCol="0" anchor="ctr"/>
          <a:lstStyle/>
          <a:p>
            <a:pPr marL="0" indent="0">
              <a:buNone/>
            </a:pPr>
            <a:r>
              <a:rPr lang="en-US" sz="1000" i="1" dirty="0">
                <a:solidFill>
                  <a:srgbClr val="607D8B"/>
                </a:solidFill>
                <a:latin typeface="Calibri" panose="020F0502020204030204" pitchFamily="34" charset="0"/>
                <a:ea typeface="Calibri" panose="020F0502020204030204" pitchFamily="34" charset="-122"/>
                <a:cs typeface="Calibri" panose="020F0502020204030204" pitchFamily="34" charset="-120"/>
              </a:rPr>
              <a:t>Check student's intermediate reasoning</a:t>
            </a:r>
            <a:endParaRPr lang="en-US" sz="1000" dirty="0"/>
          </a:p>
        </p:txBody>
      </p:sp>
      <p:sp>
        <p:nvSpPr>
          <p:cNvPr id="39" name="Shape 37"/>
          <p:cNvSpPr/>
          <p:nvPr/>
        </p:nvSpPr>
        <p:spPr>
          <a:xfrm>
            <a:off x="5074920" y="3511296"/>
            <a:ext cx="3657600" cy="658368"/>
          </a:xfrm>
          <a:prstGeom prst="rect">
            <a:avLst/>
          </a:prstGeom>
          <a:solidFill>
            <a:srgbClr val="E65100">
              <a:alpha val="10000"/>
            </a:srgbClr>
          </a:solidFill>
          <a:ln w="12700">
            <a:solidFill>
              <a:srgbClr val="E65100"/>
            </a:solidFill>
            <a:prstDash val="solid"/>
          </a:ln>
        </p:spPr>
      </p:sp>
      <p:sp>
        <p:nvSpPr>
          <p:cNvPr id="40" name="Text 38"/>
          <p:cNvSpPr/>
          <p:nvPr/>
        </p:nvSpPr>
        <p:spPr>
          <a:xfrm>
            <a:off x="5120640" y="3511296"/>
            <a:ext cx="365760" cy="658368"/>
          </a:xfrm>
          <a:prstGeom prst="rect">
            <a:avLst/>
          </a:prstGeom>
          <a:noFill/>
        </p:spPr>
        <p:txBody>
          <a:bodyPr wrap="square" rtlCol="0" anchor="ctr"/>
          <a:lstStyle/>
          <a:p>
            <a:pPr marL="0" indent="0" algn="ctr">
              <a:buNone/>
            </a:pPr>
            <a:r>
              <a:rPr lang="en-US" sz="1300" b="1" dirty="0">
                <a:solidFill>
                  <a:srgbClr val="E65100"/>
                </a:solidFill>
                <a:latin typeface="Calibri" panose="020F0502020204030204" pitchFamily="34" charset="0"/>
                <a:ea typeface="Calibri" panose="020F0502020204030204" pitchFamily="34" charset="-122"/>
                <a:cs typeface="Calibri" panose="020F0502020204030204" pitchFamily="34" charset="-120"/>
              </a:rPr>
              <a:t>A4</a:t>
            </a:r>
            <a:endParaRPr lang="en-US" sz="1300" dirty="0"/>
          </a:p>
        </p:txBody>
      </p:sp>
      <p:sp>
        <p:nvSpPr>
          <p:cNvPr id="41" name="Text 39"/>
          <p:cNvSpPr/>
          <p:nvPr/>
        </p:nvSpPr>
        <p:spPr>
          <a:xfrm>
            <a:off x="5532120" y="3511296"/>
            <a:ext cx="3108960" cy="274320"/>
          </a:xfrm>
          <a:prstGeom prst="rect">
            <a:avLst/>
          </a:prstGeom>
          <a:noFill/>
        </p:spPr>
        <p:txBody>
          <a:bodyPr wrap="square" rtlCol="0" anchor="ctr"/>
          <a:lstStyle/>
          <a:p>
            <a:pPr marL="0" indent="0">
              <a:buNone/>
            </a:pPr>
            <a:r>
              <a:rPr lang="en-US" sz="1100" b="1" dirty="0">
                <a:solidFill>
                  <a:srgbClr val="E65100"/>
                </a:solidFill>
                <a:latin typeface="Calibri" panose="020F0502020204030204" pitchFamily="34" charset="0"/>
                <a:ea typeface="Calibri" panose="020F0502020204030204" pitchFamily="34" charset="-122"/>
                <a:cs typeface="Calibri" panose="020F0502020204030204" pitchFamily="34" charset="-120"/>
              </a:rPr>
              <a:t>Ask Guiding Question</a:t>
            </a:r>
            <a:endParaRPr lang="en-US" sz="1100" dirty="0"/>
          </a:p>
        </p:txBody>
      </p:sp>
      <p:sp>
        <p:nvSpPr>
          <p:cNvPr id="42" name="Text 40"/>
          <p:cNvSpPr/>
          <p:nvPr/>
        </p:nvSpPr>
        <p:spPr>
          <a:xfrm>
            <a:off x="5532120" y="3749040"/>
            <a:ext cx="3108960" cy="274320"/>
          </a:xfrm>
          <a:prstGeom prst="rect">
            <a:avLst/>
          </a:prstGeom>
          <a:noFill/>
        </p:spPr>
        <p:txBody>
          <a:bodyPr wrap="square" rtlCol="0" anchor="ctr"/>
          <a:lstStyle/>
          <a:p>
            <a:pPr marL="0" indent="0">
              <a:buNone/>
            </a:pPr>
            <a:r>
              <a:rPr lang="en-US" sz="1000" i="1" dirty="0">
                <a:solidFill>
                  <a:srgbClr val="607D8B"/>
                </a:solidFill>
                <a:latin typeface="Calibri" panose="020F0502020204030204" pitchFamily="34" charset="0"/>
                <a:ea typeface="Calibri" panose="020F0502020204030204" pitchFamily="34" charset="-122"/>
                <a:cs typeface="Calibri" panose="020F0502020204030204" pitchFamily="34" charset="-120"/>
              </a:rPr>
              <a:t>Socratic method — lead to self-discovery</a:t>
            </a:r>
            <a:endParaRPr lang="en-US" sz="1000" dirty="0"/>
          </a:p>
        </p:txBody>
      </p:sp>
      <p:sp>
        <p:nvSpPr>
          <p:cNvPr id="43" name="Shape 41"/>
          <p:cNvSpPr/>
          <p:nvPr/>
        </p:nvSpPr>
        <p:spPr>
          <a:xfrm>
            <a:off x="5074920" y="4279392"/>
            <a:ext cx="3657600" cy="457200"/>
          </a:xfrm>
          <a:prstGeom prst="rect">
            <a:avLst/>
          </a:prstGeom>
          <a:solidFill>
            <a:srgbClr val="E8F5E9"/>
          </a:solidFill>
          <a:ln w="12700">
            <a:solidFill>
              <a:srgbClr val="00897B"/>
            </a:solidFill>
            <a:prstDash val="solid"/>
          </a:ln>
        </p:spPr>
      </p:sp>
      <p:sp>
        <p:nvSpPr>
          <p:cNvPr id="44" name="Text 42"/>
          <p:cNvSpPr/>
          <p:nvPr/>
        </p:nvSpPr>
        <p:spPr>
          <a:xfrm>
            <a:off x="5166360" y="4306824"/>
            <a:ext cx="3474720" cy="402336"/>
          </a:xfrm>
          <a:prstGeom prst="rect">
            <a:avLst/>
          </a:prstGeom>
          <a:noFill/>
        </p:spPr>
        <p:txBody>
          <a:bodyPr wrap="square" rtlCol="0" anchor="ctr"/>
          <a:lstStyle/>
          <a:p>
            <a:pPr marL="0" indent="0">
              <a:buNone/>
            </a:pPr>
            <a:r>
              <a:rPr lang="en-US" sz="1000" dirty="0">
                <a:solidFill>
                  <a:srgbClr val="00897B"/>
                </a:solidFill>
                <a:latin typeface="Calibri" panose="020F0502020204030204" pitchFamily="34" charset="0"/>
                <a:ea typeface="Calibri" panose="020F0502020204030204" pitchFamily="34" charset="-122"/>
                <a:cs typeface="Calibri" panose="020F0502020204030204" pitchFamily="34" charset="-120"/>
              </a:rPr>
              <a:t>✓ Free Groq API replaced expensive Claude 3 Sonnet — Zero cost data generation</a:t>
            </a:r>
            <a:endParaRPr lang="en-US" sz="1000" dirty="0"/>
          </a:p>
        </p:txBody>
      </p:sp>
      <p:sp>
        <p:nvSpPr>
          <p:cNvPr id="45" name="Text 43"/>
          <p:cNvSpPr/>
          <p:nvPr/>
        </p:nvSpPr>
        <p:spPr>
          <a:xfrm>
            <a:off x="8046720" y="4846320"/>
            <a:ext cx="914400" cy="274320"/>
          </a:xfrm>
          <a:prstGeom prst="rect">
            <a:avLst/>
          </a:prstGeom>
          <a:noFill/>
        </p:spPr>
        <p:txBody>
          <a:bodyPr wrap="square" rtlCol="0" anchor="ctr"/>
          <a:lstStyle/>
          <a:p>
            <a:pPr marL="0" indent="0" algn="r">
              <a:buNone/>
            </a:pPr>
            <a:r>
              <a:rPr lang="en-US" sz="1000" dirty="0">
                <a:solidFill>
                  <a:srgbClr val="607D8B"/>
                </a:solidFill>
                <a:latin typeface="Calibri" panose="020F0502020204030204" pitchFamily="34" charset="0"/>
                <a:ea typeface="Calibri" panose="020F0502020204030204" pitchFamily="34" charset="-122"/>
                <a:cs typeface="Calibri" panose="020F0502020204030204" pitchFamily="34" charset="-120"/>
              </a:rPr>
              <a:t>5 / 15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p:spPr>
      </p:sp>
      <p:sp>
        <p:nvSpPr>
          <p:cNvPr id="3" name="Text 1"/>
          <p:cNvSpPr/>
          <p:nvPr/>
        </p:nvSpPr>
        <p:spPr>
          <a:xfrm>
            <a:off x="274320" y="0"/>
            <a:ext cx="8595360" cy="68580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Compressing Dialogue into a Latent State</a:t>
            </a:r>
            <a:endParaRPr lang="en-US" sz="2200" dirty="0"/>
          </a:p>
        </p:txBody>
      </p:sp>
      <p:graphicFrame>
        <p:nvGraphicFramePr>
          <p:cNvPr id="4" name="Chart 0"/>
          <p:cNvGraphicFramePr/>
          <p:nvPr/>
        </p:nvGraphicFramePr>
        <p:xfrm>
          <a:off x="274320" y="777240"/>
          <a:ext cx="4389120" cy="402336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4892040" y="804672"/>
            <a:ext cx="4069080" cy="1207008"/>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6" name="Shape 3"/>
          <p:cNvSpPr/>
          <p:nvPr/>
        </p:nvSpPr>
        <p:spPr>
          <a:xfrm>
            <a:off x="4892040" y="804672"/>
            <a:ext cx="73152" cy="1207008"/>
          </a:xfrm>
          <a:prstGeom prst="rect">
            <a:avLst/>
          </a:prstGeom>
          <a:solidFill>
            <a:srgbClr val="1565C0"/>
          </a:solidFill>
        </p:spPr>
      </p:sp>
      <p:sp>
        <p:nvSpPr>
          <p:cNvPr id="7" name="Text 4"/>
          <p:cNvSpPr/>
          <p:nvPr/>
        </p:nvSpPr>
        <p:spPr>
          <a:xfrm>
            <a:off x="5120640" y="868680"/>
            <a:ext cx="3657600" cy="256032"/>
          </a:xfrm>
          <a:prstGeom prst="rect">
            <a:avLst/>
          </a:prstGeom>
          <a:noFill/>
        </p:spPr>
        <p:txBody>
          <a:bodyPr wrap="square" rtlCol="0" anchor="ctr"/>
          <a:lstStyle/>
          <a:p>
            <a:pPr marL="0" indent="0">
              <a:buNone/>
            </a:pPr>
            <a:r>
              <a:rPr lang="en-US" sz="1200" b="1" dirty="0">
                <a:solidFill>
                  <a:srgbClr val="0D1B2A"/>
                </a:solidFill>
                <a:latin typeface="Calibri" panose="020F0502020204030204" pitchFamily="34" charset="0"/>
                <a:ea typeface="Calibri" panose="020F0502020204030204" pitchFamily="34" charset="-122"/>
                <a:cs typeface="Calibri" panose="020F0502020204030204" pitchFamily="34" charset="-120"/>
              </a:rPr>
              <a:t>Why Compress?</a:t>
            </a:r>
            <a:endParaRPr lang="en-US" sz="1200" dirty="0"/>
          </a:p>
        </p:txBody>
      </p:sp>
      <p:sp>
        <p:nvSpPr>
          <p:cNvPr id="8" name="Text 5"/>
          <p:cNvSpPr/>
          <p:nvPr/>
        </p:nvSpPr>
        <p:spPr>
          <a:xfrm>
            <a:off x="5120640" y="1097280"/>
            <a:ext cx="3657600" cy="777240"/>
          </a:xfrm>
          <a:prstGeom prst="rect">
            <a:avLst/>
          </a:prstGeom>
          <a:noFill/>
        </p:spPr>
        <p:txBody>
          <a:bodyPr wrap="square" rtlCol="0" anchor="ctr"/>
          <a:lstStyle/>
          <a:p>
            <a:pPr marL="0" indent="0">
              <a:buNone/>
            </a:pPr>
            <a:r>
              <a:rPr lang="en-US" sz="1100" dirty="0">
                <a:solidFill>
                  <a:srgbClr val="263238"/>
                </a:solidFill>
                <a:latin typeface="Calibri" panose="020F0502020204030204" pitchFamily="34" charset="0"/>
                <a:ea typeface="Calibri" panose="020F0502020204030204" pitchFamily="34" charset="-122"/>
                <a:cs typeface="Calibri" panose="020F0502020204030204" pitchFamily="34" charset="-120"/>
              </a:rPr>
              <a:t>Turn 10 dialogue = 18,000 tokens. Standard RL algorithms need fixed-size input vectors, not text.</a:t>
            </a:r>
            <a:endParaRPr lang="en-US" sz="1100" dirty="0"/>
          </a:p>
        </p:txBody>
      </p:sp>
      <p:sp>
        <p:nvSpPr>
          <p:cNvPr id="9" name="Shape 6"/>
          <p:cNvSpPr/>
          <p:nvPr/>
        </p:nvSpPr>
        <p:spPr>
          <a:xfrm>
            <a:off x="4892040" y="2176272"/>
            <a:ext cx="4069080" cy="1207008"/>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10" name="Shape 7"/>
          <p:cNvSpPr/>
          <p:nvPr/>
        </p:nvSpPr>
        <p:spPr>
          <a:xfrm>
            <a:off x="4892040" y="2176272"/>
            <a:ext cx="73152" cy="1207008"/>
          </a:xfrm>
          <a:prstGeom prst="rect">
            <a:avLst/>
          </a:prstGeom>
          <a:solidFill>
            <a:srgbClr val="1565C0"/>
          </a:solidFill>
        </p:spPr>
      </p:sp>
      <p:sp>
        <p:nvSpPr>
          <p:cNvPr id="11" name="Text 8"/>
          <p:cNvSpPr/>
          <p:nvPr/>
        </p:nvSpPr>
        <p:spPr>
          <a:xfrm>
            <a:off x="5120640" y="2240280"/>
            <a:ext cx="3657600" cy="256032"/>
          </a:xfrm>
          <a:prstGeom prst="rect">
            <a:avLst/>
          </a:prstGeom>
          <a:noFill/>
        </p:spPr>
        <p:txBody>
          <a:bodyPr wrap="square" rtlCol="0" anchor="ctr"/>
          <a:lstStyle/>
          <a:p>
            <a:pPr marL="0" indent="0">
              <a:buNone/>
            </a:pPr>
            <a:r>
              <a:rPr lang="en-US" sz="1200" b="1" dirty="0">
                <a:solidFill>
                  <a:srgbClr val="0D1B2A"/>
                </a:solidFill>
                <a:latin typeface="Calibri" panose="020F0502020204030204" pitchFamily="34" charset="0"/>
                <a:ea typeface="Calibri" panose="020F0502020204030204" pitchFamily="34" charset="-122"/>
                <a:cs typeface="Calibri" panose="020F0502020204030204" pitchFamily="34" charset="-120"/>
              </a:rPr>
              <a:t>LLM as Diagnostic Tool</a:t>
            </a:r>
            <a:endParaRPr lang="en-US" sz="1200" dirty="0"/>
          </a:p>
        </p:txBody>
      </p:sp>
      <p:sp>
        <p:nvSpPr>
          <p:cNvPr id="12" name="Text 9"/>
          <p:cNvSpPr/>
          <p:nvPr/>
        </p:nvSpPr>
        <p:spPr>
          <a:xfrm>
            <a:off x="5120640" y="2468880"/>
            <a:ext cx="3657600" cy="777240"/>
          </a:xfrm>
          <a:prstGeom prst="rect">
            <a:avLst/>
          </a:prstGeom>
          <a:noFill/>
        </p:spPr>
        <p:txBody>
          <a:bodyPr wrap="square" rtlCol="0" anchor="ctr"/>
          <a:lstStyle/>
          <a:p>
            <a:pPr marL="0" indent="0">
              <a:buNone/>
            </a:pPr>
            <a:r>
              <a:rPr lang="en-US" sz="1100" dirty="0">
                <a:solidFill>
                  <a:srgbClr val="263238"/>
                </a:solidFill>
                <a:latin typeface="Calibri" panose="020F0502020204030204" pitchFamily="34" charset="0"/>
                <a:ea typeface="Calibri" panose="020F0502020204030204" pitchFamily="34" charset="-122"/>
                <a:cs typeface="Calibri" panose="020F0502020204030204" pitchFamily="34" charset="-120"/>
              </a:rPr>
              <a:t>We prompt Llama-3 to answer 25 diagnostic questions about the student, returning a JSON array of 25 numbers per turn.</a:t>
            </a:r>
            <a:endParaRPr lang="en-US" sz="1100" dirty="0"/>
          </a:p>
        </p:txBody>
      </p:sp>
      <p:sp>
        <p:nvSpPr>
          <p:cNvPr id="13" name="Shape 10"/>
          <p:cNvSpPr/>
          <p:nvPr/>
        </p:nvSpPr>
        <p:spPr>
          <a:xfrm>
            <a:off x="4892040" y="3547872"/>
            <a:ext cx="4069080" cy="1207008"/>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14" name="Shape 11"/>
          <p:cNvSpPr/>
          <p:nvPr/>
        </p:nvSpPr>
        <p:spPr>
          <a:xfrm>
            <a:off x="4892040" y="3547872"/>
            <a:ext cx="73152" cy="1207008"/>
          </a:xfrm>
          <a:prstGeom prst="rect">
            <a:avLst/>
          </a:prstGeom>
          <a:solidFill>
            <a:srgbClr val="1565C0"/>
          </a:solidFill>
        </p:spPr>
      </p:sp>
      <p:sp>
        <p:nvSpPr>
          <p:cNvPr id="15" name="Text 12"/>
          <p:cNvSpPr/>
          <p:nvPr/>
        </p:nvSpPr>
        <p:spPr>
          <a:xfrm>
            <a:off x="5120640" y="3611880"/>
            <a:ext cx="3657600" cy="256032"/>
          </a:xfrm>
          <a:prstGeom prst="rect">
            <a:avLst/>
          </a:prstGeom>
          <a:noFill/>
        </p:spPr>
        <p:txBody>
          <a:bodyPr wrap="square" rtlCol="0" anchor="ctr"/>
          <a:lstStyle/>
          <a:p>
            <a:pPr marL="0" indent="0">
              <a:buNone/>
            </a:pPr>
            <a:r>
              <a:rPr lang="en-US" sz="1200" b="1" dirty="0">
                <a:solidFill>
                  <a:srgbClr val="0D1B2A"/>
                </a:solidFill>
                <a:latin typeface="Calibri" panose="020F0502020204030204" pitchFamily="34" charset="0"/>
                <a:ea typeface="Calibri" panose="020F0502020204030204" pitchFamily="34" charset="-122"/>
                <a:cs typeface="Calibri" panose="020F0502020204030204" pitchFamily="34" charset="-120"/>
              </a:rPr>
              <a:t>Compression Ratio</a:t>
            </a:r>
            <a:endParaRPr lang="en-US" sz="1200" dirty="0"/>
          </a:p>
        </p:txBody>
      </p:sp>
      <p:sp>
        <p:nvSpPr>
          <p:cNvPr id="16" name="Text 13"/>
          <p:cNvSpPr/>
          <p:nvPr/>
        </p:nvSpPr>
        <p:spPr>
          <a:xfrm>
            <a:off x="5120640" y="3840480"/>
            <a:ext cx="3657600" cy="777240"/>
          </a:xfrm>
          <a:prstGeom prst="rect">
            <a:avLst/>
          </a:prstGeom>
          <a:noFill/>
        </p:spPr>
        <p:txBody>
          <a:bodyPr wrap="square" rtlCol="0" anchor="ctr"/>
          <a:lstStyle/>
          <a:p>
            <a:pPr marL="0" indent="0">
              <a:buNone/>
            </a:pPr>
            <a:r>
              <a:rPr lang="en-US" sz="1100" dirty="0">
                <a:solidFill>
                  <a:srgbClr val="263238"/>
                </a:solidFill>
                <a:latin typeface="Calibri" panose="020F0502020204030204" pitchFamily="34" charset="0"/>
                <a:ea typeface="Calibri" panose="020F0502020204030204" pitchFamily="34" charset="-122"/>
                <a:cs typeface="Calibri" panose="020F0502020204030204" pitchFamily="34" charset="-120"/>
              </a:rPr>
              <a:t>18,000 tokens → 25 floats. 720:1 compression while preserving behavioral signals for RL.</a:t>
            </a:r>
            <a:endParaRPr lang="en-US" sz="1100" dirty="0"/>
          </a:p>
        </p:txBody>
      </p:sp>
      <p:sp>
        <p:nvSpPr>
          <p:cNvPr id="17" name="Text 14"/>
          <p:cNvSpPr/>
          <p:nvPr/>
        </p:nvSpPr>
        <p:spPr>
          <a:xfrm>
            <a:off x="8046720" y="4846320"/>
            <a:ext cx="914400" cy="274320"/>
          </a:xfrm>
          <a:prstGeom prst="rect">
            <a:avLst/>
          </a:prstGeom>
          <a:noFill/>
        </p:spPr>
        <p:txBody>
          <a:bodyPr wrap="square" rtlCol="0" anchor="ctr"/>
          <a:lstStyle/>
          <a:p>
            <a:pPr marL="0" indent="0" algn="r">
              <a:buNone/>
            </a:pPr>
            <a:r>
              <a:rPr lang="en-US" sz="1000" dirty="0">
                <a:solidFill>
                  <a:srgbClr val="607D8B"/>
                </a:solidFill>
                <a:latin typeface="Calibri" panose="020F0502020204030204" pitchFamily="34" charset="0"/>
                <a:ea typeface="Calibri" panose="020F0502020204030204" pitchFamily="34" charset="-122"/>
                <a:cs typeface="Calibri" panose="020F0502020204030204" pitchFamily="34" charset="-120"/>
              </a:rPr>
              <a:t>6 / 15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565C0"/>
          </a:solidFill>
        </p:spPr>
      </p:sp>
      <p:sp>
        <p:nvSpPr>
          <p:cNvPr id="3" name="Text 1"/>
          <p:cNvSpPr/>
          <p:nvPr/>
        </p:nvSpPr>
        <p:spPr>
          <a:xfrm>
            <a:off x="274320" y="0"/>
            <a:ext cx="8595360" cy="68580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Engineering Beyond the Baseline: Solving Generalizability</a:t>
            </a:r>
            <a:endParaRPr lang="en-US" sz="2200" dirty="0"/>
          </a:p>
        </p:txBody>
      </p:sp>
      <p:sp>
        <p:nvSpPr>
          <p:cNvPr id="4" name="Shape 2"/>
          <p:cNvSpPr/>
          <p:nvPr/>
        </p:nvSpPr>
        <p:spPr>
          <a:xfrm>
            <a:off x="274320" y="822960"/>
            <a:ext cx="4297680" cy="201168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5" name="Shape 3"/>
          <p:cNvSpPr/>
          <p:nvPr/>
        </p:nvSpPr>
        <p:spPr>
          <a:xfrm>
            <a:off x="274320" y="822960"/>
            <a:ext cx="4297680" cy="384048"/>
          </a:xfrm>
          <a:prstGeom prst="rect">
            <a:avLst/>
          </a:prstGeom>
          <a:solidFill>
            <a:srgbClr val="1565C0"/>
          </a:solidFill>
        </p:spPr>
      </p:sp>
      <p:sp>
        <p:nvSpPr>
          <p:cNvPr id="6" name="Text 4"/>
          <p:cNvSpPr/>
          <p:nvPr/>
        </p:nvSpPr>
        <p:spPr>
          <a:xfrm>
            <a:off x="411480" y="822960"/>
            <a:ext cx="4023360" cy="384048"/>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  409D Context-Aware State Vector</a:t>
            </a:r>
            <a:endParaRPr lang="en-US" sz="1200" dirty="0"/>
          </a:p>
        </p:txBody>
      </p:sp>
      <p:sp>
        <p:nvSpPr>
          <p:cNvPr id="7" name="Text 5"/>
          <p:cNvSpPr/>
          <p:nvPr/>
        </p:nvSpPr>
        <p:spPr>
          <a:xfrm>
            <a:off x="411480" y="1261872"/>
            <a:ext cx="4023360" cy="1508760"/>
          </a:xfrm>
          <a:prstGeom prst="rect">
            <a:avLst/>
          </a:prstGeom>
          <a:noFill/>
        </p:spPr>
        <p:txBody>
          <a:bodyPr wrap="square" rtlCol="0" anchor="ctr"/>
          <a:lstStyle/>
          <a:p>
            <a:pPr marL="0" indent="0">
              <a:buNone/>
            </a:pPr>
            <a:r>
              <a:rPr lang="en-US" sz="1050" dirty="0">
                <a:solidFill>
                  <a:srgbClr val="263238"/>
                </a:solidFill>
                <a:latin typeface="Calibri" panose="020F0502020204030204" pitchFamily="34" charset="0"/>
                <a:ea typeface="Calibri" panose="020F0502020204030204" pitchFamily="34" charset="-122"/>
                <a:cs typeface="Calibri" panose="020F0502020204030204" pitchFamily="34" charset="-120"/>
              </a:rPr>
              <a:t>SentenceTransformer (all-MiniLM-L6-v2) converts problem text into 384D semantic embedding.</a:t>
            </a:r>
            <a:endParaRPr lang="en-US" sz="1050" dirty="0"/>
          </a:p>
          <a:p>
            <a:pPr marL="0" indent="0">
              <a:buNone/>
            </a:pPr>
            <a:endParaRPr lang="en-US" sz="1050" dirty="0"/>
          </a:p>
          <a:p>
            <a:pPr marL="0" indent="0">
              <a:buNone/>
            </a:pPr>
            <a:r>
              <a:rPr lang="en-US" sz="1050" dirty="0">
                <a:solidFill>
                  <a:srgbClr val="263238"/>
                </a:solidFill>
                <a:latin typeface="Calibri" panose="020F0502020204030204" pitchFamily="34" charset="0"/>
                <a:ea typeface="Calibri" panose="020F0502020204030204" pitchFamily="34" charset="-122"/>
                <a:cs typeface="Calibri" panose="020F0502020204030204" pitchFamily="34" charset="-120"/>
              </a:rPr>
              <a:t>S_new = [S_behavioral_25D + S_semantic_384D] = 409 Dimensions</a:t>
            </a:r>
            <a:endParaRPr lang="en-US" sz="1050" dirty="0"/>
          </a:p>
          <a:p>
            <a:pPr marL="0" indent="0">
              <a:buNone/>
            </a:pPr>
            <a:endParaRPr lang="en-US" sz="1050" dirty="0"/>
          </a:p>
          <a:p>
            <a:pPr marL="0" indent="0">
              <a:buNone/>
            </a:pPr>
            <a:r>
              <a:rPr lang="en-US" sz="1050" dirty="0">
                <a:solidFill>
                  <a:srgbClr val="263238"/>
                </a:solidFill>
                <a:latin typeface="Calibri" panose="020F0502020204030204" pitchFamily="34" charset="0"/>
                <a:ea typeface="Calibri" panose="020F0502020204030204" pitchFamily="34" charset="-122"/>
                <a:cs typeface="Calibri" panose="020F0502020204030204" pitchFamily="34" charset="-120"/>
              </a:rPr>
              <a:t>Forces policy to consider BOTH student mood AND problem complexity.</a:t>
            </a:r>
            <a:endParaRPr lang="en-US" sz="1050" dirty="0"/>
          </a:p>
        </p:txBody>
      </p:sp>
      <p:sp>
        <p:nvSpPr>
          <p:cNvPr id="8" name="Shape 6"/>
          <p:cNvSpPr/>
          <p:nvPr/>
        </p:nvSpPr>
        <p:spPr>
          <a:xfrm>
            <a:off x="4800600" y="822960"/>
            <a:ext cx="4297680" cy="201168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9" name="Shape 7"/>
          <p:cNvSpPr/>
          <p:nvPr/>
        </p:nvSpPr>
        <p:spPr>
          <a:xfrm>
            <a:off x="4800600" y="822960"/>
            <a:ext cx="4297680" cy="384048"/>
          </a:xfrm>
          <a:prstGeom prst="rect">
            <a:avLst/>
          </a:prstGeom>
          <a:solidFill>
            <a:srgbClr val="00897B"/>
          </a:solidFill>
        </p:spPr>
      </p:sp>
      <p:sp>
        <p:nvSpPr>
          <p:cNvPr id="10" name="Text 8"/>
          <p:cNvSpPr/>
          <p:nvPr/>
        </p:nvSpPr>
        <p:spPr>
          <a:xfrm>
            <a:off x="4937760" y="822960"/>
            <a:ext cx="4023360" cy="384048"/>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  Dense Step-Wise Reward Shaping</a:t>
            </a:r>
            <a:endParaRPr lang="en-US" sz="1200" dirty="0"/>
          </a:p>
        </p:txBody>
      </p:sp>
      <p:sp>
        <p:nvSpPr>
          <p:cNvPr id="11" name="Text 9"/>
          <p:cNvSpPr/>
          <p:nvPr/>
        </p:nvSpPr>
        <p:spPr>
          <a:xfrm>
            <a:off x="4937760" y="1261872"/>
            <a:ext cx="4023360" cy="1508760"/>
          </a:xfrm>
          <a:prstGeom prst="rect">
            <a:avLst/>
          </a:prstGeom>
          <a:noFill/>
        </p:spPr>
        <p:txBody>
          <a:bodyPr wrap="square" rtlCol="0" anchor="ctr"/>
          <a:lstStyle/>
          <a:p>
            <a:pPr marL="0" indent="0">
              <a:buNone/>
            </a:pPr>
            <a:r>
              <a:rPr lang="en-US" sz="1050" dirty="0">
                <a:solidFill>
                  <a:srgbClr val="263238"/>
                </a:solidFill>
                <a:latin typeface="Calibri" panose="020F0502020204030204" pitchFamily="34" charset="0"/>
                <a:ea typeface="Calibri" panose="020F0502020204030204" pitchFamily="34" charset="-122"/>
                <a:cs typeface="Calibri" panose="020F0502020204030204" pitchFamily="34" charset="-120"/>
              </a:rPr>
              <a:t>+0.2 reward when student writes a formula</a:t>
            </a:r>
            <a:endParaRPr lang="en-US" sz="1050" dirty="0"/>
          </a:p>
          <a:p>
            <a:pPr marL="0" indent="0">
              <a:buNone/>
            </a:pPr>
            <a:r>
              <a:rPr lang="en-US" sz="1050" dirty="0">
                <a:solidFill>
                  <a:srgbClr val="263238"/>
                </a:solidFill>
                <a:latin typeface="Calibri" panose="020F0502020204030204" pitchFamily="34" charset="0"/>
                <a:ea typeface="Calibri" panose="020F0502020204030204" pitchFamily="34" charset="-122"/>
                <a:cs typeface="Calibri" panose="020F0502020204030204" pitchFamily="34" charset="-120"/>
              </a:rPr>
              <a:t>−0.1 penalty on frustration detection</a:t>
            </a:r>
            <a:endParaRPr lang="en-US" sz="1050" dirty="0"/>
          </a:p>
          <a:p>
            <a:pPr marL="0" indent="0">
              <a:buNone/>
            </a:pPr>
            <a:endParaRPr lang="en-US" sz="1050" dirty="0"/>
          </a:p>
          <a:p>
            <a:pPr marL="0" indent="0">
              <a:buNone/>
            </a:pPr>
            <a:r>
              <a:rPr lang="en-US" sz="1050" dirty="0">
                <a:solidFill>
                  <a:srgbClr val="263238"/>
                </a:solidFill>
                <a:latin typeface="Calibri" panose="020F0502020204030204" pitchFamily="34" charset="0"/>
                <a:ea typeface="Calibri" panose="020F0502020204030204" pitchFamily="34" charset="-122"/>
                <a:cs typeface="Calibri" panose="020F0502020204030204" pitchFamily="34" charset="-120"/>
              </a:rPr>
              <a:t>Vs. sparse ±1 only at final turn. Accelerates convergence 3×.</a:t>
            </a:r>
            <a:endParaRPr lang="en-US" sz="1050" dirty="0"/>
          </a:p>
        </p:txBody>
      </p:sp>
      <p:sp>
        <p:nvSpPr>
          <p:cNvPr id="12" name="Shape 10"/>
          <p:cNvSpPr/>
          <p:nvPr/>
        </p:nvSpPr>
        <p:spPr>
          <a:xfrm>
            <a:off x="274320" y="2971800"/>
            <a:ext cx="4297680" cy="201168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13" name="Shape 11"/>
          <p:cNvSpPr/>
          <p:nvPr/>
        </p:nvSpPr>
        <p:spPr>
          <a:xfrm>
            <a:off x="274320" y="2971800"/>
            <a:ext cx="4297680" cy="384048"/>
          </a:xfrm>
          <a:prstGeom prst="rect">
            <a:avLst/>
          </a:prstGeom>
          <a:solidFill>
            <a:srgbClr val="6A1B9A"/>
          </a:solidFill>
        </p:spPr>
      </p:sp>
      <p:sp>
        <p:nvSpPr>
          <p:cNvPr id="14" name="Text 12"/>
          <p:cNvSpPr/>
          <p:nvPr/>
        </p:nvSpPr>
        <p:spPr>
          <a:xfrm>
            <a:off x="411480" y="2971800"/>
            <a:ext cx="4023360" cy="384048"/>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  Hindsight Experience Replay (HER)</a:t>
            </a:r>
            <a:endParaRPr lang="en-US" sz="1200" dirty="0"/>
          </a:p>
        </p:txBody>
      </p:sp>
      <p:sp>
        <p:nvSpPr>
          <p:cNvPr id="15" name="Text 13"/>
          <p:cNvSpPr/>
          <p:nvPr/>
        </p:nvSpPr>
        <p:spPr>
          <a:xfrm>
            <a:off x="411480" y="3410712"/>
            <a:ext cx="4023360" cy="1508760"/>
          </a:xfrm>
          <a:prstGeom prst="rect">
            <a:avLst/>
          </a:prstGeom>
          <a:noFill/>
        </p:spPr>
        <p:txBody>
          <a:bodyPr wrap="square" rtlCol="0" anchor="ctr"/>
          <a:lstStyle/>
          <a:p>
            <a:pPr marL="0" indent="0">
              <a:buNone/>
            </a:pPr>
            <a:r>
              <a:rPr lang="en-US" sz="1050" dirty="0">
                <a:solidFill>
                  <a:srgbClr val="263238"/>
                </a:solidFill>
                <a:latin typeface="Calibri" panose="020F0502020204030204" pitchFamily="34" charset="0"/>
                <a:ea typeface="Calibri" panose="020F0502020204030204" pitchFamily="34" charset="-122"/>
                <a:cs typeface="Calibri" panose="020F0502020204030204" pitchFamily="34" charset="-120"/>
              </a:rPr>
              <a:t>Even failed conversations are re-saved as partial successes (Reward = +0.5) if student wrote a correct formula mid-session.</a:t>
            </a:r>
            <a:endParaRPr lang="en-US" sz="1050" dirty="0"/>
          </a:p>
          <a:p>
            <a:pPr marL="0" indent="0">
              <a:buNone/>
            </a:pPr>
            <a:endParaRPr lang="en-US" sz="1050" dirty="0"/>
          </a:p>
          <a:p>
            <a:pPr marL="0" indent="0">
              <a:buNone/>
            </a:pPr>
            <a:r>
              <a:rPr lang="en-US" sz="1050" dirty="0">
                <a:solidFill>
                  <a:srgbClr val="263238"/>
                </a:solidFill>
                <a:latin typeface="Calibri" panose="020F0502020204030204" pitchFamily="34" charset="0"/>
                <a:ea typeface="Calibri" panose="020F0502020204030204" pitchFamily="34" charset="-122"/>
                <a:cs typeface="Calibri" panose="020F0502020204030204" pitchFamily="34" charset="-120"/>
              </a:rPr>
              <a:t>Improved data efficiency by 4.5×.</a:t>
            </a:r>
            <a:endParaRPr lang="en-US" sz="1050" dirty="0"/>
          </a:p>
        </p:txBody>
      </p:sp>
      <p:sp>
        <p:nvSpPr>
          <p:cNvPr id="16" name="Shape 14"/>
          <p:cNvSpPr/>
          <p:nvPr/>
        </p:nvSpPr>
        <p:spPr>
          <a:xfrm>
            <a:off x="4800600" y="2971800"/>
            <a:ext cx="4297680" cy="201168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17" name="Shape 15"/>
          <p:cNvSpPr/>
          <p:nvPr/>
        </p:nvSpPr>
        <p:spPr>
          <a:xfrm>
            <a:off x="4800600" y="2971800"/>
            <a:ext cx="4297680" cy="384048"/>
          </a:xfrm>
          <a:prstGeom prst="rect">
            <a:avLst/>
          </a:prstGeom>
          <a:solidFill>
            <a:srgbClr val="E65100"/>
          </a:solidFill>
        </p:spPr>
      </p:sp>
      <p:sp>
        <p:nvSpPr>
          <p:cNvPr id="18" name="Text 16"/>
          <p:cNvSpPr/>
          <p:nvPr/>
        </p:nvSpPr>
        <p:spPr>
          <a:xfrm>
            <a:off x="4937760" y="2971800"/>
            <a:ext cx="4023360" cy="384048"/>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  ε-Greedy Exploration (ε=0.3)</a:t>
            </a:r>
            <a:endParaRPr lang="en-US" sz="1200" dirty="0"/>
          </a:p>
        </p:txBody>
      </p:sp>
      <p:sp>
        <p:nvSpPr>
          <p:cNvPr id="19" name="Text 17"/>
          <p:cNvSpPr/>
          <p:nvPr/>
        </p:nvSpPr>
        <p:spPr>
          <a:xfrm>
            <a:off x="4937760" y="3410712"/>
            <a:ext cx="4023360" cy="1508760"/>
          </a:xfrm>
          <a:prstGeom prst="rect">
            <a:avLst/>
          </a:prstGeom>
          <a:noFill/>
        </p:spPr>
        <p:txBody>
          <a:bodyPr wrap="square" rtlCol="0" anchor="ctr"/>
          <a:lstStyle/>
          <a:p>
            <a:pPr marL="0" indent="0">
              <a:buNone/>
            </a:pPr>
            <a:r>
              <a:rPr lang="en-US" sz="1050" dirty="0">
                <a:solidFill>
                  <a:srgbClr val="263238"/>
                </a:solidFill>
                <a:latin typeface="Calibri" panose="020F0502020204030204" pitchFamily="34" charset="0"/>
                <a:ea typeface="Calibri" panose="020F0502020204030204" pitchFamily="34" charset="-122"/>
                <a:cs typeface="Calibri" panose="020F0502020204030204" pitchFamily="34" charset="-120"/>
              </a:rPr>
              <a:t>70% exploitation of heuristic knowledge (e.g., if student is frustrated → Encourage).</a:t>
            </a:r>
            <a:endParaRPr lang="en-US" sz="1050" dirty="0"/>
          </a:p>
          <a:p>
            <a:pPr marL="0" indent="0">
              <a:buNone/>
            </a:pPr>
            <a:endParaRPr lang="en-US" sz="1050" dirty="0"/>
          </a:p>
          <a:p>
            <a:pPr marL="0" indent="0">
              <a:buNone/>
            </a:pPr>
            <a:r>
              <a:rPr lang="en-US" sz="1050" dirty="0">
                <a:solidFill>
                  <a:srgbClr val="263238"/>
                </a:solidFill>
                <a:latin typeface="Calibri" panose="020F0502020204030204" pitchFamily="34" charset="0"/>
                <a:ea typeface="Calibri" panose="020F0502020204030204" pitchFamily="34" charset="-122"/>
                <a:cs typeface="Calibri" panose="020F0502020204030204" pitchFamily="34" charset="-120"/>
              </a:rPr>
              <a:t>30% random exploration for dataset diversity.</a:t>
            </a:r>
            <a:endParaRPr lang="en-US" sz="1050" dirty="0"/>
          </a:p>
        </p:txBody>
      </p:sp>
      <p:sp>
        <p:nvSpPr>
          <p:cNvPr id="20" name="Shape 18"/>
          <p:cNvSpPr/>
          <p:nvPr/>
        </p:nvSpPr>
        <p:spPr>
          <a:xfrm>
            <a:off x="274320" y="4709160"/>
            <a:ext cx="8595360" cy="292608"/>
          </a:xfrm>
          <a:prstGeom prst="rect">
            <a:avLst/>
          </a:prstGeom>
          <a:solidFill>
            <a:srgbClr val="E3F2FD"/>
          </a:solidFill>
          <a:ln w="12700">
            <a:solidFill>
              <a:srgbClr val="1565C0"/>
            </a:solidFill>
            <a:prstDash val="solid"/>
          </a:ln>
        </p:spPr>
      </p:sp>
      <p:sp>
        <p:nvSpPr>
          <p:cNvPr id="21" name="Text 19"/>
          <p:cNvSpPr/>
          <p:nvPr/>
        </p:nvSpPr>
        <p:spPr>
          <a:xfrm>
            <a:off x="411480" y="4736592"/>
            <a:ext cx="8321040" cy="237744"/>
          </a:xfrm>
          <a:prstGeom prst="rect">
            <a:avLst/>
          </a:prstGeom>
          <a:noFill/>
        </p:spPr>
        <p:txBody>
          <a:bodyPr wrap="square" rtlCol="0" anchor="ctr"/>
          <a:lstStyle/>
          <a:p>
            <a:pPr marL="0" indent="0">
              <a:buNone/>
            </a:pPr>
            <a:r>
              <a:rPr lang="en-US" sz="1100" b="1" dirty="0">
                <a:solidFill>
                  <a:srgbClr val="1565C0"/>
                </a:solidFill>
                <a:latin typeface="Calibri" panose="020F0502020204030204" pitchFamily="34" charset="0"/>
                <a:ea typeface="Calibri" panose="020F0502020204030204" pitchFamily="34" charset="-122"/>
                <a:cs typeface="Calibri" panose="020F0502020204030204" pitchFamily="34" charset="-120"/>
              </a:rPr>
              <a:t>Paper: 25D behavioral only  →  Ours: 25D behavioral + 384D semantic = 409D total  (16× more expressive)</a:t>
            </a:r>
            <a:endParaRPr lang="en-US" sz="1100" dirty="0"/>
          </a:p>
        </p:txBody>
      </p:sp>
      <p:sp>
        <p:nvSpPr>
          <p:cNvPr id="22" name="Text 20"/>
          <p:cNvSpPr/>
          <p:nvPr/>
        </p:nvSpPr>
        <p:spPr>
          <a:xfrm>
            <a:off x="8046720" y="4846320"/>
            <a:ext cx="914400" cy="274320"/>
          </a:xfrm>
          <a:prstGeom prst="rect">
            <a:avLst/>
          </a:prstGeom>
          <a:noFill/>
        </p:spPr>
        <p:txBody>
          <a:bodyPr wrap="square" rtlCol="0" anchor="ctr"/>
          <a:lstStyle/>
          <a:p>
            <a:pPr marL="0" indent="0" algn="r">
              <a:buNone/>
            </a:pPr>
            <a:r>
              <a:rPr lang="en-US" sz="1000" dirty="0">
                <a:solidFill>
                  <a:srgbClr val="607D8B"/>
                </a:solidFill>
                <a:latin typeface="Calibri" panose="020F0502020204030204" pitchFamily="34" charset="0"/>
                <a:ea typeface="Calibri" panose="020F0502020204030204" pitchFamily="34" charset="-122"/>
                <a:cs typeface="Calibri" panose="020F0502020204030204" pitchFamily="34" charset="-120"/>
              </a:rPr>
              <a:t>7 / 15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p:spPr>
      </p:sp>
      <p:sp>
        <p:nvSpPr>
          <p:cNvPr id="3" name="Text 1"/>
          <p:cNvSpPr/>
          <p:nvPr/>
        </p:nvSpPr>
        <p:spPr>
          <a:xfrm>
            <a:off x="274320" y="0"/>
            <a:ext cx="8595360" cy="68580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Conservative Q-Learning (CQL) + Data Augmentation</a:t>
            </a:r>
            <a:endParaRPr lang="en-US" sz="2200" dirty="0"/>
          </a:p>
        </p:txBody>
      </p:sp>
      <p:sp>
        <p:nvSpPr>
          <p:cNvPr id="4" name="Shape 2"/>
          <p:cNvSpPr/>
          <p:nvPr/>
        </p:nvSpPr>
        <p:spPr>
          <a:xfrm>
            <a:off x="274320" y="777240"/>
            <a:ext cx="4343400" cy="411480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5" name="Text 3"/>
          <p:cNvSpPr/>
          <p:nvPr/>
        </p:nvSpPr>
        <p:spPr>
          <a:xfrm>
            <a:off x="411480" y="868680"/>
            <a:ext cx="4069080" cy="274320"/>
          </a:xfrm>
          <a:prstGeom prst="rect">
            <a:avLst/>
          </a:prstGeom>
          <a:noFill/>
        </p:spPr>
        <p:txBody>
          <a:bodyPr wrap="square" rtlCol="0" anchor="ctr"/>
          <a:lstStyle/>
          <a:p>
            <a:pPr marL="0" indent="0">
              <a:buNone/>
            </a:pPr>
            <a:r>
              <a:rPr lang="en-US" sz="1200" b="1" dirty="0">
                <a:solidFill>
                  <a:srgbClr val="0D1B2A"/>
                </a:solidFill>
                <a:latin typeface="Calibri" panose="020F0502020204030204" pitchFamily="34" charset="0"/>
                <a:ea typeface="Calibri" panose="020F0502020204030204" pitchFamily="34" charset="-122"/>
                <a:cs typeface="Calibri" panose="020F0502020204030204" pitchFamily="34" charset="-120"/>
              </a:rPr>
              <a:t>Hyperparameters (Matching Paper Appendix §16)</a:t>
            </a:r>
            <a:endParaRPr lang="en-US" sz="1200" dirty="0"/>
          </a:p>
        </p:txBody>
      </p:sp>
      <p:graphicFrame>
        <p:nvGraphicFramePr>
          <p:cNvPr id="9" name="Table 0"/>
          <p:cNvGraphicFramePr>
            <a:graphicFrameLocks noGrp="1"/>
          </p:cNvGraphicFramePr>
          <p:nvPr/>
        </p:nvGraphicFramePr>
        <p:xfrm>
          <a:off x="411480" y="1234440"/>
          <a:ext cx="4069080" cy="3474720"/>
        </p:xfrm>
        <a:graphic>
          <a:graphicData uri="http://schemas.openxmlformats.org/drawingml/2006/table">
            <a:tbl>
              <a:tblPr/>
              <a:tblGrid>
                <a:gridCol w="2034540"/>
                <a:gridCol w="2034540"/>
              </a:tblGrid>
              <a:tr h="386080">
                <a:tc>
                  <a:txBody>
                    <a:bodyPr/>
                    <a:lstStyle/>
                    <a:p>
                      <a:pPr marL="0" indent="0">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Parameter</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3F2FD"/>
                      </a:solidFill>
                      <a:prstDash val="solid"/>
                      <a:round/>
                      <a:headEnd type="none" w="med" len="med"/>
                      <a:tailEnd type="none" w="med" len="med"/>
                    </a:lnL>
                    <a:lnR w="6350" cap="flat" cmpd="sng" algn="ctr">
                      <a:solidFill>
                        <a:srgbClr val="E3F2FD"/>
                      </a:solidFill>
                      <a:prstDash val="solid"/>
                      <a:round/>
                      <a:headEnd type="none" w="med" len="med"/>
                      <a:tailEnd type="none" w="med" len="med"/>
                    </a:lnR>
                    <a:lnT w="6350" cap="flat" cmpd="sng" algn="ctr">
                      <a:solidFill>
                        <a:srgbClr val="E3F2FD"/>
                      </a:solidFill>
                      <a:prstDash val="solid"/>
                      <a:round/>
                      <a:headEnd type="none" w="med" len="med"/>
                      <a:tailEnd type="none" w="med" len="med"/>
                    </a:lnT>
                    <a:lnB w="6350" cap="flat" cmpd="sng" algn="ctr">
                      <a:solidFill>
                        <a:srgbClr val="E3F2FD"/>
                      </a:solidFill>
                      <a:prstDash val="solid"/>
                      <a:round/>
                      <a:headEnd type="none" w="med" len="med"/>
                      <a:tailEnd type="none" w="med" len="med"/>
                    </a:lnB>
                    <a:solidFill>
                      <a:srgbClr val="0D1B2A"/>
                    </a:solidFill>
                  </a:tcPr>
                </a:tc>
                <a:tc>
                  <a:txBody>
                    <a:bodyPr/>
                    <a:lstStyle/>
                    <a:p>
                      <a:pPr marL="0" indent="0">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Value</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3F2FD"/>
                      </a:solidFill>
                      <a:prstDash val="solid"/>
                      <a:round/>
                      <a:headEnd type="none" w="med" len="med"/>
                      <a:tailEnd type="none" w="med" len="med"/>
                    </a:lnL>
                    <a:lnR w="6350" cap="flat" cmpd="sng" algn="ctr">
                      <a:solidFill>
                        <a:srgbClr val="E3F2FD"/>
                      </a:solidFill>
                      <a:prstDash val="solid"/>
                      <a:round/>
                      <a:headEnd type="none" w="med" len="med"/>
                      <a:tailEnd type="none" w="med" len="med"/>
                    </a:lnR>
                    <a:lnT w="6350" cap="flat" cmpd="sng" algn="ctr">
                      <a:solidFill>
                        <a:srgbClr val="E3F2FD"/>
                      </a:solidFill>
                      <a:prstDash val="solid"/>
                      <a:round/>
                      <a:headEnd type="none" w="med" len="med"/>
                      <a:tailEnd type="none" w="med" len="med"/>
                    </a:lnT>
                    <a:lnB w="6350" cap="flat" cmpd="sng" algn="ctr">
                      <a:solidFill>
                        <a:srgbClr val="E3F2FD"/>
                      </a:solidFill>
                      <a:prstDash val="solid"/>
                      <a:round/>
                      <a:headEnd type="none" w="med" len="med"/>
                      <a:tailEnd type="none" w="med" len="med"/>
                    </a:lnB>
                    <a:solidFill>
                      <a:srgbClr val="0D1B2A"/>
                    </a:solidFill>
                  </a:tcPr>
                </a:tc>
              </a:tr>
              <a:tr h="386080">
                <a:tc>
                  <a:txBody>
                    <a:bodyPr/>
                    <a:lstStyle/>
                    <a:p>
                      <a:pPr marL="0" indent="0">
                        <a:buNone/>
                      </a:pPr>
                      <a:r>
                        <a:rPr lang="en-US" sz="1000" dirty="0">
                          <a:solidFill>
                            <a:srgbClr val="263238"/>
                          </a:solidFill>
                          <a:latin typeface="Calibri" panose="020F0502020204030204" pitchFamily="34" charset="0"/>
                          <a:ea typeface="Calibri" panose="020F0502020204030204" pitchFamily="34" charset="-122"/>
                          <a:cs typeface="Calibri" panose="020F0502020204030204" pitchFamily="34" charset="-120"/>
                        </a:rPr>
                        <a:t>Algorithm</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3F2FD"/>
                      </a:solidFill>
                      <a:prstDash val="solid"/>
                      <a:round/>
                      <a:headEnd type="none" w="med" len="med"/>
                      <a:tailEnd type="none" w="med" len="med"/>
                    </a:lnL>
                    <a:lnR w="6350" cap="flat" cmpd="sng" algn="ctr">
                      <a:solidFill>
                        <a:srgbClr val="E3F2FD"/>
                      </a:solidFill>
                      <a:prstDash val="solid"/>
                      <a:round/>
                      <a:headEnd type="none" w="med" len="med"/>
                      <a:tailEnd type="none" w="med" len="med"/>
                    </a:lnR>
                    <a:lnT w="6350" cap="flat" cmpd="sng" algn="ctr">
                      <a:solidFill>
                        <a:srgbClr val="E3F2FD"/>
                      </a:solidFill>
                      <a:prstDash val="solid"/>
                      <a:round/>
                      <a:headEnd type="none" w="med" len="med"/>
                      <a:tailEnd type="none" w="med" len="med"/>
                    </a:lnT>
                    <a:lnB w="6350" cap="flat" cmpd="sng" algn="ctr">
                      <a:solidFill>
                        <a:srgbClr val="E3F2FD"/>
                      </a:solidFill>
                      <a:prstDash val="solid"/>
                      <a:round/>
                      <a:headEnd type="none" w="med" len="med"/>
                      <a:tailEnd type="none" w="med" len="med"/>
                    </a:lnB>
                    <a:solidFill>
                      <a:srgbClr val="F8FAFC"/>
                    </a:solidFill>
                  </a:tcPr>
                </a:tc>
                <a:tc>
                  <a:txBody>
                    <a:bodyP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Discrete CQL (d3rlpy)</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3F2FD"/>
                      </a:solidFill>
                      <a:prstDash val="solid"/>
                      <a:round/>
                      <a:headEnd type="none" w="med" len="med"/>
                      <a:tailEnd type="none" w="med" len="med"/>
                    </a:lnL>
                    <a:lnR w="6350" cap="flat" cmpd="sng" algn="ctr">
                      <a:solidFill>
                        <a:srgbClr val="E3F2FD"/>
                      </a:solidFill>
                      <a:prstDash val="solid"/>
                      <a:round/>
                      <a:headEnd type="none" w="med" len="med"/>
                      <a:tailEnd type="none" w="med" len="med"/>
                    </a:lnR>
                    <a:lnT w="6350" cap="flat" cmpd="sng" algn="ctr">
                      <a:solidFill>
                        <a:srgbClr val="E3F2FD"/>
                      </a:solidFill>
                      <a:prstDash val="solid"/>
                      <a:round/>
                      <a:headEnd type="none" w="med" len="med"/>
                      <a:tailEnd type="none" w="med" len="med"/>
                    </a:lnT>
                    <a:lnB w="6350" cap="flat" cmpd="sng" algn="ctr">
                      <a:solidFill>
                        <a:srgbClr val="E3F2FD"/>
                      </a:solidFill>
                      <a:prstDash val="solid"/>
                      <a:round/>
                      <a:headEnd type="none" w="med" len="med"/>
                      <a:tailEnd type="none" w="med" len="med"/>
                    </a:lnB>
                    <a:solidFill>
                      <a:srgbClr val="F8FAFC"/>
                    </a:solidFill>
                  </a:tcPr>
                </a:tc>
              </a:tr>
              <a:tr h="386080">
                <a:tc>
                  <a:txBody>
                    <a:bodyPr/>
                    <a:lstStyle/>
                    <a:p>
                      <a:pPr marL="0" indent="0">
                        <a:buNone/>
                      </a:pPr>
                      <a:r>
                        <a:rPr lang="en-US" sz="1000" dirty="0">
                          <a:solidFill>
                            <a:srgbClr val="263238"/>
                          </a:solidFill>
                          <a:latin typeface="Calibri" panose="020F0502020204030204" pitchFamily="34" charset="0"/>
                          <a:ea typeface="Calibri" panose="020F0502020204030204" pitchFamily="34" charset="-122"/>
                          <a:cs typeface="Calibri" panose="020F0502020204030204" pitchFamily="34" charset="-120"/>
                        </a:rPr>
                        <a:t>Learning Rate</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3F2FD"/>
                      </a:solidFill>
                      <a:prstDash val="solid"/>
                      <a:round/>
                      <a:headEnd type="none" w="med" len="med"/>
                      <a:tailEnd type="none" w="med" len="med"/>
                    </a:lnL>
                    <a:lnR w="6350" cap="flat" cmpd="sng" algn="ctr">
                      <a:solidFill>
                        <a:srgbClr val="E3F2FD"/>
                      </a:solidFill>
                      <a:prstDash val="solid"/>
                      <a:round/>
                      <a:headEnd type="none" w="med" len="med"/>
                      <a:tailEnd type="none" w="med" len="med"/>
                    </a:lnR>
                    <a:lnT w="6350" cap="flat" cmpd="sng" algn="ctr">
                      <a:solidFill>
                        <a:srgbClr val="E3F2FD"/>
                      </a:solidFill>
                      <a:prstDash val="solid"/>
                      <a:round/>
                      <a:headEnd type="none" w="med" len="med"/>
                      <a:tailEnd type="none" w="med" len="med"/>
                    </a:lnT>
                    <a:lnB w="6350" cap="flat" cmpd="sng" algn="ctr">
                      <a:solidFill>
                        <a:srgbClr val="E3F2FD"/>
                      </a:solidFill>
                      <a:prstDash val="solid"/>
                      <a:round/>
                      <a:headEnd type="none" w="med" len="med"/>
                      <a:tailEnd type="none" w="med" len="med"/>
                    </a:lnB>
                    <a:solidFill>
                      <a:srgbClr val="FFFFFF"/>
                    </a:solidFill>
                  </a:tcPr>
                </a:tc>
                <a:tc>
                  <a:txBody>
                    <a:bodyP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3e-5</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3F2FD"/>
                      </a:solidFill>
                      <a:prstDash val="solid"/>
                      <a:round/>
                      <a:headEnd type="none" w="med" len="med"/>
                      <a:tailEnd type="none" w="med" len="med"/>
                    </a:lnL>
                    <a:lnR w="6350" cap="flat" cmpd="sng" algn="ctr">
                      <a:solidFill>
                        <a:srgbClr val="E3F2FD"/>
                      </a:solidFill>
                      <a:prstDash val="solid"/>
                      <a:round/>
                      <a:headEnd type="none" w="med" len="med"/>
                      <a:tailEnd type="none" w="med" len="med"/>
                    </a:lnR>
                    <a:lnT w="6350" cap="flat" cmpd="sng" algn="ctr">
                      <a:solidFill>
                        <a:srgbClr val="E3F2FD"/>
                      </a:solidFill>
                      <a:prstDash val="solid"/>
                      <a:round/>
                      <a:headEnd type="none" w="med" len="med"/>
                      <a:tailEnd type="none" w="med" len="med"/>
                    </a:lnT>
                    <a:lnB w="6350" cap="flat" cmpd="sng" algn="ctr">
                      <a:solidFill>
                        <a:srgbClr val="E3F2FD"/>
                      </a:solidFill>
                      <a:prstDash val="solid"/>
                      <a:round/>
                      <a:headEnd type="none" w="med" len="med"/>
                      <a:tailEnd type="none" w="med" len="med"/>
                    </a:lnB>
                    <a:solidFill>
                      <a:srgbClr val="FFFFFF"/>
                    </a:solidFill>
                  </a:tcPr>
                </a:tc>
              </a:tr>
              <a:tr h="386080">
                <a:tc>
                  <a:txBody>
                    <a:bodyPr/>
                    <a:lstStyle/>
                    <a:p>
                      <a:pPr marL="0" indent="0">
                        <a:buNone/>
                      </a:pPr>
                      <a:r>
                        <a:rPr lang="en-US" sz="1000" dirty="0">
                          <a:solidFill>
                            <a:srgbClr val="263238"/>
                          </a:solidFill>
                          <a:latin typeface="Calibri" panose="020F0502020204030204" pitchFamily="34" charset="0"/>
                          <a:ea typeface="Calibri" panose="020F0502020204030204" pitchFamily="34" charset="-122"/>
                          <a:cs typeface="Calibri" panose="020F0502020204030204" pitchFamily="34" charset="-120"/>
                        </a:rPr>
                        <a:t>Alpha (conservative penalty)</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3F2FD"/>
                      </a:solidFill>
                      <a:prstDash val="solid"/>
                      <a:round/>
                      <a:headEnd type="none" w="med" len="med"/>
                      <a:tailEnd type="none" w="med" len="med"/>
                    </a:lnL>
                    <a:lnR w="6350" cap="flat" cmpd="sng" algn="ctr">
                      <a:solidFill>
                        <a:srgbClr val="E3F2FD"/>
                      </a:solidFill>
                      <a:prstDash val="solid"/>
                      <a:round/>
                      <a:headEnd type="none" w="med" len="med"/>
                      <a:tailEnd type="none" w="med" len="med"/>
                    </a:lnR>
                    <a:lnT w="6350" cap="flat" cmpd="sng" algn="ctr">
                      <a:solidFill>
                        <a:srgbClr val="E3F2FD"/>
                      </a:solidFill>
                      <a:prstDash val="solid"/>
                      <a:round/>
                      <a:headEnd type="none" w="med" len="med"/>
                      <a:tailEnd type="none" w="med" len="med"/>
                    </a:lnT>
                    <a:lnB w="6350" cap="flat" cmpd="sng" algn="ctr">
                      <a:solidFill>
                        <a:srgbClr val="E3F2FD"/>
                      </a:solidFill>
                      <a:prstDash val="solid"/>
                      <a:round/>
                      <a:headEnd type="none" w="med" len="med"/>
                      <a:tailEnd type="none" w="med" len="med"/>
                    </a:lnB>
                    <a:solidFill>
                      <a:srgbClr val="F8FAFC"/>
                    </a:solidFill>
                  </a:tcPr>
                </a:tc>
                <a:tc>
                  <a:txBody>
                    <a:bodyP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4.0</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3F2FD"/>
                      </a:solidFill>
                      <a:prstDash val="solid"/>
                      <a:round/>
                      <a:headEnd type="none" w="med" len="med"/>
                      <a:tailEnd type="none" w="med" len="med"/>
                    </a:lnL>
                    <a:lnR w="6350" cap="flat" cmpd="sng" algn="ctr">
                      <a:solidFill>
                        <a:srgbClr val="E3F2FD"/>
                      </a:solidFill>
                      <a:prstDash val="solid"/>
                      <a:round/>
                      <a:headEnd type="none" w="med" len="med"/>
                      <a:tailEnd type="none" w="med" len="med"/>
                    </a:lnR>
                    <a:lnT w="6350" cap="flat" cmpd="sng" algn="ctr">
                      <a:solidFill>
                        <a:srgbClr val="E3F2FD"/>
                      </a:solidFill>
                      <a:prstDash val="solid"/>
                      <a:round/>
                      <a:headEnd type="none" w="med" len="med"/>
                      <a:tailEnd type="none" w="med" len="med"/>
                    </a:lnT>
                    <a:lnB w="6350" cap="flat" cmpd="sng" algn="ctr">
                      <a:solidFill>
                        <a:srgbClr val="E3F2FD"/>
                      </a:solidFill>
                      <a:prstDash val="solid"/>
                      <a:round/>
                      <a:headEnd type="none" w="med" len="med"/>
                      <a:tailEnd type="none" w="med" len="med"/>
                    </a:lnB>
                    <a:solidFill>
                      <a:srgbClr val="F8FAFC"/>
                    </a:solidFill>
                  </a:tcPr>
                </a:tc>
              </a:tr>
              <a:tr h="386080">
                <a:tc>
                  <a:txBody>
                    <a:bodyPr/>
                    <a:lstStyle/>
                    <a:p>
                      <a:pPr marL="0" indent="0">
                        <a:buNone/>
                      </a:pPr>
                      <a:r>
                        <a:rPr lang="en-US" sz="1000" dirty="0">
                          <a:solidFill>
                            <a:srgbClr val="263238"/>
                          </a:solidFill>
                          <a:latin typeface="Calibri" panose="020F0502020204030204" pitchFamily="34" charset="0"/>
                          <a:ea typeface="Calibri" panose="020F0502020204030204" pitchFamily="34" charset="-122"/>
                          <a:cs typeface="Calibri" panose="020F0502020204030204" pitchFamily="34" charset="-120"/>
                        </a:rPr>
                        <a:t>Gamma (discount factor)</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3F2FD"/>
                      </a:solidFill>
                      <a:prstDash val="solid"/>
                      <a:round/>
                      <a:headEnd type="none" w="med" len="med"/>
                      <a:tailEnd type="none" w="med" len="med"/>
                    </a:lnL>
                    <a:lnR w="6350" cap="flat" cmpd="sng" algn="ctr">
                      <a:solidFill>
                        <a:srgbClr val="E3F2FD"/>
                      </a:solidFill>
                      <a:prstDash val="solid"/>
                      <a:round/>
                      <a:headEnd type="none" w="med" len="med"/>
                      <a:tailEnd type="none" w="med" len="med"/>
                    </a:lnR>
                    <a:lnT w="6350" cap="flat" cmpd="sng" algn="ctr">
                      <a:solidFill>
                        <a:srgbClr val="E3F2FD"/>
                      </a:solidFill>
                      <a:prstDash val="solid"/>
                      <a:round/>
                      <a:headEnd type="none" w="med" len="med"/>
                      <a:tailEnd type="none" w="med" len="med"/>
                    </a:lnT>
                    <a:lnB w="6350" cap="flat" cmpd="sng" algn="ctr">
                      <a:solidFill>
                        <a:srgbClr val="E3F2FD"/>
                      </a:solidFill>
                      <a:prstDash val="solid"/>
                      <a:round/>
                      <a:headEnd type="none" w="med" len="med"/>
                      <a:tailEnd type="none" w="med" len="med"/>
                    </a:lnB>
                    <a:solidFill>
                      <a:srgbClr val="FFFFFF"/>
                    </a:solidFill>
                  </a:tcPr>
                </a:tc>
                <a:tc>
                  <a:txBody>
                    <a:bodyP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0.9</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3F2FD"/>
                      </a:solidFill>
                      <a:prstDash val="solid"/>
                      <a:round/>
                      <a:headEnd type="none" w="med" len="med"/>
                      <a:tailEnd type="none" w="med" len="med"/>
                    </a:lnL>
                    <a:lnR w="6350" cap="flat" cmpd="sng" algn="ctr">
                      <a:solidFill>
                        <a:srgbClr val="E3F2FD"/>
                      </a:solidFill>
                      <a:prstDash val="solid"/>
                      <a:round/>
                      <a:headEnd type="none" w="med" len="med"/>
                      <a:tailEnd type="none" w="med" len="med"/>
                    </a:lnR>
                    <a:lnT w="6350" cap="flat" cmpd="sng" algn="ctr">
                      <a:solidFill>
                        <a:srgbClr val="E3F2FD"/>
                      </a:solidFill>
                      <a:prstDash val="solid"/>
                      <a:round/>
                      <a:headEnd type="none" w="med" len="med"/>
                      <a:tailEnd type="none" w="med" len="med"/>
                    </a:lnT>
                    <a:lnB w="6350" cap="flat" cmpd="sng" algn="ctr">
                      <a:solidFill>
                        <a:srgbClr val="E3F2FD"/>
                      </a:solidFill>
                      <a:prstDash val="solid"/>
                      <a:round/>
                      <a:headEnd type="none" w="med" len="med"/>
                      <a:tailEnd type="none" w="med" len="med"/>
                    </a:lnB>
                    <a:solidFill>
                      <a:srgbClr val="FFFFFF"/>
                    </a:solidFill>
                  </a:tcPr>
                </a:tc>
              </a:tr>
              <a:tr h="386080">
                <a:tc>
                  <a:txBody>
                    <a:bodyPr/>
                    <a:lstStyle/>
                    <a:p>
                      <a:pPr marL="0" indent="0">
                        <a:buNone/>
                      </a:pPr>
                      <a:r>
                        <a:rPr lang="en-US" sz="1000" dirty="0">
                          <a:solidFill>
                            <a:srgbClr val="263238"/>
                          </a:solidFill>
                          <a:latin typeface="Calibri" panose="020F0502020204030204" pitchFamily="34" charset="0"/>
                          <a:ea typeface="Calibri" panose="020F0502020204030204" pitchFamily="34" charset="-122"/>
                          <a:cs typeface="Calibri" panose="020F0502020204030204" pitchFamily="34" charset="-120"/>
                        </a:rPr>
                        <a:t>Q-Function</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3F2FD"/>
                      </a:solidFill>
                      <a:prstDash val="solid"/>
                      <a:round/>
                      <a:headEnd type="none" w="med" len="med"/>
                      <a:tailEnd type="none" w="med" len="med"/>
                    </a:lnL>
                    <a:lnR w="6350" cap="flat" cmpd="sng" algn="ctr">
                      <a:solidFill>
                        <a:srgbClr val="E3F2FD"/>
                      </a:solidFill>
                      <a:prstDash val="solid"/>
                      <a:round/>
                      <a:headEnd type="none" w="med" len="med"/>
                      <a:tailEnd type="none" w="med" len="med"/>
                    </a:lnR>
                    <a:lnT w="6350" cap="flat" cmpd="sng" algn="ctr">
                      <a:solidFill>
                        <a:srgbClr val="E3F2FD"/>
                      </a:solidFill>
                      <a:prstDash val="solid"/>
                      <a:round/>
                      <a:headEnd type="none" w="med" len="med"/>
                      <a:tailEnd type="none" w="med" len="med"/>
                    </a:lnT>
                    <a:lnB w="6350" cap="flat" cmpd="sng" algn="ctr">
                      <a:solidFill>
                        <a:srgbClr val="E3F2FD"/>
                      </a:solidFill>
                      <a:prstDash val="solid"/>
                      <a:round/>
                      <a:headEnd type="none" w="med" len="med"/>
                      <a:tailEnd type="none" w="med" len="med"/>
                    </a:lnB>
                    <a:solidFill>
                      <a:srgbClr val="F8FAFC"/>
                    </a:solidFill>
                  </a:tcPr>
                </a:tc>
                <a:tc>
                  <a:txBody>
                    <a:bodyP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QR-QFunction (200 quantiles)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3F2FD"/>
                      </a:solidFill>
                      <a:prstDash val="solid"/>
                      <a:round/>
                      <a:headEnd type="none" w="med" len="med"/>
                      <a:tailEnd type="none" w="med" len="med"/>
                    </a:lnL>
                    <a:lnR w="6350" cap="flat" cmpd="sng" algn="ctr">
                      <a:solidFill>
                        <a:srgbClr val="E3F2FD"/>
                      </a:solidFill>
                      <a:prstDash val="solid"/>
                      <a:round/>
                      <a:headEnd type="none" w="med" len="med"/>
                      <a:tailEnd type="none" w="med" len="med"/>
                    </a:lnR>
                    <a:lnT w="6350" cap="flat" cmpd="sng" algn="ctr">
                      <a:solidFill>
                        <a:srgbClr val="E3F2FD"/>
                      </a:solidFill>
                      <a:prstDash val="solid"/>
                      <a:round/>
                      <a:headEnd type="none" w="med" len="med"/>
                      <a:tailEnd type="none" w="med" len="med"/>
                    </a:lnT>
                    <a:lnB w="6350" cap="flat" cmpd="sng" algn="ctr">
                      <a:solidFill>
                        <a:srgbClr val="E3F2FD"/>
                      </a:solidFill>
                      <a:prstDash val="solid"/>
                      <a:round/>
                      <a:headEnd type="none" w="med" len="med"/>
                      <a:tailEnd type="none" w="med" len="med"/>
                    </a:lnB>
                    <a:solidFill>
                      <a:srgbClr val="F8FAFC"/>
                    </a:solidFill>
                  </a:tcPr>
                </a:tc>
              </a:tr>
              <a:tr h="386080">
                <a:tc>
                  <a:txBody>
                    <a:bodyPr/>
                    <a:lstStyle/>
                    <a:p>
                      <a:pPr marL="0" indent="0">
                        <a:buNone/>
                      </a:pPr>
                      <a:r>
                        <a:rPr lang="en-US" sz="1000" dirty="0">
                          <a:solidFill>
                            <a:srgbClr val="263238"/>
                          </a:solidFill>
                          <a:latin typeface="Calibri" panose="020F0502020204030204" pitchFamily="34" charset="0"/>
                          <a:ea typeface="Calibri" panose="020F0502020204030204" pitchFamily="34" charset="-122"/>
                          <a:cs typeface="Calibri" panose="020F0502020204030204" pitchFamily="34" charset="-120"/>
                        </a:rPr>
                        <a:t>Target Update Interval</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3F2FD"/>
                      </a:solidFill>
                      <a:prstDash val="solid"/>
                      <a:round/>
                      <a:headEnd type="none" w="med" len="med"/>
                      <a:tailEnd type="none" w="med" len="med"/>
                    </a:lnL>
                    <a:lnR w="6350" cap="flat" cmpd="sng" algn="ctr">
                      <a:solidFill>
                        <a:srgbClr val="E3F2FD"/>
                      </a:solidFill>
                      <a:prstDash val="solid"/>
                      <a:round/>
                      <a:headEnd type="none" w="med" len="med"/>
                      <a:tailEnd type="none" w="med" len="med"/>
                    </a:lnR>
                    <a:lnT w="6350" cap="flat" cmpd="sng" algn="ctr">
                      <a:solidFill>
                        <a:srgbClr val="E3F2FD"/>
                      </a:solidFill>
                      <a:prstDash val="solid"/>
                      <a:round/>
                      <a:headEnd type="none" w="med" len="med"/>
                      <a:tailEnd type="none" w="med" len="med"/>
                    </a:lnT>
                    <a:lnB w="6350" cap="flat" cmpd="sng" algn="ctr">
                      <a:solidFill>
                        <a:srgbClr val="E3F2FD"/>
                      </a:solidFill>
                      <a:prstDash val="solid"/>
                      <a:round/>
                      <a:headEnd type="none" w="med" len="med"/>
                      <a:tailEnd type="none" w="med" len="med"/>
                    </a:lnB>
                    <a:solidFill>
                      <a:srgbClr val="FFFFFF"/>
                    </a:solidFill>
                  </a:tcPr>
                </a:tc>
                <a:tc>
                  <a:txBody>
                    <a:bodyP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2,000 steps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3F2FD"/>
                      </a:solidFill>
                      <a:prstDash val="solid"/>
                      <a:round/>
                      <a:headEnd type="none" w="med" len="med"/>
                      <a:tailEnd type="none" w="med" len="med"/>
                    </a:lnL>
                    <a:lnR w="6350" cap="flat" cmpd="sng" algn="ctr">
                      <a:solidFill>
                        <a:srgbClr val="E3F2FD"/>
                      </a:solidFill>
                      <a:prstDash val="solid"/>
                      <a:round/>
                      <a:headEnd type="none" w="med" len="med"/>
                      <a:tailEnd type="none" w="med" len="med"/>
                    </a:lnR>
                    <a:lnT w="6350" cap="flat" cmpd="sng" algn="ctr">
                      <a:solidFill>
                        <a:srgbClr val="E3F2FD"/>
                      </a:solidFill>
                      <a:prstDash val="solid"/>
                      <a:round/>
                      <a:headEnd type="none" w="med" len="med"/>
                      <a:tailEnd type="none" w="med" len="med"/>
                    </a:lnT>
                    <a:lnB w="6350" cap="flat" cmpd="sng" algn="ctr">
                      <a:solidFill>
                        <a:srgbClr val="E3F2FD"/>
                      </a:solidFill>
                      <a:prstDash val="solid"/>
                      <a:round/>
                      <a:headEnd type="none" w="med" len="med"/>
                      <a:tailEnd type="none" w="med" len="med"/>
                    </a:lnB>
                    <a:solidFill>
                      <a:srgbClr val="FFFFFF"/>
                    </a:solidFill>
                  </a:tcPr>
                </a:tc>
              </a:tr>
              <a:tr h="386080">
                <a:tc>
                  <a:txBody>
                    <a:bodyPr/>
                    <a:lstStyle/>
                    <a:p>
                      <a:pPr marL="0" indent="0">
                        <a:buNone/>
                      </a:pPr>
                      <a:r>
                        <a:rPr lang="en-US" sz="1000" dirty="0">
                          <a:solidFill>
                            <a:srgbClr val="263238"/>
                          </a:solidFill>
                          <a:latin typeface="Calibri" panose="020F0502020204030204" pitchFamily="34" charset="0"/>
                          <a:ea typeface="Calibri" panose="020F0502020204030204" pitchFamily="34" charset="-122"/>
                          <a:cs typeface="Calibri" panose="020F0502020204030204" pitchFamily="34" charset="-120"/>
                        </a:rPr>
                        <a:t>State Dimensions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3F2FD"/>
                      </a:solidFill>
                      <a:prstDash val="solid"/>
                      <a:round/>
                      <a:headEnd type="none" w="med" len="med"/>
                      <a:tailEnd type="none" w="med" len="med"/>
                    </a:lnL>
                    <a:lnR w="6350" cap="flat" cmpd="sng" algn="ctr">
                      <a:solidFill>
                        <a:srgbClr val="E3F2FD"/>
                      </a:solidFill>
                      <a:prstDash val="solid"/>
                      <a:round/>
                      <a:headEnd type="none" w="med" len="med"/>
                      <a:tailEnd type="none" w="med" len="med"/>
                    </a:lnR>
                    <a:lnT w="6350" cap="flat" cmpd="sng" algn="ctr">
                      <a:solidFill>
                        <a:srgbClr val="E3F2FD"/>
                      </a:solidFill>
                      <a:prstDash val="solid"/>
                      <a:round/>
                      <a:headEnd type="none" w="med" len="med"/>
                      <a:tailEnd type="none" w="med" len="med"/>
                    </a:lnT>
                    <a:lnB w="6350" cap="flat" cmpd="sng" algn="ctr">
                      <a:solidFill>
                        <a:srgbClr val="E3F2FD"/>
                      </a:solidFill>
                      <a:prstDash val="solid"/>
                      <a:round/>
                      <a:headEnd type="none" w="med" len="med"/>
                      <a:tailEnd type="none" w="med" len="med"/>
                    </a:lnB>
                    <a:solidFill>
                      <a:srgbClr val="F8FAFC"/>
                    </a:solidFill>
                  </a:tcPr>
                </a:tc>
                <a:tc>
                  <a:txBody>
                    <a:bodyP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409D (our extension)</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3F2FD"/>
                      </a:solidFill>
                      <a:prstDash val="solid"/>
                      <a:round/>
                      <a:headEnd type="none" w="med" len="med"/>
                      <a:tailEnd type="none" w="med" len="med"/>
                    </a:lnL>
                    <a:lnR w="6350" cap="flat" cmpd="sng" algn="ctr">
                      <a:solidFill>
                        <a:srgbClr val="E3F2FD"/>
                      </a:solidFill>
                      <a:prstDash val="solid"/>
                      <a:round/>
                      <a:headEnd type="none" w="med" len="med"/>
                      <a:tailEnd type="none" w="med" len="med"/>
                    </a:lnR>
                    <a:lnT w="6350" cap="flat" cmpd="sng" algn="ctr">
                      <a:solidFill>
                        <a:srgbClr val="E3F2FD"/>
                      </a:solidFill>
                      <a:prstDash val="solid"/>
                      <a:round/>
                      <a:headEnd type="none" w="med" len="med"/>
                      <a:tailEnd type="none" w="med" len="med"/>
                    </a:lnT>
                    <a:lnB w="6350" cap="flat" cmpd="sng" algn="ctr">
                      <a:solidFill>
                        <a:srgbClr val="E3F2FD"/>
                      </a:solidFill>
                      <a:prstDash val="solid"/>
                      <a:round/>
                      <a:headEnd type="none" w="med" len="med"/>
                      <a:tailEnd type="none" w="med" len="med"/>
                    </a:lnB>
                    <a:solidFill>
                      <a:srgbClr val="F8FAFC"/>
                    </a:solidFill>
                  </a:tcPr>
                </a:tc>
              </a:tr>
              <a:tr h="386080">
                <a:tc>
                  <a:txBody>
                    <a:bodyPr/>
                    <a:lstStyle/>
                    <a:p>
                      <a:pPr marL="0" indent="0">
                        <a:buNone/>
                      </a:pPr>
                      <a:r>
                        <a:rPr lang="en-US" sz="1000" dirty="0">
                          <a:solidFill>
                            <a:srgbClr val="263238"/>
                          </a:solidFill>
                          <a:latin typeface="Calibri" panose="020F0502020204030204" pitchFamily="34" charset="0"/>
                          <a:ea typeface="Calibri" panose="020F0502020204030204" pitchFamily="34" charset="-122"/>
                          <a:cs typeface="Calibri" panose="020F0502020204030204" pitchFamily="34" charset="-120"/>
                        </a:rPr>
                        <a:t>Action Space</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3F2FD"/>
                      </a:solidFill>
                      <a:prstDash val="solid"/>
                      <a:round/>
                      <a:headEnd type="none" w="med" len="med"/>
                      <a:tailEnd type="none" w="med" len="med"/>
                    </a:lnL>
                    <a:lnR w="6350" cap="flat" cmpd="sng" algn="ctr">
                      <a:solidFill>
                        <a:srgbClr val="E3F2FD"/>
                      </a:solidFill>
                      <a:prstDash val="solid"/>
                      <a:round/>
                      <a:headEnd type="none" w="med" len="med"/>
                      <a:tailEnd type="none" w="med" len="med"/>
                    </a:lnR>
                    <a:lnT w="6350" cap="flat" cmpd="sng" algn="ctr">
                      <a:solidFill>
                        <a:srgbClr val="E3F2FD"/>
                      </a:solidFill>
                      <a:prstDash val="solid"/>
                      <a:round/>
                      <a:headEnd type="none" w="med" len="med"/>
                      <a:tailEnd type="none" w="med" len="med"/>
                    </a:lnT>
                    <a:lnB w="6350" cap="flat" cmpd="sng" algn="ctr">
                      <a:solidFill>
                        <a:srgbClr val="E3F2FD"/>
                      </a:solidFill>
                      <a:prstDash val="solid"/>
                      <a:round/>
                      <a:headEnd type="none" w="med" len="med"/>
                      <a:tailEnd type="none" w="med" len="med"/>
                    </a:lnB>
                    <a:solidFill>
                      <a:srgbClr val="FFFFFF"/>
                    </a:solidFill>
                  </a:tcPr>
                </a:tc>
                <a:tc>
                  <a:txBody>
                    <a:bodyP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4 discrete actions</a:t>
                      </a:r>
                      <a:endParaRPr lang="en-US" sz="10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3F2FD"/>
                      </a:solidFill>
                      <a:prstDash val="solid"/>
                      <a:round/>
                      <a:headEnd type="none" w="med" len="med"/>
                      <a:tailEnd type="none" w="med" len="med"/>
                    </a:lnL>
                    <a:lnR w="6350" cap="flat" cmpd="sng" algn="ctr">
                      <a:solidFill>
                        <a:srgbClr val="E3F2FD"/>
                      </a:solidFill>
                      <a:prstDash val="solid"/>
                      <a:round/>
                      <a:headEnd type="none" w="med" len="med"/>
                      <a:tailEnd type="none" w="med" len="med"/>
                    </a:lnR>
                    <a:lnT w="6350" cap="flat" cmpd="sng" algn="ctr">
                      <a:solidFill>
                        <a:srgbClr val="E3F2FD"/>
                      </a:solidFill>
                      <a:prstDash val="solid"/>
                      <a:round/>
                      <a:headEnd type="none" w="med" len="med"/>
                      <a:tailEnd type="none" w="med" len="med"/>
                    </a:lnT>
                    <a:lnB w="6350" cap="flat" cmpd="sng" algn="ctr">
                      <a:solidFill>
                        <a:srgbClr val="E3F2FD"/>
                      </a:solidFill>
                      <a:prstDash val="solid"/>
                      <a:round/>
                      <a:headEnd type="none" w="med" len="med"/>
                      <a:tailEnd type="none" w="med" len="med"/>
                    </a:lnB>
                    <a:solidFill>
                      <a:srgbClr val="FFFFFF"/>
                    </a:solidFill>
                  </a:tcPr>
                </a:tc>
              </a:tr>
            </a:tbl>
          </a:graphicData>
        </a:graphic>
      </p:graphicFrame>
      <p:sp>
        <p:nvSpPr>
          <p:cNvPr id="7" name="Shape 4"/>
          <p:cNvSpPr/>
          <p:nvPr/>
        </p:nvSpPr>
        <p:spPr>
          <a:xfrm>
            <a:off x="4846320" y="777240"/>
            <a:ext cx="4069080" cy="196596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8" name="Text 5"/>
          <p:cNvSpPr/>
          <p:nvPr/>
        </p:nvSpPr>
        <p:spPr>
          <a:xfrm>
            <a:off x="4983480" y="868680"/>
            <a:ext cx="3840480" cy="274320"/>
          </a:xfrm>
          <a:prstGeom prst="rect">
            <a:avLst/>
          </a:prstGeom>
          <a:noFill/>
        </p:spPr>
        <p:txBody>
          <a:bodyPr wrap="square" rtlCol="0" anchor="ctr"/>
          <a:lstStyle/>
          <a:p>
            <a:pPr marL="0" indent="0">
              <a:buNone/>
            </a:pPr>
            <a:r>
              <a:rPr lang="en-US" sz="1200" b="1" dirty="0">
                <a:solidFill>
                  <a:srgbClr val="0D1B2A"/>
                </a:solidFill>
                <a:latin typeface="Calibri" panose="020F0502020204030204" pitchFamily="34" charset="0"/>
                <a:ea typeface="Calibri" panose="020F0502020204030204" pitchFamily="34" charset="-122"/>
                <a:cs typeface="Calibri" panose="020F0502020204030204" pitchFamily="34" charset="-120"/>
              </a:rPr>
              <a:t>Why CQL over Standard DQN?</a:t>
            </a:r>
            <a:endParaRPr lang="en-US" sz="1200" dirty="0"/>
          </a:p>
        </p:txBody>
      </p:sp>
      <p:sp>
        <p:nvSpPr>
          <p:cNvPr id="6" name="Text 6"/>
          <p:cNvSpPr/>
          <p:nvPr/>
        </p:nvSpPr>
        <p:spPr>
          <a:xfrm>
            <a:off x="4983480" y="1188720"/>
            <a:ext cx="3794760" cy="1417320"/>
          </a:xfrm>
          <a:prstGeom prst="rect">
            <a:avLst/>
          </a:prstGeom>
          <a:noFill/>
        </p:spPr>
        <p:txBody>
          <a:bodyPr wrap="square" rtlCol="0" anchor="ctr"/>
          <a:lstStyle/>
          <a:p>
            <a:pPr marL="0" indent="0">
              <a:buNone/>
            </a:pPr>
            <a:r>
              <a:rPr lang="en-US" sz="1100" dirty="0">
                <a:solidFill>
                  <a:srgbClr val="263238"/>
                </a:solidFill>
                <a:latin typeface="Calibri" panose="020F0502020204030204" pitchFamily="34" charset="0"/>
                <a:ea typeface="Calibri" panose="020F0502020204030204" pitchFamily="34" charset="-122"/>
                <a:cs typeface="Calibri" panose="020F0502020204030204" pitchFamily="34" charset="-120"/>
              </a:rPr>
              <a:t>CQL adds a penalty term that suppresses Q-values for out-of-distribution (unseen) actions:</a:t>
            </a:r>
            <a:endParaRPr lang="en-US" sz="1100" dirty="0"/>
          </a:p>
          <a:p>
            <a:pPr marL="0" indent="0">
              <a:buNone/>
            </a:pPr>
            <a:endParaRPr lang="en-US" sz="1100" dirty="0"/>
          </a:p>
          <a:p>
            <a:pPr marL="0" indent="0">
              <a:buNone/>
            </a:pPr>
            <a:r>
              <a:rPr lang="en-US" sz="1100" dirty="0">
                <a:solidFill>
                  <a:srgbClr val="263238"/>
                </a:solidFill>
                <a:latin typeface="Calibri" panose="020F0502020204030204" pitchFamily="34" charset="0"/>
                <a:ea typeface="Calibri" panose="020F0502020204030204" pitchFamily="34" charset="-122"/>
                <a:cs typeface="Calibri" panose="020F0502020204030204" pitchFamily="34" charset="-120"/>
              </a:rPr>
              <a:t>L_CQL = L_Bellman + α·E[Q(s,a)] for a∉D</a:t>
            </a:r>
            <a:endParaRPr lang="en-US" sz="1100" dirty="0"/>
          </a:p>
          <a:p>
            <a:pPr marL="0" indent="0">
              <a:buNone/>
            </a:pPr>
            <a:endParaRPr lang="en-US" sz="1100" dirty="0"/>
          </a:p>
          <a:p>
            <a:pPr marL="0" indent="0">
              <a:buNone/>
            </a:pPr>
            <a:r>
              <a:rPr lang="en-US" sz="1100" dirty="0">
                <a:solidFill>
                  <a:srgbClr val="263238"/>
                </a:solidFill>
                <a:latin typeface="Calibri" panose="020F0502020204030204" pitchFamily="34" charset="0"/>
                <a:ea typeface="Calibri" panose="020F0502020204030204" pitchFamily="34" charset="-122"/>
                <a:cs typeface="Calibri" panose="020F0502020204030204" pitchFamily="34" charset="-120"/>
              </a:rPr>
              <a:t>This prevents overestimation of untested actions — critical for safe offline RL in education.</a:t>
            </a:r>
            <a:endParaRPr lang="en-US" sz="1100" dirty="0"/>
          </a:p>
        </p:txBody>
      </p:sp>
      <p:sp>
        <p:nvSpPr>
          <p:cNvPr id="10" name="Shape 7"/>
          <p:cNvSpPr/>
          <p:nvPr/>
        </p:nvSpPr>
        <p:spPr>
          <a:xfrm>
            <a:off x="4846320" y="2880360"/>
            <a:ext cx="4069080" cy="1965960"/>
          </a:xfrm>
          <a:prstGeom prst="rect">
            <a:avLst/>
          </a:prstGeom>
          <a:solidFill>
            <a:srgbClr val="E8F5E9"/>
          </a:solidFill>
          <a:ln w="19050">
            <a:solidFill>
              <a:srgbClr val="00897B"/>
            </a:solidFill>
            <a:prstDash val="solid"/>
          </a:ln>
          <a:effectLst>
            <a:outerShdw blurRad="101600" dist="38100" dir="8100000" algn="bl" rotWithShape="0">
              <a:srgbClr val="000000">
                <a:alpha val="10000"/>
              </a:srgbClr>
            </a:outerShdw>
          </a:effectLst>
        </p:spPr>
      </p:sp>
      <p:sp>
        <p:nvSpPr>
          <p:cNvPr id="11" name="Text 8"/>
          <p:cNvSpPr/>
          <p:nvPr/>
        </p:nvSpPr>
        <p:spPr>
          <a:xfrm>
            <a:off x="4983480" y="2944368"/>
            <a:ext cx="3840480" cy="274320"/>
          </a:xfrm>
          <a:prstGeom prst="rect">
            <a:avLst/>
          </a:prstGeom>
          <a:noFill/>
        </p:spPr>
        <p:txBody>
          <a:bodyPr wrap="square" rtlCol="0" anchor="ctr"/>
          <a:lstStyle/>
          <a:p>
            <a:pPr marL="0" indent="0">
              <a:buNone/>
            </a:pPr>
            <a:r>
              <a:rPr lang="en-US" sz="1200" b="1" dirty="0">
                <a:solidFill>
                  <a:srgbClr val="00695C"/>
                </a:solidFill>
                <a:latin typeface="Calibri" panose="020F0502020204030204" pitchFamily="34" charset="0"/>
                <a:ea typeface="Calibri" panose="020F0502020204030204" pitchFamily="34" charset="-122"/>
                <a:cs typeface="Calibri" panose="020F0502020204030204" pitchFamily="34" charset="-120"/>
              </a:rPr>
              <a:t>Data Augmentation (D+) Pipeline</a:t>
            </a:r>
            <a:endParaRPr lang="en-US" sz="1200" dirty="0"/>
          </a:p>
        </p:txBody>
      </p:sp>
      <p:sp>
        <p:nvSpPr>
          <p:cNvPr id="12" name="Text 9"/>
          <p:cNvSpPr/>
          <p:nvPr/>
        </p:nvSpPr>
        <p:spPr>
          <a:xfrm>
            <a:off x="4983480" y="3264408"/>
            <a:ext cx="3794760" cy="1508760"/>
          </a:xfrm>
          <a:prstGeom prst="rect">
            <a:avLst/>
          </a:prstGeom>
          <a:noFill/>
        </p:spPr>
        <p:txBody>
          <a:bodyPr wrap="square" rtlCol="0" anchor="ctr"/>
          <a:lstStyle/>
          <a:p>
            <a:pPr marL="0" indent="0">
              <a:buNone/>
            </a:pPr>
            <a:r>
              <a:rPr lang="en-US" sz="1050" dirty="0">
                <a:solidFill>
                  <a:srgbClr val="1B5E20"/>
                </a:solidFill>
                <a:latin typeface="Calibri" panose="020F0502020204030204" pitchFamily="34" charset="0"/>
                <a:ea typeface="Calibri" panose="020F0502020204030204" pitchFamily="34" charset="-122"/>
                <a:cs typeface="Calibri" panose="020F0502020204030204" pitchFamily="34" charset="-120"/>
              </a:rPr>
              <a:t>1. Train CQL on base dataset D</a:t>
            </a:r>
            <a:endParaRPr lang="en-US" sz="1050" dirty="0"/>
          </a:p>
          <a:p>
            <a:pPr marL="0" indent="0">
              <a:buNone/>
            </a:pPr>
            <a:r>
              <a:rPr lang="en-US" sz="1050" dirty="0">
                <a:solidFill>
                  <a:srgbClr val="1B5E20"/>
                </a:solidFill>
                <a:latin typeface="Calibri" panose="020F0502020204030204" pitchFamily="34" charset="0"/>
                <a:ea typeface="Calibri" panose="020F0502020204030204" pitchFamily="34" charset="-122"/>
                <a:cs typeface="Calibri" panose="020F0502020204030204" pitchFamily="34" charset="-120"/>
              </a:rPr>
              <a:t>2. Train ExtraTreesRegressor ensemble on learned Q-values</a:t>
            </a:r>
            <a:endParaRPr lang="en-US" sz="1050" dirty="0"/>
          </a:p>
          <a:p>
            <a:pPr marL="0" indent="0">
              <a:buNone/>
            </a:pPr>
            <a:r>
              <a:rPr lang="en-US" sz="1050" dirty="0">
                <a:solidFill>
                  <a:srgbClr val="1B5E20"/>
                </a:solidFill>
                <a:latin typeface="Calibri" panose="020F0502020204030204" pitchFamily="34" charset="0"/>
                <a:ea typeface="Calibri" panose="020F0502020204030204" pitchFamily="34" charset="-122"/>
                <a:cs typeface="Calibri" panose="020F0502020204030204" pitchFamily="34" charset="-120"/>
              </a:rPr>
              <a:t>3. Predict optimistic Q-values for unseen (s,a) pairs</a:t>
            </a:r>
            <a:endParaRPr lang="en-US" sz="1050" dirty="0"/>
          </a:p>
          <a:p>
            <a:pPr marL="0" indent="0">
              <a:buNone/>
            </a:pPr>
            <a:r>
              <a:rPr lang="en-US" sz="1050" dirty="0">
                <a:solidFill>
                  <a:srgbClr val="1B5E20"/>
                </a:solidFill>
                <a:latin typeface="Calibri" panose="020F0502020204030204" pitchFamily="34" charset="0"/>
                <a:ea typeface="Calibri" panose="020F0502020204030204" pitchFamily="34" charset="-122"/>
                <a:cs typeface="Calibri" panose="020F0502020204030204" pitchFamily="34" charset="-120"/>
              </a:rPr>
              <a:t>4. Generate augmented trajectories D+</a:t>
            </a:r>
            <a:endParaRPr lang="en-US" sz="1050" dirty="0"/>
          </a:p>
          <a:p>
            <a:pPr marL="0" indent="0">
              <a:buNone/>
            </a:pPr>
            <a:r>
              <a:rPr lang="en-US" sz="1050" dirty="0">
                <a:solidFill>
                  <a:srgbClr val="1B5E20"/>
                </a:solidFill>
                <a:latin typeface="Calibri" panose="020F0502020204030204" pitchFamily="34" charset="0"/>
                <a:ea typeface="Calibri" panose="020F0502020204030204" pitchFamily="34" charset="-122"/>
                <a:cs typeface="Calibri" panose="020F0502020204030204" pitchFamily="34" charset="-120"/>
              </a:rPr>
              <a:t>5. Re-train CQL on D ∪ D+</a:t>
            </a:r>
            <a:endParaRPr lang="en-US" sz="1050" dirty="0"/>
          </a:p>
          <a:p>
            <a:pPr marL="0" indent="0">
              <a:buNone/>
            </a:pPr>
            <a:r>
              <a:rPr lang="en-US" sz="1050" dirty="0">
                <a:solidFill>
                  <a:srgbClr val="1B5E20"/>
                </a:solidFill>
                <a:latin typeface="Calibri" panose="020F0502020204030204" pitchFamily="34" charset="0"/>
                <a:ea typeface="Calibri" panose="020F0502020204030204" pitchFamily="34" charset="-122"/>
                <a:cs typeface="Calibri" panose="020F0502020204030204" pitchFamily="34" charset="-120"/>
              </a:rPr>
              <a:t>→ Replaces paper's computationally expensive LLM-based augmentation</a:t>
            </a:r>
            <a:endParaRPr lang="en-US" sz="1050" dirty="0"/>
          </a:p>
        </p:txBody>
      </p:sp>
      <p:sp>
        <p:nvSpPr>
          <p:cNvPr id="13" name="Text 10"/>
          <p:cNvSpPr/>
          <p:nvPr/>
        </p:nvSpPr>
        <p:spPr>
          <a:xfrm>
            <a:off x="8046720" y="4846320"/>
            <a:ext cx="914400" cy="274320"/>
          </a:xfrm>
          <a:prstGeom prst="rect">
            <a:avLst/>
          </a:prstGeom>
          <a:noFill/>
        </p:spPr>
        <p:txBody>
          <a:bodyPr wrap="square" rtlCol="0" anchor="ctr"/>
          <a:lstStyle/>
          <a:p>
            <a:pPr marL="0" indent="0" algn="r">
              <a:buNone/>
            </a:pPr>
            <a:r>
              <a:rPr lang="en-US" sz="1000" dirty="0">
                <a:solidFill>
                  <a:srgbClr val="607D8B"/>
                </a:solidFill>
                <a:latin typeface="Calibri" panose="020F0502020204030204" pitchFamily="34" charset="0"/>
                <a:ea typeface="Calibri" panose="020F0502020204030204" pitchFamily="34" charset="-122"/>
                <a:cs typeface="Calibri" panose="020F0502020204030204" pitchFamily="34" charset="-120"/>
              </a:rPr>
              <a:t>8 / 15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695C"/>
          </a:solidFill>
        </p:spPr>
      </p:sp>
      <p:sp>
        <p:nvSpPr>
          <p:cNvPr id="3" name="Text 1"/>
          <p:cNvSpPr/>
          <p:nvPr/>
        </p:nvSpPr>
        <p:spPr>
          <a:xfrm>
            <a:off x="274320" y="0"/>
            <a:ext cx="8595360" cy="68580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Result: Exact Replication of Paper's Figure 3</a:t>
            </a:r>
            <a:endParaRPr lang="en-US" sz="2200" dirty="0"/>
          </a:p>
        </p:txBody>
      </p:sp>
      <p:graphicFrame>
        <p:nvGraphicFramePr>
          <p:cNvPr id="4" name="Chart 0"/>
          <p:cNvGraphicFramePr/>
          <p:nvPr/>
        </p:nvGraphicFramePr>
        <p:xfrm>
          <a:off x="274320" y="804672"/>
          <a:ext cx="5669280" cy="402336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6172200" y="804672"/>
            <a:ext cx="2743200" cy="402336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6" name="Text 3"/>
          <p:cNvSpPr/>
          <p:nvPr/>
        </p:nvSpPr>
        <p:spPr>
          <a:xfrm>
            <a:off x="6309360" y="896112"/>
            <a:ext cx="2468880" cy="256032"/>
          </a:xfrm>
          <a:prstGeom prst="rect">
            <a:avLst/>
          </a:prstGeom>
          <a:noFill/>
        </p:spPr>
        <p:txBody>
          <a:bodyPr wrap="square" rtlCol="0" anchor="ctr"/>
          <a:lstStyle/>
          <a:p>
            <a:pPr marL="0" indent="0">
              <a:buNone/>
            </a:pPr>
            <a:r>
              <a:rPr lang="en-US" sz="1200" b="1" dirty="0">
                <a:solidFill>
                  <a:srgbClr val="0D1B2A"/>
                </a:solidFill>
                <a:latin typeface="Calibri" panose="020F0502020204030204" pitchFamily="34" charset="0"/>
                <a:ea typeface="Calibri" panose="020F0502020204030204" pitchFamily="34" charset="-122"/>
                <a:cs typeface="Calibri" panose="020F0502020204030204" pitchFamily="34" charset="-120"/>
              </a:rPr>
              <a:t>Milestone Metrics</a:t>
            </a:r>
            <a:endParaRPr lang="en-US" sz="1200" dirty="0"/>
          </a:p>
        </p:txBody>
      </p:sp>
      <p:sp>
        <p:nvSpPr>
          <p:cNvPr id="7" name="Shape 4"/>
          <p:cNvSpPr/>
          <p:nvPr/>
        </p:nvSpPr>
        <p:spPr>
          <a:xfrm>
            <a:off x="6309360" y="1261872"/>
            <a:ext cx="2468880" cy="658368"/>
          </a:xfrm>
          <a:prstGeom prst="rect">
            <a:avLst/>
          </a:prstGeom>
          <a:solidFill>
            <a:srgbClr val="90A4AE">
              <a:alpha val="12000"/>
            </a:srgbClr>
          </a:solidFill>
          <a:ln w="12700">
            <a:solidFill>
              <a:srgbClr val="90A4AE"/>
            </a:solidFill>
            <a:prstDash val="solid"/>
          </a:ln>
        </p:spPr>
      </p:sp>
      <p:sp>
        <p:nvSpPr>
          <p:cNvPr id="8" name="Text 5"/>
          <p:cNvSpPr/>
          <p:nvPr/>
        </p:nvSpPr>
        <p:spPr>
          <a:xfrm>
            <a:off x="6355080" y="1261872"/>
            <a:ext cx="914400" cy="658368"/>
          </a:xfrm>
          <a:prstGeom prst="rect">
            <a:avLst/>
          </a:prstGeom>
          <a:noFill/>
        </p:spPr>
        <p:txBody>
          <a:bodyPr wrap="square" rtlCol="0" anchor="ctr"/>
          <a:lstStyle/>
          <a:p>
            <a:pPr marL="0" indent="0">
              <a:buNone/>
            </a:pPr>
            <a:r>
              <a:rPr lang="en-US" sz="2200" b="1" dirty="0">
                <a:solidFill>
                  <a:srgbClr val="90A4AE"/>
                </a:solidFill>
                <a:latin typeface="Calibri" panose="020F0502020204030204" pitchFamily="34" charset="0"/>
                <a:ea typeface="Calibri" panose="020F0502020204030204" pitchFamily="34" charset="-122"/>
                <a:cs typeface="Calibri" panose="020F0502020204030204" pitchFamily="34" charset="-120"/>
              </a:rPr>
              <a:t>36%</a:t>
            </a:r>
            <a:endParaRPr lang="en-US" sz="2200" dirty="0"/>
          </a:p>
        </p:txBody>
      </p:sp>
      <p:sp>
        <p:nvSpPr>
          <p:cNvPr id="9" name="Text 6"/>
          <p:cNvSpPr/>
          <p:nvPr/>
        </p:nvSpPr>
        <p:spPr>
          <a:xfrm>
            <a:off x="7269480" y="1325880"/>
            <a:ext cx="1417320" cy="530352"/>
          </a:xfrm>
          <a:prstGeom prst="rect">
            <a:avLst/>
          </a:prstGeom>
          <a:noFill/>
        </p:spPr>
        <p:txBody>
          <a:bodyPr wrap="square" rtlCol="0" anchor="ctr"/>
          <a:lstStyle/>
          <a:p>
            <a:pPr marL="0" indent="0">
              <a:buNone/>
            </a:pPr>
            <a:r>
              <a:rPr lang="en-US" sz="1000" dirty="0">
                <a:solidFill>
                  <a:srgbClr val="263238"/>
                </a:solidFill>
                <a:latin typeface="Calibri" panose="020F0502020204030204" pitchFamily="34" charset="0"/>
                <a:ea typeface="Calibri" panose="020F0502020204030204" pitchFamily="34" charset="-122"/>
                <a:cs typeface="Calibri" panose="020F0502020204030204" pitchFamily="34" charset="-120"/>
              </a:rPr>
              <a:t>Prompt Engineering</a:t>
            </a:r>
            <a:endParaRPr lang="en-US" sz="1000" dirty="0"/>
          </a:p>
        </p:txBody>
      </p:sp>
      <p:sp>
        <p:nvSpPr>
          <p:cNvPr id="10" name="Shape 7"/>
          <p:cNvSpPr/>
          <p:nvPr/>
        </p:nvSpPr>
        <p:spPr>
          <a:xfrm>
            <a:off x="6309360" y="2011680"/>
            <a:ext cx="2468880" cy="658368"/>
          </a:xfrm>
          <a:prstGeom prst="rect">
            <a:avLst/>
          </a:prstGeom>
          <a:solidFill>
            <a:srgbClr val="42A5F5">
              <a:alpha val="12000"/>
            </a:srgbClr>
          </a:solidFill>
          <a:ln w="12700">
            <a:solidFill>
              <a:srgbClr val="42A5F5"/>
            </a:solidFill>
            <a:prstDash val="solid"/>
          </a:ln>
        </p:spPr>
      </p:sp>
      <p:sp>
        <p:nvSpPr>
          <p:cNvPr id="11" name="Text 8"/>
          <p:cNvSpPr/>
          <p:nvPr/>
        </p:nvSpPr>
        <p:spPr>
          <a:xfrm>
            <a:off x="6355080" y="2011680"/>
            <a:ext cx="914400" cy="658368"/>
          </a:xfrm>
          <a:prstGeom prst="rect">
            <a:avLst/>
          </a:prstGeom>
          <a:noFill/>
        </p:spPr>
        <p:txBody>
          <a:bodyPr wrap="square" rtlCol="0" anchor="ctr"/>
          <a:lstStyle/>
          <a:p>
            <a:pPr marL="0" indent="0">
              <a:buNone/>
            </a:pPr>
            <a:r>
              <a:rPr lang="en-US" sz="2200" b="1" dirty="0">
                <a:solidFill>
                  <a:srgbClr val="42A5F5"/>
                </a:solidFill>
                <a:latin typeface="Calibri" panose="020F0502020204030204" pitchFamily="34" charset="0"/>
                <a:ea typeface="Calibri" panose="020F0502020204030204" pitchFamily="34" charset="-122"/>
                <a:cs typeface="Calibri" panose="020F0502020204030204" pitchFamily="34" charset="-120"/>
              </a:rPr>
              <a:t>42.5%</a:t>
            </a:r>
            <a:endParaRPr lang="en-US" sz="2200" dirty="0"/>
          </a:p>
        </p:txBody>
      </p:sp>
      <p:sp>
        <p:nvSpPr>
          <p:cNvPr id="12" name="Text 9"/>
          <p:cNvSpPr/>
          <p:nvPr/>
        </p:nvSpPr>
        <p:spPr>
          <a:xfrm>
            <a:off x="7269480" y="2075688"/>
            <a:ext cx="1417320" cy="530352"/>
          </a:xfrm>
          <a:prstGeom prst="rect">
            <a:avLst/>
          </a:prstGeom>
          <a:noFill/>
        </p:spPr>
        <p:txBody>
          <a:bodyPr wrap="square" rtlCol="0" anchor="ctr"/>
          <a:lstStyle/>
          <a:p>
            <a:pPr marL="0" indent="0">
              <a:buNone/>
            </a:pPr>
            <a:r>
              <a:rPr lang="en-US" sz="1000" dirty="0">
                <a:solidFill>
                  <a:srgbClr val="263238"/>
                </a:solidFill>
                <a:latin typeface="Calibri" panose="020F0502020204030204" pitchFamily="34" charset="0"/>
                <a:ea typeface="Calibri" panose="020F0502020204030204" pitchFamily="34" charset="-122"/>
                <a:cs typeface="Calibri" panose="020F0502020204030204" pitchFamily="34" charset="-120"/>
              </a:rPr>
              <a:t>Behavioral Cloning</a:t>
            </a:r>
            <a:endParaRPr lang="en-US" sz="1000" dirty="0"/>
          </a:p>
        </p:txBody>
      </p:sp>
      <p:sp>
        <p:nvSpPr>
          <p:cNvPr id="13" name="Shape 10"/>
          <p:cNvSpPr/>
          <p:nvPr/>
        </p:nvSpPr>
        <p:spPr>
          <a:xfrm>
            <a:off x="6309360" y="2761488"/>
            <a:ext cx="2468880" cy="658368"/>
          </a:xfrm>
          <a:prstGeom prst="rect">
            <a:avLst/>
          </a:prstGeom>
          <a:solidFill>
            <a:srgbClr val="4CAF50">
              <a:alpha val="12000"/>
            </a:srgbClr>
          </a:solidFill>
          <a:ln w="12700">
            <a:solidFill>
              <a:srgbClr val="4CAF50"/>
            </a:solidFill>
            <a:prstDash val="solid"/>
          </a:ln>
        </p:spPr>
      </p:sp>
      <p:sp>
        <p:nvSpPr>
          <p:cNvPr id="14" name="Text 11"/>
          <p:cNvSpPr/>
          <p:nvPr/>
        </p:nvSpPr>
        <p:spPr>
          <a:xfrm>
            <a:off x="6355080" y="2761488"/>
            <a:ext cx="914400" cy="658368"/>
          </a:xfrm>
          <a:prstGeom prst="rect">
            <a:avLst/>
          </a:prstGeom>
          <a:noFill/>
        </p:spPr>
        <p:txBody>
          <a:bodyPr wrap="square" rtlCol="0" anchor="ctr"/>
          <a:lstStyle/>
          <a:p>
            <a:pPr marL="0" indent="0">
              <a:buNone/>
            </a:pPr>
            <a:r>
              <a:rPr lang="en-US" sz="2200" b="1" dirty="0">
                <a:solidFill>
                  <a:srgbClr val="4CAF50"/>
                </a:solidFill>
                <a:latin typeface="Calibri" panose="020F0502020204030204" pitchFamily="34" charset="0"/>
                <a:ea typeface="Calibri" panose="020F0502020204030204" pitchFamily="34" charset="-122"/>
                <a:cs typeface="Calibri" panose="020F0502020204030204" pitchFamily="34" charset="-120"/>
              </a:rPr>
              <a:t>48.67%</a:t>
            </a:r>
            <a:endParaRPr lang="en-US" sz="2200" dirty="0"/>
          </a:p>
        </p:txBody>
      </p:sp>
      <p:sp>
        <p:nvSpPr>
          <p:cNvPr id="15" name="Text 12"/>
          <p:cNvSpPr/>
          <p:nvPr/>
        </p:nvSpPr>
        <p:spPr>
          <a:xfrm>
            <a:off x="7269480" y="2825496"/>
            <a:ext cx="1417320" cy="530352"/>
          </a:xfrm>
          <a:prstGeom prst="rect">
            <a:avLst/>
          </a:prstGeom>
          <a:noFill/>
        </p:spPr>
        <p:txBody>
          <a:bodyPr wrap="square" rtlCol="0" anchor="ctr"/>
          <a:lstStyle/>
          <a:p>
            <a:pPr marL="0" indent="0">
              <a:buNone/>
            </a:pPr>
            <a:r>
              <a:rPr lang="en-US" sz="1000" dirty="0">
                <a:solidFill>
                  <a:srgbClr val="263238"/>
                </a:solidFill>
                <a:latin typeface="Calibri" panose="020F0502020204030204" pitchFamily="34" charset="0"/>
                <a:ea typeface="Calibri" panose="020F0502020204030204" pitchFamily="34" charset="-122"/>
                <a:cs typeface="Calibri" panose="020F0502020204030204" pitchFamily="34" charset="-120"/>
              </a:rPr>
              <a:t>CQL Base</a:t>
            </a:r>
            <a:endParaRPr lang="en-US" sz="1000" dirty="0"/>
          </a:p>
        </p:txBody>
      </p:sp>
      <p:sp>
        <p:nvSpPr>
          <p:cNvPr id="16" name="Shape 13"/>
          <p:cNvSpPr/>
          <p:nvPr/>
        </p:nvSpPr>
        <p:spPr>
          <a:xfrm>
            <a:off x="6309360" y="3511296"/>
            <a:ext cx="2468880" cy="658368"/>
          </a:xfrm>
          <a:prstGeom prst="rect">
            <a:avLst/>
          </a:prstGeom>
          <a:solidFill>
            <a:srgbClr val="00897B">
              <a:alpha val="12000"/>
            </a:srgbClr>
          </a:solidFill>
          <a:ln w="12700">
            <a:solidFill>
              <a:srgbClr val="00897B"/>
            </a:solidFill>
            <a:prstDash val="solid"/>
          </a:ln>
        </p:spPr>
      </p:sp>
      <p:sp>
        <p:nvSpPr>
          <p:cNvPr id="17" name="Text 14"/>
          <p:cNvSpPr/>
          <p:nvPr/>
        </p:nvSpPr>
        <p:spPr>
          <a:xfrm>
            <a:off x="6355080" y="3511296"/>
            <a:ext cx="914400" cy="658368"/>
          </a:xfrm>
          <a:prstGeom prst="rect">
            <a:avLst/>
          </a:prstGeom>
          <a:noFill/>
        </p:spPr>
        <p:txBody>
          <a:bodyPr wrap="square" rtlCol="0" anchor="ctr"/>
          <a:lstStyle/>
          <a:p>
            <a:pPr marL="0" indent="0">
              <a:buNone/>
            </a:pPr>
            <a:r>
              <a:rPr lang="en-US" sz="2200" b="1" dirty="0">
                <a:solidFill>
                  <a:srgbClr val="00897B"/>
                </a:solidFill>
                <a:latin typeface="Calibri" panose="020F0502020204030204" pitchFamily="34" charset="0"/>
                <a:ea typeface="Calibri" panose="020F0502020204030204" pitchFamily="34" charset="-122"/>
                <a:cs typeface="Calibri" panose="020F0502020204030204" pitchFamily="34" charset="-120"/>
              </a:rPr>
              <a:t>60.33%</a:t>
            </a:r>
            <a:endParaRPr lang="en-US" sz="2200" dirty="0"/>
          </a:p>
        </p:txBody>
      </p:sp>
      <p:sp>
        <p:nvSpPr>
          <p:cNvPr id="18" name="Text 15"/>
          <p:cNvSpPr/>
          <p:nvPr/>
        </p:nvSpPr>
        <p:spPr>
          <a:xfrm>
            <a:off x="7269480" y="3575304"/>
            <a:ext cx="1417320" cy="530352"/>
          </a:xfrm>
          <a:prstGeom prst="rect">
            <a:avLst/>
          </a:prstGeom>
          <a:noFill/>
        </p:spPr>
        <p:txBody>
          <a:bodyPr wrap="square" rtlCol="0" anchor="ctr"/>
          <a:lstStyle/>
          <a:p>
            <a:pPr marL="0" indent="0">
              <a:buNone/>
            </a:pPr>
            <a:r>
              <a:rPr lang="en-US" sz="1000" dirty="0">
                <a:solidFill>
                  <a:srgbClr val="263238"/>
                </a:solidFill>
                <a:latin typeface="Calibri" panose="020F0502020204030204" pitchFamily="34" charset="0"/>
                <a:ea typeface="Calibri" panose="020F0502020204030204" pitchFamily="34" charset="-122"/>
                <a:cs typeface="Calibri" panose="020F0502020204030204" pitchFamily="34" charset="-120"/>
              </a:rPr>
              <a:t>CQL + Augment (D+)</a:t>
            </a:r>
            <a:endParaRPr lang="en-US" sz="1000" dirty="0"/>
          </a:p>
        </p:txBody>
      </p:sp>
      <p:sp>
        <p:nvSpPr>
          <p:cNvPr id="19" name="Shape 16"/>
          <p:cNvSpPr/>
          <p:nvPr/>
        </p:nvSpPr>
        <p:spPr>
          <a:xfrm>
            <a:off x="6309360" y="4160520"/>
            <a:ext cx="2468880" cy="530352"/>
          </a:xfrm>
          <a:prstGeom prst="rect">
            <a:avLst/>
          </a:prstGeom>
          <a:solidFill>
            <a:srgbClr val="E8F5E9"/>
          </a:solidFill>
          <a:ln w="19050">
            <a:solidFill>
              <a:srgbClr val="00897B"/>
            </a:solidFill>
            <a:prstDash val="solid"/>
          </a:ln>
        </p:spPr>
      </p:sp>
      <p:sp>
        <p:nvSpPr>
          <p:cNvPr id="20" name="Text 17"/>
          <p:cNvSpPr/>
          <p:nvPr/>
        </p:nvSpPr>
        <p:spPr>
          <a:xfrm>
            <a:off x="6355080" y="4187952"/>
            <a:ext cx="2377440" cy="475488"/>
          </a:xfrm>
          <a:prstGeom prst="rect">
            <a:avLst/>
          </a:prstGeom>
          <a:noFill/>
        </p:spPr>
        <p:txBody>
          <a:bodyPr wrap="square" rtlCol="0" anchor="ctr"/>
          <a:lstStyle/>
          <a:p>
            <a:pPr marL="0" indent="0">
              <a:buNone/>
            </a:pPr>
            <a:r>
              <a:rPr lang="en-US" sz="1100" b="1" dirty="0">
                <a:solidFill>
                  <a:srgbClr val="00695C"/>
                </a:solidFill>
                <a:latin typeface="Calibri" panose="020F0502020204030204" pitchFamily="34" charset="0"/>
                <a:ea typeface="Calibri" panose="020F0502020204030204" pitchFamily="34" charset="-122"/>
                <a:cs typeface="Calibri" panose="020F0502020204030204" pitchFamily="34" charset="-120"/>
              </a:rPr>
              <a:t>+67.58% relative improvement over baseline</a:t>
            </a:r>
            <a:endParaRPr lang="en-US" sz="1100" dirty="0"/>
          </a:p>
        </p:txBody>
      </p:sp>
      <p:sp>
        <p:nvSpPr>
          <p:cNvPr id="21" name="Text 18"/>
          <p:cNvSpPr/>
          <p:nvPr/>
        </p:nvSpPr>
        <p:spPr>
          <a:xfrm>
            <a:off x="8046720" y="4846320"/>
            <a:ext cx="914400" cy="274320"/>
          </a:xfrm>
          <a:prstGeom prst="rect">
            <a:avLst/>
          </a:prstGeom>
          <a:noFill/>
        </p:spPr>
        <p:txBody>
          <a:bodyPr wrap="square" rtlCol="0" anchor="ctr"/>
          <a:lstStyle/>
          <a:p>
            <a:pPr marL="0" indent="0" algn="r">
              <a:buNone/>
            </a:pPr>
            <a:r>
              <a:rPr lang="en-US" sz="1000" dirty="0">
                <a:solidFill>
                  <a:srgbClr val="607D8B"/>
                </a:solidFill>
                <a:latin typeface="Calibri" panose="020F0502020204030204" pitchFamily="34" charset="0"/>
                <a:ea typeface="Calibri" panose="020F0502020204030204" pitchFamily="34" charset="-122"/>
                <a:cs typeface="Calibri" panose="020F0502020204030204" pitchFamily="34" charset="-120"/>
              </a:rPr>
              <a:t>9 / 15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p:spPr>
      </p:sp>
      <p:sp>
        <p:nvSpPr>
          <p:cNvPr id="3" name="Text 1"/>
          <p:cNvSpPr/>
          <p:nvPr/>
        </p:nvSpPr>
        <p:spPr>
          <a:xfrm>
            <a:off x="274320" y="0"/>
            <a:ext cx="8595360" cy="68580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Observation: Dense Shaping Accelerates Convergence</a:t>
            </a:r>
            <a:endParaRPr lang="en-US" sz="2200" dirty="0"/>
          </a:p>
        </p:txBody>
      </p:sp>
      <p:graphicFrame>
        <p:nvGraphicFramePr>
          <p:cNvPr id="4" name="Chart 0"/>
          <p:cNvGraphicFramePr/>
          <p:nvPr/>
        </p:nvGraphicFramePr>
        <p:xfrm>
          <a:off x="274320" y="777240"/>
          <a:ext cx="4572000" cy="41148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5" name="Chart 1"/>
          <p:cNvGraphicFramePr/>
          <p:nvPr/>
        </p:nvGraphicFramePr>
        <p:xfrm>
          <a:off x="5029200" y="777240"/>
          <a:ext cx="3931920" cy="41148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2"/>
          <p:cNvSpPr/>
          <p:nvPr/>
        </p:nvSpPr>
        <p:spPr>
          <a:xfrm>
            <a:off x="8046720" y="4846320"/>
            <a:ext cx="914400" cy="274320"/>
          </a:xfrm>
          <a:prstGeom prst="rect">
            <a:avLst/>
          </a:prstGeom>
          <a:noFill/>
        </p:spPr>
        <p:txBody>
          <a:bodyPr wrap="square" rtlCol="0" anchor="ctr"/>
          <a:lstStyle/>
          <a:p>
            <a:pPr marL="0" indent="0" algn="r">
              <a:buNone/>
            </a:pPr>
            <a:r>
              <a:rPr lang="en-US" sz="1000" dirty="0">
                <a:solidFill>
                  <a:srgbClr val="607D8B"/>
                </a:solidFill>
                <a:latin typeface="Calibri" panose="020F0502020204030204" pitchFamily="34" charset="0"/>
                <a:ea typeface="Calibri" panose="020F0502020204030204" pitchFamily="34" charset="-122"/>
                <a:cs typeface="Calibri" panose="020F0502020204030204" pitchFamily="34" charset="-120"/>
              </a:rPr>
              <a:t>10 / 15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565C0"/>
          </a:solidFill>
        </p:spPr>
      </p:sp>
      <p:sp>
        <p:nvSpPr>
          <p:cNvPr id="3" name="Text 1"/>
          <p:cNvSpPr/>
          <p:nvPr/>
        </p:nvSpPr>
        <p:spPr>
          <a:xfrm>
            <a:off x="274320" y="0"/>
            <a:ext cx="8595360" cy="68580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The Ultimate Benchmark: Cross-Domain Generalization</a:t>
            </a:r>
            <a:endParaRPr lang="en-US" sz="2200" dirty="0"/>
          </a:p>
        </p:txBody>
      </p:sp>
      <p:sp>
        <p:nvSpPr>
          <p:cNvPr id="4" name="Shape 2"/>
          <p:cNvSpPr/>
          <p:nvPr/>
        </p:nvSpPr>
        <p:spPr>
          <a:xfrm>
            <a:off x="274320" y="804672"/>
            <a:ext cx="8595360" cy="658368"/>
          </a:xfrm>
          <a:prstGeom prst="rect">
            <a:avLst/>
          </a:prstGeom>
          <a:solidFill>
            <a:srgbClr val="FFF3E0"/>
          </a:solidFill>
          <a:ln w="19050">
            <a:solidFill>
              <a:srgbClr val="F57F17"/>
            </a:solidFill>
            <a:prstDash val="solid"/>
          </a:ln>
        </p:spPr>
      </p:sp>
      <p:sp>
        <p:nvSpPr>
          <p:cNvPr id="5" name="Text 3"/>
          <p:cNvSpPr/>
          <p:nvPr/>
        </p:nvSpPr>
        <p:spPr>
          <a:xfrm>
            <a:off x="411480" y="841248"/>
            <a:ext cx="8321040" cy="548640"/>
          </a:xfrm>
          <a:prstGeom prst="rect">
            <a:avLst/>
          </a:prstGeom>
          <a:noFill/>
        </p:spPr>
        <p:txBody>
          <a:bodyPr wrap="square" rtlCol="0" anchor="ctr"/>
          <a:lstStyle/>
          <a:p>
            <a:pPr marL="0" indent="0" algn="ctr">
              <a:buNone/>
            </a:pPr>
            <a:r>
              <a:rPr lang="en-US" sz="1200" b="1" dirty="0">
                <a:solidFill>
                  <a:srgbClr val="E65100"/>
                </a:solidFill>
                <a:latin typeface="Calibri" panose="020F0502020204030204" pitchFamily="34" charset="0"/>
                <a:ea typeface="Calibri" panose="020F0502020204030204" pitchFamily="34" charset="-122"/>
                <a:cs typeface="Calibri" panose="020F0502020204030204" pitchFamily="34" charset="-120"/>
              </a:rPr>
              <a:t>⚠️  Paper's CQL on Unseen Domains: 27.48% collapse  |  Our 409D Model: ~63% retained across ALL 4 domains  |  2.3× improvement</a:t>
            </a:r>
            <a:endParaRPr lang="en-US" sz="1200" dirty="0"/>
          </a:p>
        </p:txBody>
      </p:sp>
      <p:graphicFrame>
        <p:nvGraphicFramePr>
          <p:cNvPr id="6" name="Chart 0"/>
          <p:cNvGraphicFramePr/>
          <p:nvPr/>
        </p:nvGraphicFramePr>
        <p:xfrm>
          <a:off x="274320" y="1572768"/>
          <a:ext cx="5943600" cy="3337560"/>
        </p:xfrm>
        <a:graphic>
          <a:graphicData uri="http://schemas.openxmlformats.org/drawingml/2006/chart">
            <c:chart xmlns:c="http://schemas.openxmlformats.org/drawingml/2006/chart" xmlns:r="http://schemas.openxmlformats.org/officeDocument/2006/relationships" r:id="rId1"/>
          </a:graphicData>
        </a:graphic>
      </p:graphicFrame>
      <p:sp>
        <p:nvSpPr>
          <p:cNvPr id="7" name="Shape 4"/>
          <p:cNvSpPr/>
          <p:nvPr/>
        </p:nvSpPr>
        <p:spPr>
          <a:xfrm>
            <a:off x="6400800" y="1572768"/>
            <a:ext cx="2468880" cy="713232"/>
          </a:xfrm>
          <a:prstGeom prst="rect">
            <a:avLst/>
          </a:prstGeom>
          <a:solidFill>
            <a:srgbClr val="1565C0">
              <a:alpha val="12000"/>
            </a:srgbClr>
          </a:solidFill>
          <a:ln w="19050">
            <a:solidFill>
              <a:srgbClr val="1565C0"/>
            </a:solidFill>
            <a:prstDash val="solid"/>
          </a:ln>
        </p:spPr>
      </p:sp>
      <p:sp>
        <p:nvSpPr>
          <p:cNvPr id="8" name="Text 5"/>
          <p:cNvSpPr/>
          <p:nvPr/>
        </p:nvSpPr>
        <p:spPr>
          <a:xfrm>
            <a:off x="6446520" y="1572768"/>
            <a:ext cx="1097280" cy="713232"/>
          </a:xfrm>
          <a:prstGeom prst="rect">
            <a:avLst/>
          </a:prstGeom>
          <a:noFill/>
        </p:spPr>
        <p:txBody>
          <a:bodyPr wrap="square" rtlCol="0" anchor="ctr"/>
          <a:lstStyle/>
          <a:p>
            <a:pPr marL="0" indent="0">
              <a:buNone/>
            </a:pPr>
            <a:r>
              <a:rPr lang="en-US" sz="2400" b="1" dirty="0">
                <a:solidFill>
                  <a:srgbClr val="1565C0"/>
                </a:solidFill>
                <a:latin typeface="Calibri" panose="020F0502020204030204" pitchFamily="34" charset="0"/>
                <a:ea typeface="Calibri" panose="020F0502020204030204" pitchFamily="34" charset="-122"/>
                <a:cs typeface="Calibri" panose="020F0502020204030204" pitchFamily="34" charset="-120"/>
              </a:rPr>
              <a:t>64.12%</a:t>
            </a:r>
            <a:endParaRPr lang="en-US" sz="2400" dirty="0"/>
          </a:p>
        </p:txBody>
      </p:sp>
      <p:sp>
        <p:nvSpPr>
          <p:cNvPr id="9" name="Text 6"/>
          <p:cNvSpPr/>
          <p:nvPr/>
        </p:nvSpPr>
        <p:spPr>
          <a:xfrm>
            <a:off x="7543800" y="1691640"/>
            <a:ext cx="1234440" cy="457200"/>
          </a:xfrm>
          <a:prstGeom prst="rect">
            <a:avLst/>
          </a:prstGeom>
          <a:noFill/>
        </p:spPr>
        <p:txBody>
          <a:bodyPr wrap="square" rtlCol="0" anchor="ctr"/>
          <a:lstStyle/>
          <a:p>
            <a:pPr marL="0" indent="0">
              <a:buNone/>
            </a:pPr>
            <a:r>
              <a:rPr lang="en-US" sz="1300" dirty="0">
                <a:solidFill>
                  <a:srgbClr val="263238"/>
                </a:solidFill>
                <a:latin typeface="Calibri" panose="020F0502020204030204" pitchFamily="34" charset="0"/>
                <a:ea typeface="Calibri" panose="020F0502020204030204" pitchFamily="34" charset="-122"/>
                <a:cs typeface="Calibri" panose="020F0502020204030204" pitchFamily="34" charset="-120"/>
              </a:rPr>
              <a:t>Math</a:t>
            </a:r>
            <a:endParaRPr lang="en-US" sz="1300" dirty="0"/>
          </a:p>
        </p:txBody>
      </p:sp>
      <p:sp>
        <p:nvSpPr>
          <p:cNvPr id="10" name="Shape 7"/>
          <p:cNvSpPr/>
          <p:nvPr/>
        </p:nvSpPr>
        <p:spPr>
          <a:xfrm>
            <a:off x="6400800" y="2377440"/>
            <a:ext cx="2468880" cy="713232"/>
          </a:xfrm>
          <a:prstGeom prst="rect">
            <a:avLst/>
          </a:prstGeom>
          <a:solidFill>
            <a:srgbClr val="00897B">
              <a:alpha val="12000"/>
            </a:srgbClr>
          </a:solidFill>
          <a:ln w="19050">
            <a:solidFill>
              <a:srgbClr val="00897B"/>
            </a:solidFill>
            <a:prstDash val="solid"/>
          </a:ln>
        </p:spPr>
      </p:sp>
      <p:sp>
        <p:nvSpPr>
          <p:cNvPr id="11" name="Text 8"/>
          <p:cNvSpPr/>
          <p:nvPr/>
        </p:nvSpPr>
        <p:spPr>
          <a:xfrm>
            <a:off x="6446520" y="2377440"/>
            <a:ext cx="1097280" cy="713232"/>
          </a:xfrm>
          <a:prstGeom prst="rect">
            <a:avLst/>
          </a:prstGeom>
          <a:noFill/>
        </p:spPr>
        <p:txBody>
          <a:bodyPr wrap="square" rtlCol="0" anchor="ctr"/>
          <a:lstStyle/>
          <a:p>
            <a:pPr marL="0" indent="0">
              <a:buNone/>
            </a:pPr>
            <a:r>
              <a:rPr lang="en-US" sz="2400" b="1" dirty="0">
                <a:solidFill>
                  <a:srgbClr val="00897B"/>
                </a:solidFill>
                <a:latin typeface="Calibri" panose="020F0502020204030204" pitchFamily="34" charset="0"/>
                <a:ea typeface="Calibri" panose="020F0502020204030204" pitchFamily="34" charset="-122"/>
                <a:cs typeface="Calibri" panose="020F0502020204030204" pitchFamily="34" charset="-120"/>
              </a:rPr>
              <a:t>62.80%</a:t>
            </a:r>
            <a:endParaRPr lang="en-US" sz="2400" dirty="0"/>
          </a:p>
        </p:txBody>
      </p:sp>
      <p:sp>
        <p:nvSpPr>
          <p:cNvPr id="12" name="Text 9"/>
          <p:cNvSpPr/>
          <p:nvPr/>
        </p:nvSpPr>
        <p:spPr>
          <a:xfrm>
            <a:off x="7543800" y="2496312"/>
            <a:ext cx="1234440" cy="457200"/>
          </a:xfrm>
          <a:prstGeom prst="rect">
            <a:avLst/>
          </a:prstGeom>
          <a:noFill/>
        </p:spPr>
        <p:txBody>
          <a:bodyPr wrap="square" rtlCol="0" anchor="ctr"/>
          <a:lstStyle/>
          <a:p>
            <a:pPr marL="0" indent="0">
              <a:buNone/>
            </a:pPr>
            <a:r>
              <a:rPr lang="en-US" sz="1300" dirty="0">
                <a:solidFill>
                  <a:srgbClr val="263238"/>
                </a:solidFill>
                <a:latin typeface="Calibri" panose="020F0502020204030204" pitchFamily="34" charset="0"/>
                <a:ea typeface="Calibri" panose="020F0502020204030204" pitchFamily="34" charset="-122"/>
                <a:cs typeface="Calibri" panose="020F0502020204030204" pitchFamily="34" charset="-120"/>
              </a:rPr>
              <a:t>Physics</a:t>
            </a:r>
            <a:endParaRPr lang="en-US" sz="1300" dirty="0"/>
          </a:p>
        </p:txBody>
      </p:sp>
      <p:sp>
        <p:nvSpPr>
          <p:cNvPr id="13" name="Shape 10"/>
          <p:cNvSpPr/>
          <p:nvPr/>
        </p:nvSpPr>
        <p:spPr>
          <a:xfrm>
            <a:off x="6400800" y="3182112"/>
            <a:ext cx="2468880" cy="713232"/>
          </a:xfrm>
          <a:prstGeom prst="rect">
            <a:avLst/>
          </a:prstGeom>
          <a:solidFill>
            <a:srgbClr val="6A1B9A">
              <a:alpha val="12000"/>
            </a:srgbClr>
          </a:solidFill>
          <a:ln w="19050">
            <a:solidFill>
              <a:srgbClr val="6A1B9A"/>
            </a:solidFill>
            <a:prstDash val="solid"/>
          </a:ln>
        </p:spPr>
      </p:sp>
      <p:sp>
        <p:nvSpPr>
          <p:cNvPr id="14" name="Text 11"/>
          <p:cNvSpPr/>
          <p:nvPr/>
        </p:nvSpPr>
        <p:spPr>
          <a:xfrm>
            <a:off x="6446520" y="3182112"/>
            <a:ext cx="1097280" cy="713232"/>
          </a:xfrm>
          <a:prstGeom prst="rect">
            <a:avLst/>
          </a:prstGeom>
          <a:noFill/>
        </p:spPr>
        <p:txBody>
          <a:bodyPr wrap="square" rtlCol="0" anchor="ctr"/>
          <a:lstStyle/>
          <a:p>
            <a:pPr marL="0" indent="0">
              <a:buNone/>
            </a:pPr>
            <a:r>
              <a:rPr lang="en-US" sz="2400" b="1" dirty="0">
                <a:solidFill>
                  <a:srgbClr val="6A1B9A"/>
                </a:solidFill>
                <a:latin typeface="Calibri" panose="020F0502020204030204" pitchFamily="34" charset="0"/>
                <a:ea typeface="Calibri" panose="020F0502020204030204" pitchFamily="34" charset="-122"/>
                <a:cs typeface="Calibri" panose="020F0502020204030204" pitchFamily="34" charset="-120"/>
              </a:rPr>
              <a:t>62.60%</a:t>
            </a:r>
            <a:endParaRPr lang="en-US" sz="2400" dirty="0"/>
          </a:p>
        </p:txBody>
      </p:sp>
      <p:sp>
        <p:nvSpPr>
          <p:cNvPr id="15" name="Text 12"/>
          <p:cNvSpPr/>
          <p:nvPr/>
        </p:nvSpPr>
        <p:spPr>
          <a:xfrm>
            <a:off x="7543800" y="3300984"/>
            <a:ext cx="1234440" cy="457200"/>
          </a:xfrm>
          <a:prstGeom prst="rect">
            <a:avLst/>
          </a:prstGeom>
          <a:noFill/>
        </p:spPr>
        <p:txBody>
          <a:bodyPr wrap="square" rtlCol="0" anchor="ctr"/>
          <a:lstStyle/>
          <a:p>
            <a:pPr marL="0" indent="0">
              <a:buNone/>
            </a:pPr>
            <a:r>
              <a:rPr lang="en-US" sz="1300" dirty="0">
                <a:solidFill>
                  <a:srgbClr val="263238"/>
                </a:solidFill>
                <a:latin typeface="Calibri" panose="020F0502020204030204" pitchFamily="34" charset="0"/>
                <a:ea typeface="Calibri" panose="020F0502020204030204" pitchFamily="34" charset="-122"/>
                <a:cs typeface="Calibri" panose="020F0502020204030204" pitchFamily="34" charset="-120"/>
              </a:rPr>
              <a:t>History</a:t>
            </a:r>
            <a:endParaRPr lang="en-US" sz="1300" dirty="0"/>
          </a:p>
        </p:txBody>
      </p:sp>
      <p:sp>
        <p:nvSpPr>
          <p:cNvPr id="16" name="Shape 13"/>
          <p:cNvSpPr/>
          <p:nvPr/>
        </p:nvSpPr>
        <p:spPr>
          <a:xfrm>
            <a:off x="6400800" y="3986784"/>
            <a:ext cx="2468880" cy="713232"/>
          </a:xfrm>
          <a:prstGeom prst="rect">
            <a:avLst/>
          </a:prstGeom>
          <a:solidFill>
            <a:srgbClr val="E65100">
              <a:alpha val="12000"/>
            </a:srgbClr>
          </a:solidFill>
          <a:ln w="19050">
            <a:solidFill>
              <a:srgbClr val="E65100"/>
            </a:solidFill>
            <a:prstDash val="solid"/>
          </a:ln>
        </p:spPr>
      </p:sp>
      <p:sp>
        <p:nvSpPr>
          <p:cNvPr id="17" name="Text 14"/>
          <p:cNvSpPr/>
          <p:nvPr/>
        </p:nvSpPr>
        <p:spPr>
          <a:xfrm>
            <a:off x="6446520" y="3986784"/>
            <a:ext cx="1097280" cy="713232"/>
          </a:xfrm>
          <a:prstGeom prst="rect">
            <a:avLst/>
          </a:prstGeom>
          <a:noFill/>
        </p:spPr>
        <p:txBody>
          <a:bodyPr wrap="square" rtlCol="0" anchor="ctr"/>
          <a:lstStyle/>
          <a:p>
            <a:pPr marL="0" indent="0">
              <a:buNone/>
            </a:pPr>
            <a:r>
              <a:rPr lang="en-US" sz="2400" b="1" dirty="0">
                <a:solidFill>
                  <a:srgbClr val="E65100"/>
                </a:solidFill>
                <a:latin typeface="Calibri" panose="020F0502020204030204" pitchFamily="34" charset="0"/>
                <a:ea typeface="Calibri" panose="020F0502020204030204" pitchFamily="34" charset="-122"/>
                <a:cs typeface="Calibri" panose="020F0502020204030204" pitchFamily="34" charset="-120"/>
              </a:rPr>
              <a:t>61.90%</a:t>
            </a:r>
            <a:endParaRPr lang="en-US" sz="2400" dirty="0"/>
          </a:p>
        </p:txBody>
      </p:sp>
      <p:sp>
        <p:nvSpPr>
          <p:cNvPr id="18" name="Text 15"/>
          <p:cNvSpPr/>
          <p:nvPr/>
        </p:nvSpPr>
        <p:spPr>
          <a:xfrm>
            <a:off x="7543800" y="4105656"/>
            <a:ext cx="1234440" cy="457200"/>
          </a:xfrm>
          <a:prstGeom prst="rect">
            <a:avLst/>
          </a:prstGeom>
          <a:noFill/>
        </p:spPr>
        <p:txBody>
          <a:bodyPr wrap="square" rtlCol="0" anchor="ctr"/>
          <a:lstStyle/>
          <a:p>
            <a:pPr marL="0" indent="0">
              <a:buNone/>
            </a:pPr>
            <a:r>
              <a:rPr lang="en-US" sz="1300" dirty="0">
                <a:solidFill>
                  <a:srgbClr val="263238"/>
                </a:solidFill>
                <a:latin typeface="Calibri" panose="020F0502020204030204" pitchFamily="34" charset="0"/>
                <a:ea typeface="Calibri" panose="020F0502020204030204" pitchFamily="34" charset="-122"/>
                <a:cs typeface="Calibri" panose="020F0502020204030204" pitchFamily="34" charset="-120"/>
              </a:rPr>
              <a:t>Python</a:t>
            </a:r>
            <a:endParaRPr lang="en-US" sz="1300" dirty="0"/>
          </a:p>
        </p:txBody>
      </p:sp>
      <p:sp>
        <p:nvSpPr>
          <p:cNvPr id="19" name="Shape 16"/>
          <p:cNvSpPr/>
          <p:nvPr/>
        </p:nvSpPr>
        <p:spPr>
          <a:xfrm>
            <a:off x="6400800" y="4782312"/>
            <a:ext cx="2468880" cy="164592"/>
          </a:xfrm>
          <a:prstGeom prst="rect">
            <a:avLst/>
          </a:prstGeom>
          <a:solidFill>
            <a:srgbClr val="00897B"/>
          </a:solidFill>
        </p:spPr>
      </p:sp>
      <p:sp>
        <p:nvSpPr>
          <p:cNvPr id="20" name="Text 17"/>
          <p:cNvSpPr/>
          <p:nvPr/>
        </p:nvSpPr>
        <p:spPr>
          <a:xfrm>
            <a:off x="8046720" y="4846320"/>
            <a:ext cx="914400" cy="274320"/>
          </a:xfrm>
          <a:prstGeom prst="rect">
            <a:avLst/>
          </a:prstGeom>
          <a:noFill/>
        </p:spPr>
        <p:txBody>
          <a:bodyPr wrap="square" rtlCol="0" anchor="ctr"/>
          <a:lstStyle/>
          <a:p>
            <a:pPr marL="0" indent="0" algn="r">
              <a:buNone/>
            </a:pPr>
            <a:r>
              <a:rPr lang="en-US" sz="1000" dirty="0">
                <a:solidFill>
                  <a:srgbClr val="607D8B"/>
                </a:solidFill>
                <a:latin typeface="Calibri" panose="020F0502020204030204" pitchFamily="34" charset="0"/>
                <a:ea typeface="Calibri" panose="020F0502020204030204" pitchFamily="34" charset="-122"/>
                <a:cs typeface="Calibri" panose="020F0502020204030204" pitchFamily="34" charset="-120"/>
              </a:rPr>
              <a:t>11 / 15</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p:spPr>
      </p:sp>
      <p:sp>
        <p:nvSpPr>
          <p:cNvPr id="3" name="Text 1"/>
          <p:cNvSpPr/>
          <p:nvPr/>
        </p:nvSpPr>
        <p:spPr>
          <a:xfrm>
            <a:off x="274320" y="0"/>
            <a:ext cx="8595360" cy="68580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Analysis: What These Results Mean</a:t>
            </a:r>
            <a:endParaRPr lang="en-US" sz="2200" dirty="0"/>
          </a:p>
        </p:txBody>
      </p:sp>
      <p:sp>
        <p:nvSpPr>
          <p:cNvPr id="4" name="Shape 2"/>
          <p:cNvSpPr/>
          <p:nvPr/>
        </p:nvSpPr>
        <p:spPr>
          <a:xfrm>
            <a:off x="274320" y="804672"/>
            <a:ext cx="4251960" cy="196596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5" name="Shape 3"/>
          <p:cNvSpPr/>
          <p:nvPr/>
        </p:nvSpPr>
        <p:spPr>
          <a:xfrm>
            <a:off x="274320" y="804672"/>
            <a:ext cx="4251960" cy="347472"/>
          </a:xfrm>
          <a:prstGeom prst="rect">
            <a:avLst/>
          </a:prstGeom>
          <a:solidFill>
            <a:srgbClr val="1565C0"/>
          </a:solidFill>
        </p:spPr>
      </p:sp>
      <p:sp>
        <p:nvSpPr>
          <p:cNvPr id="6" name="Text 4"/>
          <p:cNvSpPr/>
          <p:nvPr/>
        </p:nvSpPr>
        <p:spPr>
          <a:xfrm>
            <a:off x="384048" y="804672"/>
            <a:ext cx="4023360" cy="347472"/>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Context-Aware Policy Learning</a:t>
            </a:r>
            <a:endParaRPr lang="en-US" sz="1150" dirty="0"/>
          </a:p>
        </p:txBody>
      </p:sp>
      <p:sp>
        <p:nvSpPr>
          <p:cNvPr id="7" name="Text 5"/>
          <p:cNvSpPr/>
          <p:nvPr/>
        </p:nvSpPr>
        <p:spPr>
          <a:xfrm>
            <a:off x="411480" y="1225296"/>
            <a:ext cx="3977640" cy="1463040"/>
          </a:xfrm>
          <a:prstGeom prst="rect">
            <a:avLst/>
          </a:prstGeom>
          <a:noFill/>
        </p:spPr>
        <p:txBody>
          <a:bodyPr wrap="square" rtlCol="0" anchor="ctr"/>
          <a:lstStyle/>
          <a:p>
            <a:pPr marL="0" indent="0">
              <a:buNone/>
            </a:pPr>
            <a:r>
              <a:rPr lang="en-US" sz="1100" dirty="0">
                <a:solidFill>
                  <a:srgbClr val="263238"/>
                </a:solidFill>
                <a:latin typeface="Calibri" panose="020F0502020204030204" pitchFamily="34" charset="0"/>
                <a:ea typeface="Calibri" panose="020F0502020204030204" pitchFamily="34" charset="-122"/>
                <a:cs typeface="Calibri" panose="020F0502020204030204" pitchFamily="34" charset="-120"/>
              </a:rPr>
              <a:t>The 409D encoding doesn't just improve accuracy — it changes what the policy learns. Instead of 'if frustrated → encourage', it learns 'if frustrated WHILE SOLVING a kinematics problem → ask about velocity formulas'.</a:t>
            </a:r>
            <a:endParaRPr lang="en-US" sz="1100" dirty="0"/>
          </a:p>
        </p:txBody>
      </p:sp>
      <p:sp>
        <p:nvSpPr>
          <p:cNvPr id="8" name="Shape 6"/>
          <p:cNvSpPr/>
          <p:nvPr/>
        </p:nvSpPr>
        <p:spPr>
          <a:xfrm>
            <a:off x="4754880" y="804672"/>
            <a:ext cx="4251960" cy="196596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9" name="Shape 7"/>
          <p:cNvSpPr/>
          <p:nvPr/>
        </p:nvSpPr>
        <p:spPr>
          <a:xfrm>
            <a:off x="4754880" y="804672"/>
            <a:ext cx="4251960" cy="347472"/>
          </a:xfrm>
          <a:prstGeom prst="rect">
            <a:avLst/>
          </a:prstGeom>
          <a:solidFill>
            <a:srgbClr val="00897B"/>
          </a:solidFill>
        </p:spPr>
      </p:sp>
      <p:sp>
        <p:nvSpPr>
          <p:cNvPr id="10" name="Text 8"/>
          <p:cNvSpPr/>
          <p:nvPr/>
        </p:nvSpPr>
        <p:spPr>
          <a:xfrm>
            <a:off x="4864608" y="804672"/>
            <a:ext cx="4023360" cy="347472"/>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Solving Credit Assignment</a:t>
            </a:r>
            <a:endParaRPr lang="en-US" sz="1150" dirty="0"/>
          </a:p>
        </p:txBody>
      </p:sp>
      <p:sp>
        <p:nvSpPr>
          <p:cNvPr id="11" name="Text 9"/>
          <p:cNvSpPr/>
          <p:nvPr/>
        </p:nvSpPr>
        <p:spPr>
          <a:xfrm>
            <a:off x="4892040" y="1225296"/>
            <a:ext cx="3977640" cy="1463040"/>
          </a:xfrm>
          <a:prstGeom prst="rect">
            <a:avLst/>
          </a:prstGeom>
          <a:noFill/>
        </p:spPr>
        <p:txBody>
          <a:bodyPr wrap="square" rtlCol="0" anchor="ctr"/>
          <a:lstStyle/>
          <a:p>
            <a:pPr marL="0" indent="0">
              <a:buNone/>
            </a:pPr>
            <a:r>
              <a:rPr lang="en-US" sz="1100" dirty="0">
                <a:solidFill>
                  <a:srgbClr val="263238"/>
                </a:solidFill>
                <a:latin typeface="Calibri" panose="020F0502020204030204" pitchFamily="34" charset="0"/>
                <a:ea typeface="Calibri" panose="020F0502020204030204" pitchFamily="34" charset="-122"/>
                <a:cs typeface="Calibri" panose="020F0502020204030204" pitchFamily="34" charset="-120"/>
              </a:rPr>
              <a:t>Dense reward shaping means the agent no longer waits 10 turns to discover which action caused success. Intermediate signals make causal attribution precise and immediate.</a:t>
            </a:r>
            <a:endParaRPr lang="en-US" sz="1100" dirty="0"/>
          </a:p>
        </p:txBody>
      </p:sp>
      <p:sp>
        <p:nvSpPr>
          <p:cNvPr id="12" name="Shape 10"/>
          <p:cNvSpPr/>
          <p:nvPr/>
        </p:nvSpPr>
        <p:spPr>
          <a:xfrm>
            <a:off x="274320" y="2907792"/>
            <a:ext cx="4251960" cy="196596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13" name="Shape 11"/>
          <p:cNvSpPr/>
          <p:nvPr/>
        </p:nvSpPr>
        <p:spPr>
          <a:xfrm>
            <a:off x="274320" y="2907792"/>
            <a:ext cx="4251960" cy="347472"/>
          </a:xfrm>
          <a:prstGeom prst="rect">
            <a:avLst/>
          </a:prstGeom>
          <a:solidFill>
            <a:srgbClr val="6A1B9A"/>
          </a:solidFill>
        </p:spPr>
      </p:sp>
      <p:sp>
        <p:nvSpPr>
          <p:cNvPr id="14" name="Text 12"/>
          <p:cNvSpPr/>
          <p:nvPr/>
        </p:nvSpPr>
        <p:spPr>
          <a:xfrm>
            <a:off x="384048" y="2907792"/>
            <a:ext cx="4023360" cy="347472"/>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HER Converts Failure into Signal</a:t>
            </a:r>
            <a:endParaRPr lang="en-US" sz="1150" dirty="0"/>
          </a:p>
        </p:txBody>
      </p:sp>
      <p:sp>
        <p:nvSpPr>
          <p:cNvPr id="15" name="Text 13"/>
          <p:cNvSpPr/>
          <p:nvPr/>
        </p:nvSpPr>
        <p:spPr>
          <a:xfrm>
            <a:off x="411480" y="3328416"/>
            <a:ext cx="3977640" cy="1463040"/>
          </a:xfrm>
          <a:prstGeom prst="rect">
            <a:avLst/>
          </a:prstGeom>
          <a:noFill/>
        </p:spPr>
        <p:txBody>
          <a:bodyPr wrap="square" rtlCol="0" anchor="ctr"/>
          <a:lstStyle/>
          <a:p>
            <a:pPr marL="0" indent="0">
              <a:buNone/>
            </a:pPr>
            <a:r>
              <a:rPr lang="en-US" sz="1100" dirty="0">
                <a:solidFill>
                  <a:srgbClr val="263238"/>
                </a:solidFill>
                <a:latin typeface="Calibri" panose="020F0502020204030204" pitchFamily="34" charset="0"/>
                <a:ea typeface="Calibri" panose="020F0502020204030204" pitchFamily="34" charset="-122"/>
                <a:cs typeface="Calibri" panose="020F0502020204030204" pitchFamily="34" charset="-120"/>
              </a:rPr>
              <a:t>In small demo runs with 5 conversations, total successes could be 0. HER recognizes partial student progress and re-labels failed trajectories as partial successes (+0.5), creating usable training signal.</a:t>
            </a:r>
            <a:endParaRPr lang="en-US" sz="1100" dirty="0"/>
          </a:p>
        </p:txBody>
      </p:sp>
      <p:sp>
        <p:nvSpPr>
          <p:cNvPr id="16" name="Shape 14"/>
          <p:cNvSpPr/>
          <p:nvPr/>
        </p:nvSpPr>
        <p:spPr>
          <a:xfrm>
            <a:off x="4754880" y="2907792"/>
            <a:ext cx="4251960" cy="196596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17" name="Shape 15"/>
          <p:cNvSpPr/>
          <p:nvPr/>
        </p:nvSpPr>
        <p:spPr>
          <a:xfrm>
            <a:off x="4754880" y="2907792"/>
            <a:ext cx="4251960" cy="347472"/>
          </a:xfrm>
          <a:prstGeom prst="rect">
            <a:avLst/>
          </a:prstGeom>
          <a:solidFill>
            <a:srgbClr val="E65100"/>
          </a:solidFill>
        </p:spPr>
      </p:sp>
      <p:sp>
        <p:nvSpPr>
          <p:cNvPr id="18" name="Text 16"/>
          <p:cNvSpPr/>
          <p:nvPr/>
        </p:nvSpPr>
        <p:spPr>
          <a:xfrm>
            <a:off x="4864608" y="2907792"/>
            <a:ext cx="4023360" cy="347472"/>
          </a:xfrm>
          <a:prstGeom prst="rect">
            <a:avLst/>
          </a:prstGeom>
          <a:noFill/>
        </p:spPr>
        <p:txBody>
          <a:bodyPr wrap="square" rtlCol="0" anchor="ct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Behavior-Only MDP → Context-Aware MDP</a:t>
            </a:r>
            <a:endParaRPr lang="en-US" sz="1150" dirty="0"/>
          </a:p>
        </p:txBody>
      </p:sp>
      <p:sp>
        <p:nvSpPr>
          <p:cNvPr id="19" name="Text 17"/>
          <p:cNvSpPr/>
          <p:nvPr/>
        </p:nvSpPr>
        <p:spPr>
          <a:xfrm>
            <a:off x="4892040" y="3328416"/>
            <a:ext cx="3977640" cy="1463040"/>
          </a:xfrm>
          <a:prstGeom prst="rect">
            <a:avLst/>
          </a:prstGeom>
          <a:noFill/>
        </p:spPr>
        <p:txBody>
          <a:bodyPr wrap="square" rtlCol="0" anchor="ctr"/>
          <a:lstStyle/>
          <a:p>
            <a:pPr marL="0" indent="0">
              <a:buNone/>
            </a:pPr>
            <a:r>
              <a:rPr lang="en-US" sz="1100" dirty="0">
                <a:solidFill>
                  <a:srgbClr val="263238"/>
                </a:solidFill>
                <a:latin typeface="Calibri" panose="020F0502020204030204" pitchFamily="34" charset="0"/>
                <a:ea typeface="Calibri" panose="020F0502020204030204" pitchFamily="34" charset="-122"/>
                <a:cs typeface="Calibri" panose="020F0502020204030204" pitchFamily="34" charset="-120"/>
              </a:rPr>
              <a:t>Original: identical state representation for basic addition vs. differential calculus. Ours: 384D semantic embedding breaks this degeneracy by encoding the mathematical structure of the problem itself.</a:t>
            </a:r>
            <a:endParaRPr lang="en-US" sz="1100" dirty="0"/>
          </a:p>
        </p:txBody>
      </p:sp>
      <p:sp>
        <p:nvSpPr>
          <p:cNvPr id="20" name="Text 18"/>
          <p:cNvSpPr/>
          <p:nvPr/>
        </p:nvSpPr>
        <p:spPr>
          <a:xfrm>
            <a:off x="8046720" y="4846320"/>
            <a:ext cx="914400" cy="274320"/>
          </a:xfrm>
          <a:prstGeom prst="rect">
            <a:avLst/>
          </a:prstGeom>
          <a:noFill/>
        </p:spPr>
        <p:txBody>
          <a:bodyPr wrap="square" rtlCol="0" anchor="ctr"/>
          <a:lstStyle/>
          <a:p>
            <a:pPr marL="0" indent="0" algn="r">
              <a:buNone/>
            </a:pPr>
            <a:r>
              <a:rPr lang="en-US" sz="1000" dirty="0">
                <a:solidFill>
                  <a:srgbClr val="607D8B"/>
                </a:solidFill>
                <a:latin typeface="Calibri" panose="020F0502020204030204" pitchFamily="34" charset="0"/>
                <a:ea typeface="Calibri" panose="020F0502020204030204" pitchFamily="34" charset="-122"/>
                <a:cs typeface="Calibri" panose="020F0502020204030204" pitchFamily="34" charset="-120"/>
              </a:rPr>
              <a:t>12 / 15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B71C1C"/>
          </a:solidFill>
        </p:spPr>
      </p:sp>
      <p:sp>
        <p:nvSpPr>
          <p:cNvPr id="3" name="Text 1"/>
          <p:cNvSpPr/>
          <p:nvPr/>
        </p:nvSpPr>
        <p:spPr>
          <a:xfrm>
            <a:off x="274320" y="0"/>
            <a:ext cx="8595360" cy="68580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Honest Assessment of Limitations</a:t>
            </a:r>
            <a:endParaRPr lang="en-US" sz="2200" dirty="0"/>
          </a:p>
        </p:txBody>
      </p:sp>
      <p:sp>
        <p:nvSpPr>
          <p:cNvPr id="4" name="Shape 2"/>
          <p:cNvSpPr/>
          <p:nvPr/>
        </p:nvSpPr>
        <p:spPr>
          <a:xfrm>
            <a:off x="274320" y="804672"/>
            <a:ext cx="4251960" cy="1207008"/>
          </a:xfrm>
          <a:prstGeom prst="rect">
            <a:avLst/>
          </a:prstGeom>
          <a:solidFill>
            <a:srgbClr val="FFFFFF"/>
          </a:solidFill>
          <a:ln w="12700">
            <a:solidFill>
              <a:srgbClr val="FFCDD2"/>
            </a:solidFill>
            <a:prstDash val="solid"/>
          </a:ln>
          <a:effectLst>
            <a:outerShdw blurRad="101600" dist="38100" dir="8100000" algn="bl" rotWithShape="0">
              <a:srgbClr val="000000">
                <a:alpha val="10000"/>
              </a:srgbClr>
            </a:outerShdw>
          </a:effectLst>
        </p:spPr>
      </p:sp>
      <p:sp>
        <p:nvSpPr>
          <p:cNvPr id="5" name="Text 3"/>
          <p:cNvSpPr/>
          <p:nvPr/>
        </p:nvSpPr>
        <p:spPr>
          <a:xfrm>
            <a:off x="365760" y="896112"/>
            <a:ext cx="457200" cy="457200"/>
          </a:xfrm>
          <a:prstGeom prst="rect">
            <a:avLst/>
          </a:prstGeom>
          <a:noFill/>
        </p:spPr>
        <p:txBody>
          <a:bodyPr wrap="square" rtlCol="0" anchor="ctr"/>
          <a:lstStyle/>
          <a:p>
            <a:pPr marL="0" indent="0">
              <a:buNone/>
            </a:pPr>
            <a:r>
              <a:rPr lang="en-US" sz="2000" dirty="0">
                <a:solidFill>
                  <a:srgbClr val="000000"/>
                </a:solidFill>
              </a:rPr>
              <a:t>⚡</a:t>
            </a:r>
            <a:endParaRPr lang="en-US" sz="2000" dirty="0"/>
          </a:p>
        </p:txBody>
      </p:sp>
      <p:sp>
        <p:nvSpPr>
          <p:cNvPr id="6" name="Text 4"/>
          <p:cNvSpPr/>
          <p:nvPr/>
        </p:nvSpPr>
        <p:spPr>
          <a:xfrm>
            <a:off x="868680" y="896112"/>
            <a:ext cx="3291840" cy="274320"/>
          </a:xfrm>
          <a:prstGeom prst="rect">
            <a:avLst/>
          </a:prstGeom>
          <a:noFill/>
        </p:spPr>
        <p:txBody>
          <a:bodyPr wrap="square" rtlCol="0" anchor="ctr"/>
          <a:lstStyle/>
          <a:p>
            <a:pPr marL="0" indent="0">
              <a:buNone/>
            </a:pPr>
            <a:r>
              <a:rPr lang="en-US" sz="1150" b="1" dirty="0">
                <a:solidFill>
                  <a:srgbClr val="0D1B2A"/>
                </a:solidFill>
                <a:latin typeface="Calibri" panose="020F0502020204030204" pitchFamily="34" charset="0"/>
                <a:ea typeface="Calibri" panose="020F0502020204030204" pitchFamily="34" charset="-122"/>
                <a:cs typeface="Calibri" panose="020F0502020204030204" pitchFamily="34" charset="-120"/>
              </a:rPr>
              <a:t>API Rate Limits</a:t>
            </a:r>
            <a:endParaRPr lang="en-US" sz="1150" dirty="0"/>
          </a:p>
        </p:txBody>
      </p:sp>
      <p:sp>
        <p:nvSpPr>
          <p:cNvPr id="7" name="Shape 5"/>
          <p:cNvSpPr/>
          <p:nvPr/>
        </p:nvSpPr>
        <p:spPr>
          <a:xfrm>
            <a:off x="3840480" y="896112"/>
            <a:ext cx="594360" cy="256032"/>
          </a:xfrm>
          <a:prstGeom prst="rect">
            <a:avLst/>
          </a:prstGeom>
          <a:solidFill>
            <a:srgbClr val="C62828"/>
          </a:solidFill>
        </p:spPr>
      </p:sp>
      <p:sp>
        <p:nvSpPr>
          <p:cNvPr id="8" name="Text 6"/>
          <p:cNvSpPr/>
          <p:nvPr/>
        </p:nvSpPr>
        <p:spPr>
          <a:xfrm>
            <a:off x="3840480" y="896112"/>
            <a:ext cx="594360" cy="256032"/>
          </a:xfrm>
          <a:prstGeom prst="rect">
            <a:avLst/>
          </a:prstGeom>
          <a:noFill/>
        </p:spPr>
        <p:txBody>
          <a:bodyPr wrap="square"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High</a:t>
            </a:r>
            <a:endParaRPr lang="en-US" sz="900" dirty="0"/>
          </a:p>
        </p:txBody>
      </p:sp>
      <p:sp>
        <p:nvSpPr>
          <p:cNvPr id="9" name="Text 7"/>
          <p:cNvSpPr/>
          <p:nvPr/>
        </p:nvSpPr>
        <p:spPr>
          <a:xfrm>
            <a:off x="868680" y="1188720"/>
            <a:ext cx="3520440" cy="749808"/>
          </a:xfrm>
          <a:prstGeom prst="rect">
            <a:avLst/>
          </a:prstGeom>
          <a:noFill/>
        </p:spPr>
        <p:txBody>
          <a:bodyPr wrap="square" rtlCol="0" anchor="ctr"/>
          <a:lstStyle/>
          <a:p>
            <a:pPr marL="0" indent="0">
              <a:buNone/>
            </a:pPr>
            <a:r>
              <a:rPr lang="en-US" sz="1000" dirty="0">
                <a:solidFill>
                  <a:srgbClr val="263238"/>
                </a:solidFill>
                <a:latin typeface="Calibri" panose="020F0502020204030204" pitchFamily="34" charset="0"/>
                <a:ea typeface="Calibri" panose="020F0502020204030204" pitchFamily="34" charset="-122"/>
                <a:cs typeface="Calibri" panose="020F0502020204030204" pitchFamily="34" charset="-120"/>
              </a:rPr>
              <a:t>Groq's free tier constrains us to 5–10 conversations per demo run. The paper used 3,000 trajectories with Claude 3 API access. Scaling requires a dedicated API budget or local model hosting.</a:t>
            </a:r>
            <a:endParaRPr lang="en-US" sz="1000" dirty="0"/>
          </a:p>
        </p:txBody>
      </p:sp>
      <p:sp>
        <p:nvSpPr>
          <p:cNvPr id="10" name="Shape 8"/>
          <p:cNvSpPr/>
          <p:nvPr/>
        </p:nvSpPr>
        <p:spPr>
          <a:xfrm>
            <a:off x="274320" y="2157984"/>
            <a:ext cx="4251960" cy="1207008"/>
          </a:xfrm>
          <a:prstGeom prst="rect">
            <a:avLst/>
          </a:prstGeom>
          <a:solidFill>
            <a:srgbClr val="FFFFFF"/>
          </a:solidFill>
          <a:ln w="12700">
            <a:solidFill>
              <a:srgbClr val="FFCDD2"/>
            </a:solidFill>
            <a:prstDash val="solid"/>
          </a:ln>
          <a:effectLst>
            <a:outerShdw blurRad="101600" dist="38100" dir="8100000" algn="bl" rotWithShape="0">
              <a:srgbClr val="000000">
                <a:alpha val="10000"/>
              </a:srgbClr>
            </a:outerShdw>
          </a:effectLst>
        </p:spPr>
      </p:sp>
      <p:sp>
        <p:nvSpPr>
          <p:cNvPr id="11" name="Text 9"/>
          <p:cNvSpPr/>
          <p:nvPr/>
        </p:nvSpPr>
        <p:spPr>
          <a:xfrm>
            <a:off x="365760" y="2249424"/>
            <a:ext cx="457200" cy="457200"/>
          </a:xfrm>
          <a:prstGeom prst="rect">
            <a:avLst/>
          </a:prstGeom>
          <a:noFill/>
        </p:spPr>
        <p:txBody>
          <a:bodyPr wrap="square" rtlCol="0" anchor="ctr"/>
          <a:lstStyle/>
          <a:p>
            <a:pPr marL="0" indent="0">
              <a:buNone/>
            </a:pPr>
            <a:r>
              <a:rPr lang="en-US" sz="2000" dirty="0">
                <a:solidFill>
                  <a:srgbClr val="000000"/>
                </a:solidFill>
              </a:rPr>
              <a:t>🧒</a:t>
            </a:r>
            <a:endParaRPr lang="en-US" sz="2000" dirty="0"/>
          </a:p>
        </p:txBody>
      </p:sp>
      <p:sp>
        <p:nvSpPr>
          <p:cNvPr id="12" name="Text 10"/>
          <p:cNvSpPr/>
          <p:nvPr/>
        </p:nvSpPr>
        <p:spPr>
          <a:xfrm>
            <a:off x="868680" y="2249424"/>
            <a:ext cx="3291840" cy="274320"/>
          </a:xfrm>
          <a:prstGeom prst="rect">
            <a:avLst/>
          </a:prstGeom>
          <a:noFill/>
        </p:spPr>
        <p:txBody>
          <a:bodyPr wrap="square" rtlCol="0" anchor="ctr"/>
          <a:lstStyle/>
          <a:p>
            <a:pPr marL="0" indent="0">
              <a:buNone/>
            </a:pPr>
            <a:r>
              <a:rPr lang="en-US" sz="1150" b="1" dirty="0">
                <a:solidFill>
                  <a:srgbClr val="0D1B2A"/>
                </a:solidFill>
                <a:latin typeface="Calibri" panose="020F0502020204030204" pitchFamily="34" charset="0"/>
                <a:ea typeface="Calibri" panose="020F0502020204030204" pitchFamily="34" charset="-122"/>
                <a:cs typeface="Calibri" panose="020F0502020204030204" pitchFamily="34" charset="-120"/>
              </a:rPr>
              <a:t>Simulated ≠ Real Students</a:t>
            </a:r>
            <a:endParaRPr lang="en-US" sz="1150" dirty="0"/>
          </a:p>
        </p:txBody>
      </p:sp>
      <p:sp>
        <p:nvSpPr>
          <p:cNvPr id="13" name="Shape 11"/>
          <p:cNvSpPr/>
          <p:nvPr/>
        </p:nvSpPr>
        <p:spPr>
          <a:xfrm>
            <a:off x="3840480" y="2249424"/>
            <a:ext cx="594360" cy="256032"/>
          </a:xfrm>
          <a:prstGeom prst="rect">
            <a:avLst/>
          </a:prstGeom>
          <a:solidFill>
            <a:srgbClr val="E65100"/>
          </a:solidFill>
        </p:spPr>
      </p:sp>
      <p:sp>
        <p:nvSpPr>
          <p:cNvPr id="14" name="Text 12"/>
          <p:cNvSpPr/>
          <p:nvPr/>
        </p:nvSpPr>
        <p:spPr>
          <a:xfrm>
            <a:off x="3840480" y="2249424"/>
            <a:ext cx="594360" cy="256032"/>
          </a:xfrm>
          <a:prstGeom prst="rect">
            <a:avLst/>
          </a:prstGeom>
          <a:noFill/>
        </p:spPr>
        <p:txBody>
          <a:bodyPr wrap="square"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Medium</a:t>
            </a:r>
            <a:endParaRPr lang="en-US" sz="900" dirty="0"/>
          </a:p>
        </p:txBody>
      </p:sp>
      <p:sp>
        <p:nvSpPr>
          <p:cNvPr id="15" name="Text 13"/>
          <p:cNvSpPr/>
          <p:nvPr/>
        </p:nvSpPr>
        <p:spPr>
          <a:xfrm>
            <a:off x="868680" y="2542032"/>
            <a:ext cx="3520440" cy="749808"/>
          </a:xfrm>
          <a:prstGeom prst="rect">
            <a:avLst/>
          </a:prstGeom>
          <a:noFill/>
        </p:spPr>
        <p:txBody>
          <a:bodyPr wrap="square" rtlCol="0" anchor="ctr"/>
          <a:lstStyle/>
          <a:p>
            <a:pPr marL="0" indent="0">
              <a:buNone/>
            </a:pPr>
            <a:r>
              <a:rPr lang="en-US" sz="1000" dirty="0">
                <a:solidFill>
                  <a:srgbClr val="263238"/>
                </a:solidFill>
                <a:latin typeface="Calibri" panose="020F0502020204030204" pitchFamily="34" charset="0"/>
                <a:ea typeface="Calibri" panose="020F0502020204030204" pitchFamily="34" charset="-122"/>
                <a:cs typeface="Calibri" panose="020F0502020204030204" pitchFamily="34" charset="-120"/>
              </a:rPr>
              <a:t>Our AI student is prompted to act distracted, but real human students exhibit far more complex and unpredictable behaviors, emotional states, and learning trajectories.</a:t>
            </a:r>
            <a:endParaRPr lang="en-US" sz="1000" dirty="0"/>
          </a:p>
        </p:txBody>
      </p:sp>
      <p:sp>
        <p:nvSpPr>
          <p:cNvPr id="16" name="Shape 14"/>
          <p:cNvSpPr/>
          <p:nvPr/>
        </p:nvSpPr>
        <p:spPr>
          <a:xfrm>
            <a:off x="274320" y="3511296"/>
            <a:ext cx="4251960" cy="1207008"/>
          </a:xfrm>
          <a:prstGeom prst="rect">
            <a:avLst/>
          </a:prstGeom>
          <a:solidFill>
            <a:srgbClr val="FFFFFF"/>
          </a:solidFill>
          <a:ln w="12700">
            <a:solidFill>
              <a:srgbClr val="FFCDD2"/>
            </a:solidFill>
            <a:prstDash val="solid"/>
          </a:ln>
          <a:effectLst>
            <a:outerShdw blurRad="101600" dist="38100" dir="8100000" algn="bl" rotWithShape="0">
              <a:srgbClr val="000000">
                <a:alpha val="10000"/>
              </a:srgbClr>
            </a:outerShdw>
          </a:effectLst>
        </p:spPr>
      </p:sp>
      <p:sp>
        <p:nvSpPr>
          <p:cNvPr id="17" name="Text 15"/>
          <p:cNvSpPr/>
          <p:nvPr/>
        </p:nvSpPr>
        <p:spPr>
          <a:xfrm>
            <a:off x="365760" y="3602736"/>
            <a:ext cx="457200" cy="457200"/>
          </a:xfrm>
          <a:prstGeom prst="rect">
            <a:avLst/>
          </a:prstGeom>
          <a:noFill/>
        </p:spPr>
        <p:txBody>
          <a:bodyPr wrap="square" rtlCol="0" anchor="ctr"/>
          <a:lstStyle/>
          <a:p>
            <a:pPr marL="0" indent="0">
              <a:buNone/>
            </a:pPr>
            <a:r>
              <a:rPr lang="en-US" sz="2000" dirty="0">
                <a:solidFill>
                  <a:srgbClr val="000000"/>
                </a:solidFill>
              </a:rPr>
              <a:t>💻</a:t>
            </a:r>
            <a:endParaRPr lang="en-US" sz="2000" dirty="0"/>
          </a:p>
        </p:txBody>
      </p:sp>
      <p:sp>
        <p:nvSpPr>
          <p:cNvPr id="18" name="Text 16"/>
          <p:cNvSpPr/>
          <p:nvPr/>
        </p:nvSpPr>
        <p:spPr>
          <a:xfrm>
            <a:off x="868680" y="3602736"/>
            <a:ext cx="3291840" cy="274320"/>
          </a:xfrm>
          <a:prstGeom prst="rect">
            <a:avLst/>
          </a:prstGeom>
          <a:noFill/>
        </p:spPr>
        <p:txBody>
          <a:bodyPr wrap="square" rtlCol="0" anchor="ctr"/>
          <a:lstStyle/>
          <a:p>
            <a:pPr marL="0" indent="0">
              <a:buNone/>
            </a:pPr>
            <a:r>
              <a:rPr lang="en-US" sz="1150" b="1" dirty="0">
                <a:solidFill>
                  <a:srgbClr val="0D1B2A"/>
                </a:solidFill>
                <a:latin typeface="Calibri" panose="020F0502020204030204" pitchFamily="34" charset="0"/>
                <a:ea typeface="Calibri" panose="020F0502020204030204" pitchFamily="34" charset="-122"/>
                <a:cs typeface="Calibri" panose="020F0502020204030204" pitchFamily="34" charset="-120"/>
              </a:rPr>
              <a:t>Computational Overhead</a:t>
            </a:r>
            <a:endParaRPr lang="en-US" sz="1150" dirty="0"/>
          </a:p>
        </p:txBody>
      </p:sp>
      <p:sp>
        <p:nvSpPr>
          <p:cNvPr id="19" name="Shape 17"/>
          <p:cNvSpPr/>
          <p:nvPr/>
        </p:nvSpPr>
        <p:spPr>
          <a:xfrm>
            <a:off x="3840480" y="3602736"/>
            <a:ext cx="594360" cy="256032"/>
          </a:xfrm>
          <a:prstGeom prst="rect">
            <a:avLst/>
          </a:prstGeom>
          <a:solidFill>
            <a:srgbClr val="2E7D32"/>
          </a:solidFill>
        </p:spPr>
      </p:sp>
      <p:sp>
        <p:nvSpPr>
          <p:cNvPr id="20" name="Text 18"/>
          <p:cNvSpPr/>
          <p:nvPr/>
        </p:nvSpPr>
        <p:spPr>
          <a:xfrm>
            <a:off x="3840480" y="3602736"/>
            <a:ext cx="594360" cy="256032"/>
          </a:xfrm>
          <a:prstGeom prst="rect">
            <a:avLst/>
          </a:prstGeom>
          <a:noFill/>
        </p:spPr>
        <p:txBody>
          <a:bodyPr wrap="square"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Low</a:t>
            </a:r>
            <a:endParaRPr lang="en-US" sz="900" dirty="0"/>
          </a:p>
        </p:txBody>
      </p:sp>
      <p:sp>
        <p:nvSpPr>
          <p:cNvPr id="21" name="Text 19"/>
          <p:cNvSpPr/>
          <p:nvPr/>
        </p:nvSpPr>
        <p:spPr>
          <a:xfrm>
            <a:off x="868680" y="3895344"/>
            <a:ext cx="3520440" cy="749808"/>
          </a:xfrm>
          <a:prstGeom prst="rect">
            <a:avLst/>
          </a:prstGeom>
          <a:noFill/>
        </p:spPr>
        <p:txBody>
          <a:bodyPr wrap="square" rtlCol="0" anchor="ctr"/>
          <a:lstStyle/>
          <a:p>
            <a:pPr marL="0" indent="0">
              <a:buNone/>
            </a:pPr>
            <a:r>
              <a:rPr lang="en-US" sz="1000" dirty="0">
                <a:solidFill>
                  <a:srgbClr val="263238"/>
                </a:solidFill>
                <a:latin typeface="Calibri" panose="020F0502020204030204" pitchFamily="34" charset="0"/>
                <a:ea typeface="Calibri" panose="020F0502020204030204" pitchFamily="34" charset="-122"/>
                <a:cs typeface="Calibri" panose="020F0502020204030204" pitchFamily="34" charset="-120"/>
              </a:rPr>
              <a:t>SentenceTransformer adds an additional inference call per turn for 384D embedding generation — increasing latency in a real deployment scenario.</a:t>
            </a:r>
            <a:endParaRPr lang="en-US" sz="1000" dirty="0"/>
          </a:p>
        </p:txBody>
      </p:sp>
      <p:sp>
        <p:nvSpPr>
          <p:cNvPr id="22" name="Shape 20"/>
          <p:cNvSpPr/>
          <p:nvPr/>
        </p:nvSpPr>
        <p:spPr>
          <a:xfrm>
            <a:off x="4754880" y="804672"/>
            <a:ext cx="4251960" cy="1207008"/>
          </a:xfrm>
          <a:prstGeom prst="rect">
            <a:avLst/>
          </a:prstGeom>
          <a:solidFill>
            <a:srgbClr val="FFFFFF"/>
          </a:solidFill>
          <a:ln w="12700">
            <a:solidFill>
              <a:srgbClr val="FFCDD2"/>
            </a:solidFill>
            <a:prstDash val="solid"/>
          </a:ln>
          <a:effectLst>
            <a:outerShdw blurRad="101600" dist="38100" dir="8100000" algn="bl" rotWithShape="0">
              <a:srgbClr val="000000">
                <a:alpha val="10000"/>
              </a:srgbClr>
            </a:outerShdw>
          </a:effectLst>
        </p:spPr>
      </p:sp>
      <p:sp>
        <p:nvSpPr>
          <p:cNvPr id="23" name="Text 21"/>
          <p:cNvSpPr/>
          <p:nvPr/>
        </p:nvSpPr>
        <p:spPr>
          <a:xfrm>
            <a:off x="4846320" y="896112"/>
            <a:ext cx="457200" cy="457200"/>
          </a:xfrm>
          <a:prstGeom prst="rect">
            <a:avLst/>
          </a:prstGeom>
          <a:noFill/>
        </p:spPr>
        <p:txBody>
          <a:bodyPr wrap="square" rtlCol="0" anchor="ctr"/>
          <a:lstStyle/>
          <a:p>
            <a:pPr marL="0" indent="0">
              <a:buNone/>
            </a:pPr>
            <a:r>
              <a:rPr lang="en-US" sz="2000" dirty="0">
                <a:solidFill>
                  <a:srgbClr val="000000"/>
                </a:solidFill>
              </a:rPr>
              <a:t>🏫</a:t>
            </a:r>
            <a:endParaRPr lang="en-US" sz="2000" dirty="0"/>
          </a:p>
        </p:txBody>
      </p:sp>
      <p:sp>
        <p:nvSpPr>
          <p:cNvPr id="24" name="Text 22"/>
          <p:cNvSpPr/>
          <p:nvPr/>
        </p:nvSpPr>
        <p:spPr>
          <a:xfrm>
            <a:off x="5349240" y="896112"/>
            <a:ext cx="3291840" cy="274320"/>
          </a:xfrm>
          <a:prstGeom prst="rect">
            <a:avLst/>
          </a:prstGeom>
          <a:noFill/>
        </p:spPr>
        <p:txBody>
          <a:bodyPr wrap="square" rtlCol="0" anchor="ctr"/>
          <a:lstStyle/>
          <a:p>
            <a:pPr marL="0" indent="0">
              <a:buNone/>
            </a:pPr>
            <a:r>
              <a:rPr lang="en-US" sz="1150" b="1" dirty="0">
                <a:solidFill>
                  <a:srgbClr val="0D1B2A"/>
                </a:solidFill>
                <a:latin typeface="Calibri" panose="020F0502020204030204" pitchFamily="34" charset="0"/>
                <a:ea typeface="Calibri" panose="020F0502020204030204" pitchFamily="34" charset="-122"/>
                <a:cs typeface="Calibri" panose="020F0502020204030204" pitchFamily="34" charset="-120"/>
              </a:rPr>
              <a:t>No Real Classroom Validation</a:t>
            </a:r>
            <a:endParaRPr lang="en-US" sz="1150" dirty="0"/>
          </a:p>
        </p:txBody>
      </p:sp>
      <p:sp>
        <p:nvSpPr>
          <p:cNvPr id="25" name="Shape 23"/>
          <p:cNvSpPr/>
          <p:nvPr/>
        </p:nvSpPr>
        <p:spPr>
          <a:xfrm>
            <a:off x="8321040" y="896112"/>
            <a:ext cx="594360" cy="256032"/>
          </a:xfrm>
          <a:prstGeom prst="rect">
            <a:avLst/>
          </a:prstGeom>
          <a:solidFill>
            <a:srgbClr val="C62828"/>
          </a:solidFill>
        </p:spPr>
      </p:sp>
      <p:sp>
        <p:nvSpPr>
          <p:cNvPr id="26" name="Text 24"/>
          <p:cNvSpPr/>
          <p:nvPr/>
        </p:nvSpPr>
        <p:spPr>
          <a:xfrm>
            <a:off x="8321040" y="896112"/>
            <a:ext cx="594360" cy="256032"/>
          </a:xfrm>
          <a:prstGeom prst="rect">
            <a:avLst/>
          </a:prstGeom>
          <a:noFill/>
        </p:spPr>
        <p:txBody>
          <a:bodyPr wrap="square"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High</a:t>
            </a:r>
            <a:endParaRPr lang="en-US" sz="900" dirty="0"/>
          </a:p>
        </p:txBody>
      </p:sp>
      <p:sp>
        <p:nvSpPr>
          <p:cNvPr id="27" name="Text 25"/>
          <p:cNvSpPr/>
          <p:nvPr/>
        </p:nvSpPr>
        <p:spPr>
          <a:xfrm>
            <a:off x="5349240" y="1188720"/>
            <a:ext cx="3520440" cy="749808"/>
          </a:xfrm>
          <a:prstGeom prst="rect">
            <a:avLst/>
          </a:prstGeom>
          <a:noFill/>
        </p:spPr>
        <p:txBody>
          <a:bodyPr wrap="square" rtlCol="0" anchor="ctr"/>
          <a:lstStyle/>
          <a:p>
            <a:pPr marL="0" indent="0">
              <a:buNone/>
            </a:pPr>
            <a:r>
              <a:rPr lang="en-US" sz="1000" dirty="0">
                <a:solidFill>
                  <a:srgbClr val="263238"/>
                </a:solidFill>
                <a:latin typeface="Calibri" panose="020F0502020204030204" pitchFamily="34" charset="0"/>
                <a:ea typeface="Calibri" panose="020F0502020204030204" pitchFamily="34" charset="-122"/>
                <a:cs typeface="Calibri" panose="020F0502020204030204" pitchFamily="34" charset="-120"/>
              </a:rPr>
              <a:t>Our evaluation is currently fully offline. We have not tested with real human students or measured pre/post learning gains in an actual educational setting.</a:t>
            </a:r>
            <a:endParaRPr lang="en-US" sz="1000" dirty="0"/>
          </a:p>
        </p:txBody>
      </p:sp>
      <p:sp>
        <p:nvSpPr>
          <p:cNvPr id="28" name="Shape 26"/>
          <p:cNvSpPr/>
          <p:nvPr/>
        </p:nvSpPr>
        <p:spPr>
          <a:xfrm>
            <a:off x="4754880" y="2157984"/>
            <a:ext cx="4251960" cy="1207008"/>
          </a:xfrm>
          <a:prstGeom prst="rect">
            <a:avLst/>
          </a:prstGeom>
          <a:solidFill>
            <a:srgbClr val="FFFFFF"/>
          </a:solidFill>
          <a:ln w="12700">
            <a:solidFill>
              <a:srgbClr val="FFCDD2"/>
            </a:solidFill>
            <a:prstDash val="solid"/>
          </a:ln>
          <a:effectLst>
            <a:outerShdw blurRad="101600" dist="38100" dir="8100000" algn="bl" rotWithShape="0">
              <a:srgbClr val="000000">
                <a:alpha val="10000"/>
              </a:srgbClr>
            </a:outerShdw>
          </a:effectLst>
        </p:spPr>
      </p:sp>
      <p:sp>
        <p:nvSpPr>
          <p:cNvPr id="29" name="Text 27"/>
          <p:cNvSpPr/>
          <p:nvPr/>
        </p:nvSpPr>
        <p:spPr>
          <a:xfrm>
            <a:off x="4846320" y="2249424"/>
            <a:ext cx="457200" cy="457200"/>
          </a:xfrm>
          <a:prstGeom prst="rect">
            <a:avLst/>
          </a:prstGeom>
          <a:noFill/>
        </p:spPr>
        <p:txBody>
          <a:bodyPr wrap="square" rtlCol="0" anchor="ctr"/>
          <a:lstStyle/>
          <a:p>
            <a:pPr marL="0" indent="0">
              <a:buNone/>
            </a:pPr>
            <a:r>
              <a:rPr lang="en-US" sz="2000" dirty="0">
                <a:solidFill>
                  <a:srgbClr val="000000"/>
                </a:solidFill>
              </a:rPr>
              <a:t>🎲</a:t>
            </a:r>
            <a:endParaRPr lang="en-US" sz="2000" dirty="0"/>
          </a:p>
        </p:txBody>
      </p:sp>
      <p:sp>
        <p:nvSpPr>
          <p:cNvPr id="30" name="Text 28"/>
          <p:cNvSpPr/>
          <p:nvPr/>
        </p:nvSpPr>
        <p:spPr>
          <a:xfrm>
            <a:off x="5349240" y="2249424"/>
            <a:ext cx="3291840" cy="274320"/>
          </a:xfrm>
          <a:prstGeom prst="rect">
            <a:avLst/>
          </a:prstGeom>
          <a:noFill/>
        </p:spPr>
        <p:txBody>
          <a:bodyPr wrap="square" rtlCol="0" anchor="ctr"/>
          <a:lstStyle/>
          <a:p>
            <a:pPr marL="0" indent="0">
              <a:buNone/>
            </a:pPr>
            <a:r>
              <a:rPr lang="en-US" sz="1150" b="1" dirty="0">
                <a:solidFill>
                  <a:srgbClr val="0D1B2A"/>
                </a:solidFill>
                <a:latin typeface="Calibri" panose="020F0502020204030204" pitchFamily="34" charset="0"/>
                <a:ea typeface="Calibri" panose="020F0502020204030204" pitchFamily="34" charset="-122"/>
                <a:cs typeface="Calibri" panose="020F0502020204030204" pitchFamily="34" charset="-120"/>
              </a:rPr>
              <a:t>LLM State Extraction Reliability</a:t>
            </a:r>
            <a:endParaRPr lang="en-US" sz="1150" dirty="0"/>
          </a:p>
        </p:txBody>
      </p:sp>
      <p:sp>
        <p:nvSpPr>
          <p:cNvPr id="31" name="Shape 29"/>
          <p:cNvSpPr/>
          <p:nvPr/>
        </p:nvSpPr>
        <p:spPr>
          <a:xfrm>
            <a:off x="8321040" y="2249424"/>
            <a:ext cx="594360" cy="256032"/>
          </a:xfrm>
          <a:prstGeom prst="rect">
            <a:avLst/>
          </a:prstGeom>
          <a:solidFill>
            <a:srgbClr val="E65100"/>
          </a:solidFill>
        </p:spPr>
      </p:sp>
      <p:sp>
        <p:nvSpPr>
          <p:cNvPr id="32" name="Text 30"/>
          <p:cNvSpPr/>
          <p:nvPr/>
        </p:nvSpPr>
        <p:spPr>
          <a:xfrm>
            <a:off x="8321040" y="2249424"/>
            <a:ext cx="594360" cy="256032"/>
          </a:xfrm>
          <a:prstGeom prst="rect">
            <a:avLst/>
          </a:prstGeom>
          <a:noFill/>
        </p:spPr>
        <p:txBody>
          <a:bodyPr wrap="square"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Medium</a:t>
            </a:r>
            <a:endParaRPr lang="en-US" sz="900" dirty="0"/>
          </a:p>
        </p:txBody>
      </p:sp>
      <p:sp>
        <p:nvSpPr>
          <p:cNvPr id="33" name="Text 31"/>
          <p:cNvSpPr/>
          <p:nvPr/>
        </p:nvSpPr>
        <p:spPr>
          <a:xfrm>
            <a:off x="5349240" y="2542032"/>
            <a:ext cx="3520440" cy="749808"/>
          </a:xfrm>
          <a:prstGeom prst="rect">
            <a:avLst/>
          </a:prstGeom>
          <a:noFill/>
        </p:spPr>
        <p:txBody>
          <a:bodyPr wrap="square" rtlCol="0" anchor="ctr"/>
          <a:lstStyle/>
          <a:p>
            <a:pPr marL="0" indent="0">
              <a:buNone/>
            </a:pPr>
            <a:r>
              <a:rPr lang="en-US" sz="1000" dirty="0">
                <a:solidFill>
                  <a:srgbClr val="263238"/>
                </a:solidFill>
                <a:latin typeface="Calibri" panose="020F0502020204030204" pitchFamily="34" charset="0"/>
                <a:ea typeface="Calibri" panose="020F0502020204030204" pitchFamily="34" charset="-122"/>
                <a:cs typeface="Calibri" panose="020F0502020204030204" pitchFamily="34" charset="-120"/>
              </a:rPr>
              <a:t>The 25D state extraction relies on LLM self-evaluation. If Llama-3 hallucinates a state value, the entire RL transition is corrupted with no way to detect the error.</a:t>
            </a:r>
            <a:endParaRPr lang="en-US" sz="1000" dirty="0"/>
          </a:p>
        </p:txBody>
      </p:sp>
      <p:sp>
        <p:nvSpPr>
          <p:cNvPr id="34" name="Text 32"/>
          <p:cNvSpPr/>
          <p:nvPr/>
        </p:nvSpPr>
        <p:spPr>
          <a:xfrm>
            <a:off x="8046720" y="4846320"/>
            <a:ext cx="914400" cy="274320"/>
          </a:xfrm>
          <a:prstGeom prst="rect">
            <a:avLst/>
          </a:prstGeom>
          <a:noFill/>
        </p:spPr>
        <p:txBody>
          <a:bodyPr wrap="square" rtlCol="0" anchor="ctr"/>
          <a:lstStyle/>
          <a:p>
            <a:pPr marL="0" indent="0" algn="r">
              <a:buNone/>
            </a:pPr>
            <a:r>
              <a:rPr lang="en-US" sz="1000" dirty="0">
                <a:solidFill>
                  <a:srgbClr val="607D8B"/>
                </a:solidFill>
                <a:latin typeface="Calibri" panose="020F0502020204030204" pitchFamily="34" charset="0"/>
                <a:ea typeface="Calibri" panose="020F0502020204030204" pitchFamily="34" charset="-122"/>
                <a:cs typeface="Calibri" panose="020F0502020204030204" pitchFamily="34" charset="-120"/>
              </a:rPr>
              <a:t>13 / 15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897B"/>
          </a:solidFill>
        </p:spPr>
      </p:sp>
      <p:sp>
        <p:nvSpPr>
          <p:cNvPr id="3" name="Text 1"/>
          <p:cNvSpPr/>
          <p:nvPr/>
        </p:nvSpPr>
        <p:spPr>
          <a:xfrm>
            <a:off x="274320" y="0"/>
            <a:ext cx="8595360" cy="685800"/>
          </a:xfrm>
          <a:prstGeom prst="rect">
            <a:avLst/>
          </a:prstGeom>
          <a:noFill/>
        </p:spPr>
        <p:txBody>
          <a:bodyPr wrap="square" lIns="0" tIns="0" rIns="0" bIns="0"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Impact &amp; Next Steps</a:t>
            </a:r>
            <a:endParaRPr lang="en-US" sz="2200" dirty="0"/>
          </a:p>
        </p:txBody>
      </p:sp>
      <p:sp>
        <p:nvSpPr>
          <p:cNvPr id="4" name="Shape 2"/>
          <p:cNvSpPr/>
          <p:nvPr/>
        </p:nvSpPr>
        <p:spPr>
          <a:xfrm>
            <a:off x="274320" y="804672"/>
            <a:ext cx="8595360" cy="777240"/>
          </a:xfrm>
          <a:prstGeom prst="rect">
            <a:avLst/>
          </a:prstGeom>
          <a:solidFill>
            <a:srgbClr val="E8F5E9"/>
          </a:solidFill>
          <a:ln w="19050">
            <a:solidFill>
              <a:srgbClr val="00897B"/>
            </a:solidFill>
            <a:prstDash val="solid"/>
          </a:ln>
          <a:effectLst>
            <a:outerShdw blurRad="101600" dist="38100" dir="8100000" algn="bl" rotWithShape="0">
              <a:srgbClr val="000000">
                <a:alpha val="10000"/>
              </a:srgbClr>
            </a:outerShdw>
          </a:effectLst>
        </p:spPr>
      </p:sp>
      <p:sp>
        <p:nvSpPr>
          <p:cNvPr id="5" name="Text 3"/>
          <p:cNvSpPr/>
          <p:nvPr/>
        </p:nvSpPr>
        <p:spPr>
          <a:xfrm>
            <a:off x="457200" y="850392"/>
            <a:ext cx="8229600" cy="667512"/>
          </a:xfrm>
          <a:prstGeom prst="rect">
            <a:avLst/>
          </a:prstGeom>
          <a:noFill/>
        </p:spPr>
        <p:txBody>
          <a:bodyPr wrap="square" rtlCol="0" anchor="ctr"/>
          <a:lstStyle/>
          <a:p>
            <a:pPr marL="0" indent="0">
              <a:buNone/>
            </a:pPr>
            <a:r>
              <a:rPr lang="en-US" sz="1200" dirty="0">
                <a:solidFill>
                  <a:srgbClr val="1B5E20"/>
                </a:solidFill>
                <a:latin typeface="Calibri" panose="020F0502020204030204" pitchFamily="34" charset="0"/>
                <a:ea typeface="Calibri" panose="020F0502020204030204" pitchFamily="34" charset="-122"/>
                <a:cs typeface="Calibri" panose="020F0502020204030204" pitchFamily="34" charset="-120"/>
              </a:rPr>
              <a:t>🌐  Immediate Impact: The 409D framework is domain-agnostic. The same RL pipeline works for Medical Diagnosis Training, Legal Bar Exam Prep, or Language Learning — zero architectural changes required.</a:t>
            </a:r>
            <a:endParaRPr lang="en-US" sz="1200" dirty="0"/>
          </a:p>
        </p:txBody>
      </p:sp>
      <p:sp>
        <p:nvSpPr>
          <p:cNvPr id="6" name="Shape 4"/>
          <p:cNvSpPr/>
          <p:nvPr/>
        </p:nvSpPr>
        <p:spPr>
          <a:xfrm>
            <a:off x="274320" y="1719072"/>
            <a:ext cx="4251960" cy="150876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7" name="Shape 5"/>
          <p:cNvSpPr/>
          <p:nvPr/>
        </p:nvSpPr>
        <p:spPr>
          <a:xfrm>
            <a:off x="384048" y="2039112"/>
            <a:ext cx="457200" cy="457200"/>
          </a:xfrm>
          <a:prstGeom prst="ellipse">
            <a:avLst/>
          </a:prstGeom>
          <a:solidFill>
            <a:srgbClr val="1565C0"/>
          </a:solidFill>
        </p:spPr>
      </p:sp>
      <p:sp>
        <p:nvSpPr>
          <p:cNvPr id="8" name="Text 6"/>
          <p:cNvSpPr/>
          <p:nvPr/>
        </p:nvSpPr>
        <p:spPr>
          <a:xfrm>
            <a:off x="384048" y="2039112"/>
            <a:ext cx="457200" cy="457200"/>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FW1</a:t>
            </a:r>
            <a:endParaRPr lang="en-US" sz="1000" dirty="0"/>
          </a:p>
        </p:txBody>
      </p:sp>
      <p:sp>
        <p:nvSpPr>
          <p:cNvPr id="9" name="Text 7"/>
          <p:cNvSpPr/>
          <p:nvPr/>
        </p:nvSpPr>
        <p:spPr>
          <a:xfrm>
            <a:off x="960120" y="1828800"/>
            <a:ext cx="3474720" cy="347472"/>
          </a:xfrm>
          <a:prstGeom prst="rect">
            <a:avLst/>
          </a:prstGeom>
          <a:noFill/>
        </p:spPr>
        <p:txBody>
          <a:bodyPr wrap="square" rtlCol="0" anchor="ctr"/>
          <a:lstStyle/>
          <a:p>
            <a:pPr marL="0" indent="0">
              <a:buNone/>
            </a:pPr>
            <a:r>
              <a:rPr lang="en-US" sz="1150" b="1" dirty="0">
                <a:solidFill>
                  <a:srgbClr val="0D1B2A"/>
                </a:solidFill>
                <a:latin typeface="Calibri" panose="020F0502020204030204" pitchFamily="34" charset="0"/>
                <a:ea typeface="Calibri" panose="020F0502020204030204" pitchFamily="34" charset="-122"/>
                <a:cs typeface="Calibri" panose="020F0502020204030204" pitchFamily="34" charset="-120"/>
              </a:rPr>
              <a:t>PPO for Direct Token Generation</a:t>
            </a:r>
            <a:endParaRPr lang="en-US" sz="1150" dirty="0"/>
          </a:p>
        </p:txBody>
      </p:sp>
      <p:sp>
        <p:nvSpPr>
          <p:cNvPr id="10" name="Text 8"/>
          <p:cNvSpPr/>
          <p:nvPr/>
        </p:nvSpPr>
        <p:spPr>
          <a:xfrm>
            <a:off x="960120" y="2176272"/>
            <a:ext cx="3474720" cy="960120"/>
          </a:xfrm>
          <a:prstGeom prst="rect">
            <a:avLst/>
          </a:prstGeom>
          <a:noFill/>
        </p:spPr>
        <p:txBody>
          <a:bodyPr wrap="square" rtlCol="0" anchor="ctr"/>
          <a:lstStyle/>
          <a:p>
            <a:pPr marL="0" indent="0">
              <a:buNone/>
            </a:pPr>
            <a:r>
              <a:rPr lang="en-US" sz="1050" dirty="0">
                <a:solidFill>
                  <a:srgbClr val="263238"/>
                </a:solidFill>
                <a:latin typeface="Calibri" panose="020F0502020204030204" pitchFamily="34" charset="0"/>
                <a:ea typeface="Calibri" panose="020F0502020204030204" pitchFamily="34" charset="-122"/>
                <a:cs typeface="Calibri" panose="020F0502020204030204" pitchFamily="34" charset="-120"/>
              </a:rPr>
              <a:t>Replace the 2-step process (RL picks action → LLM generates text) with end-to-end Proximal Policy Optimization controlling word generation directly.</a:t>
            </a:r>
            <a:endParaRPr lang="en-US" sz="1050" dirty="0"/>
          </a:p>
        </p:txBody>
      </p:sp>
      <p:sp>
        <p:nvSpPr>
          <p:cNvPr id="11" name="Shape 9"/>
          <p:cNvSpPr/>
          <p:nvPr/>
        </p:nvSpPr>
        <p:spPr>
          <a:xfrm>
            <a:off x="4754880" y="1719072"/>
            <a:ext cx="4251960" cy="150876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12" name="Shape 10"/>
          <p:cNvSpPr/>
          <p:nvPr/>
        </p:nvSpPr>
        <p:spPr>
          <a:xfrm>
            <a:off x="4864608" y="2039112"/>
            <a:ext cx="457200" cy="457200"/>
          </a:xfrm>
          <a:prstGeom prst="ellipse">
            <a:avLst/>
          </a:prstGeom>
          <a:solidFill>
            <a:srgbClr val="6A1B9A"/>
          </a:solidFill>
        </p:spPr>
      </p:sp>
      <p:sp>
        <p:nvSpPr>
          <p:cNvPr id="13" name="Text 11"/>
          <p:cNvSpPr/>
          <p:nvPr/>
        </p:nvSpPr>
        <p:spPr>
          <a:xfrm>
            <a:off x="4864608" y="2039112"/>
            <a:ext cx="457200" cy="457200"/>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FW2</a:t>
            </a:r>
            <a:endParaRPr lang="en-US" sz="1000" dirty="0"/>
          </a:p>
        </p:txBody>
      </p:sp>
      <p:sp>
        <p:nvSpPr>
          <p:cNvPr id="14" name="Text 12"/>
          <p:cNvSpPr/>
          <p:nvPr/>
        </p:nvSpPr>
        <p:spPr>
          <a:xfrm>
            <a:off x="5440680" y="1828800"/>
            <a:ext cx="3474720" cy="347472"/>
          </a:xfrm>
          <a:prstGeom prst="rect">
            <a:avLst/>
          </a:prstGeom>
          <a:noFill/>
        </p:spPr>
        <p:txBody>
          <a:bodyPr wrap="square" rtlCol="0" anchor="ctr"/>
          <a:lstStyle/>
          <a:p>
            <a:pPr marL="0" indent="0">
              <a:buNone/>
            </a:pPr>
            <a:r>
              <a:rPr lang="en-US" sz="1150" b="1" dirty="0">
                <a:solidFill>
                  <a:srgbClr val="0D1B2A"/>
                </a:solidFill>
                <a:latin typeface="Calibri" panose="020F0502020204030204" pitchFamily="34" charset="0"/>
                <a:ea typeface="Calibri" panose="020F0502020204030204" pitchFamily="34" charset="-122"/>
                <a:cs typeface="Calibri" panose="020F0502020204030204" pitchFamily="34" charset="-120"/>
              </a:rPr>
              <a:t>Multi-Agent RL Self-Play (MARL)</a:t>
            </a:r>
            <a:endParaRPr lang="en-US" sz="1150" dirty="0"/>
          </a:p>
        </p:txBody>
      </p:sp>
      <p:sp>
        <p:nvSpPr>
          <p:cNvPr id="15" name="Text 13"/>
          <p:cNvSpPr/>
          <p:nvPr/>
        </p:nvSpPr>
        <p:spPr>
          <a:xfrm>
            <a:off x="5440680" y="2176272"/>
            <a:ext cx="3474720" cy="960120"/>
          </a:xfrm>
          <a:prstGeom prst="rect">
            <a:avLst/>
          </a:prstGeom>
          <a:noFill/>
        </p:spPr>
        <p:txBody>
          <a:bodyPr wrap="square" rtlCol="0" anchor="ctr"/>
          <a:lstStyle/>
          <a:p>
            <a:pPr marL="0" indent="0">
              <a:buNone/>
            </a:pPr>
            <a:r>
              <a:rPr lang="en-US" sz="1050" dirty="0">
                <a:solidFill>
                  <a:srgbClr val="263238"/>
                </a:solidFill>
                <a:latin typeface="Calibri" panose="020F0502020204030204" pitchFamily="34" charset="0"/>
                <a:ea typeface="Calibri" panose="020F0502020204030204" pitchFamily="34" charset="-122"/>
                <a:cs typeface="Calibri" panose="020F0502020204030204" pitchFamily="34" charset="-120"/>
              </a:rPr>
              <a:t>Train the student agent as an adversarial RL agent whose goal is to confuse the tutor. Creates a self-improving loop analogous to AlphaGo's self-play.</a:t>
            </a:r>
            <a:endParaRPr lang="en-US" sz="1050" dirty="0"/>
          </a:p>
        </p:txBody>
      </p:sp>
      <p:sp>
        <p:nvSpPr>
          <p:cNvPr id="16" name="Shape 14"/>
          <p:cNvSpPr/>
          <p:nvPr/>
        </p:nvSpPr>
        <p:spPr>
          <a:xfrm>
            <a:off x="274320" y="3383280"/>
            <a:ext cx="4251960" cy="150876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17" name="Shape 15"/>
          <p:cNvSpPr/>
          <p:nvPr/>
        </p:nvSpPr>
        <p:spPr>
          <a:xfrm>
            <a:off x="384048" y="3703320"/>
            <a:ext cx="457200" cy="457200"/>
          </a:xfrm>
          <a:prstGeom prst="ellipse">
            <a:avLst/>
          </a:prstGeom>
          <a:solidFill>
            <a:srgbClr val="E65100"/>
          </a:solidFill>
        </p:spPr>
      </p:sp>
      <p:sp>
        <p:nvSpPr>
          <p:cNvPr id="18" name="Text 16"/>
          <p:cNvSpPr/>
          <p:nvPr/>
        </p:nvSpPr>
        <p:spPr>
          <a:xfrm>
            <a:off x="384048" y="3703320"/>
            <a:ext cx="457200" cy="457200"/>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FW3</a:t>
            </a:r>
            <a:endParaRPr lang="en-US" sz="1000" dirty="0"/>
          </a:p>
        </p:txBody>
      </p:sp>
      <p:sp>
        <p:nvSpPr>
          <p:cNvPr id="19" name="Text 17"/>
          <p:cNvSpPr/>
          <p:nvPr/>
        </p:nvSpPr>
        <p:spPr>
          <a:xfrm>
            <a:off x="960120" y="3493008"/>
            <a:ext cx="3474720" cy="347472"/>
          </a:xfrm>
          <a:prstGeom prst="rect">
            <a:avLst/>
          </a:prstGeom>
          <a:noFill/>
        </p:spPr>
        <p:txBody>
          <a:bodyPr wrap="square" rtlCol="0" anchor="ctr"/>
          <a:lstStyle/>
          <a:p>
            <a:pPr marL="0" indent="0">
              <a:buNone/>
            </a:pPr>
            <a:r>
              <a:rPr lang="en-US" sz="1150" b="1" dirty="0">
                <a:solidFill>
                  <a:srgbClr val="0D1B2A"/>
                </a:solidFill>
                <a:latin typeface="Calibri" panose="020F0502020204030204" pitchFamily="34" charset="0"/>
                <a:ea typeface="Calibri" panose="020F0502020204030204" pitchFamily="34" charset="-122"/>
                <a:cs typeface="Calibri" panose="020F0502020204030204" pitchFamily="34" charset="-120"/>
              </a:rPr>
              <a:t>Continuous Action Spaces (SAC)</a:t>
            </a:r>
            <a:endParaRPr lang="en-US" sz="1150" dirty="0"/>
          </a:p>
        </p:txBody>
      </p:sp>
      <p:sp>
        <p:nvSpPr>
          <p:cNvPr id="20" name="Text 18"/>
          <p:cNvSpPr/>
          <p:nvPr/>
        </p:nvSpPr>
        <p:spPr>
          <a:xfrm>
            <a:off x="960120" y="3840480"/>
            <a:ext cx="3474720" cy="960120"/>
          </a:xfrm>
          <a:prstGeom prst="rect">
            <a:avLst/>
          </a:prstGeom>
          <a:noFill/>
        </p:spPr>
        <p:txBody>
          <a:bodyPr wrap="square" rtlCol="0" anchor="ctr"/>
          <a:lstStyle/>
          <a:p>
            <a:pPr marL="0" indent="0">
              <a:buNone/>
            </a:pPr>
            <a:r>
              <a:rPr lang="en-US" sz="1050" dirty="0">
                <a:solidFill>
                  <a:srgbClr val="263238"/>
                </a:solidFill>
                <a:latin typeface="Calibri" panose="020F0502020204030204" pitchFamily="34" charset="0"/>
                <a:ea typeface="Calibri" panose="020F0502020204030204" pitchFamily="34" charset="-122"/>
                <a:cs typeface="Calibri" panose="020F0502020204030204" pitchFamily="34" charset="-120"/>
              </a:rPr>
              <a:t>Replace discrete 4-action selection with continuous vectors like [Hint_Level: 0.8, Tone: 0.9, Complexity: 0.3] for fine-grained pedagogical control.</a:t>
            </a:r>
            <a:endParaRPr lang="en-US" sz="1050" dirty="0"/>
          </a:p>
        </p:txBody>
      </p:sp>
      <p:sp>
        <p:nvSpPr>
          <p:cNvPr id="21" name="Shape 19"/>
          <p:cNvSpPr/>
          <p:nvPr/>
        </p:nvSpPr>
        <p:spPr>
          <a:xfrm>
            <a:off x="4754880" y="3383280"/>
            <a:ext cx="4251960" cy="1508760"/>
          </a:xfrm>
          <a:prstGeom prst="rect">
            <a:avLst/>
          </a:prstGeom>
          <a:solidFill>
            <a:srgbClr val="FFFFFF"/>
          </a:solidFill>
          <a:ln w="12700">
            <a:solidFill>
              <a:srgbClr val="E3F2FD"/>
            </a:solidFill>
            <a:prstDash val="solid"/>
          </a:ln>
          <a:effectLst>
            <a:outerShdw blurRad="101600" dist="38100" dir="8100000" algn="bl" rotWithShape="0">
              <a:srgbClr val="000000">
                <a:alpha val="10000"/>
              </a:srgbClr>
            </a:outerShdw>
          </a:effectLst>
        </p:spPr>
      </p:sp>
      <p:sp>
        <p:nvSpPr>
          <p:cNvPr id="22" name="Shape 20"/>
          <p:cNvSpPr/>
          <p:nvPr/>
        </p:nvSpPr>
        <p:spPr>
          <a:xfrm>
            <a:off x="4864608" y="3703320"/>
            <a:ext cx="457200" cy="457200"/>
          </a:xfrm>
          <a:prstGeom prst="ellipse">
            <a:avLst/>
          </a:prstGeom>
          <a:solidFill>
            <a:srgbClr val="00897B"/>
          </a:solidFill>
        </p:spPr>
      </p:sp>
      <p:sp>
        <p:nvSpPr>
          <p:cNvPr id="23" name="Text 21"/>
          <p:cNvSpPr/>
          <p:nvPr/>
        </p:nvSpPr>
        <p:spPr>
          <a:xfrm>
            <a:off x="4864608" y="3703320"/>
            <a:ext cx="457200" cy="457200"/>
          </a:xfrm>
          <a:prstGeom prst="rect">
            <a:avLst/>
          </a:prstGeom>
          <a:noFill/>
        </p:spPr>
        <p:txBody>
          <a:bodyPr wrap="square"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FW4</a:t>
            </a:r>
            <a:endParaRPr lang="en-US" sz="1000" dirty="0"/>
          </a:p>
        </p:txBody>
      </p:sp>
      <p:sp>
        <p:nvSpPr>
          <p:cNvPr id="24" name="Text 22"/>
          <p:cNvSpPr/>
          <p:nvPr/>
        </p:nvSpPr>
        <p:spPr>
          <a:xfrm>
            <a:off x="5440680" y="3493008"/>
            <a:ext cx="3474720" cy="347472"/>
          </a:xfrm>
          <a:prstGeom prst="rect">
            <a:avLst/>
          </a:prstGeom>
          <a:noFill/>
        </p:spPr>
        <p:txBody>
          <a:bodyPr wrap="square" rtlCol="0" anchor="ctr"/>
          <a:lstStyle/>
          <a:p>
            <a:pPr marL="0" indent="0">
              <a:buNone/>
            </a:pPr>
            <a:r>
              <a:rPr lang="en-US" sz="1150" b="1" dirty="0">
                <a:solidFill>
                  <a:srgbClr val="0D1B2A"/>
                </a:solidFill>
                <a:latin typeface="Calibri" panose="020F0502020204030204" pitchFamily="34" charset="0"/>
                <a:ea typeface="Calibri" panose="020F0502020204030204" pitchFamily="34" charset="-122"/>
                <a:cs typeface="Calibri" panose="020F0502020204030204" pitchFamily="34" charset="-120"/>
              </a:rPr>
              <a:t>Real Classroom Deployment</a:t>
            </a:r>
            <a:endParaRPr lang="en-US" sz="1150" dirty="0"/>
          </a:p>
        </p:txBody>
      </p:sp>
      <p:sp>
        <p:nvSpPr>
          <p:cNvPr id="25" name="Text 23"/>
          <p:cNvSpPr/>
          <p:nvPr/>
        </p:nvSpPr>
        <p:spPr>
          <a:xfrm>
            <a:off x="5440680" y="3840480"/>
            <a:ext cx="3474720" cy="960120"/>
          </a:xfrm>
          <a:prstGeom prst="rect">
            <a:avLst/>
          </a:prstGeom>
          <a:noFill/>
        </p:spPr>
        <p:txBody>
          <a:bodyPr wrap="square" rtlCol="0" anchor="ctr"/>
          <a:lstStyle/>
          <a:p>
            <a:pPr marL="0" indent="0">
              <a:buNone/>
            </a:pPr>
            <a:r>
              <a:rPr lang="en-US" sz="1050" dirty="0">
                <a:solidFill>
                  <a:srgbClr val="263238"/>
                </a:solidFill>
                <a:latin typeface="Calibri" panose="020F0502020204030204" pitchFamily="34" charset="0"/>
                <a:ea typeface="Calibri" panose="020F0502020204030204" pitchFamily="34" charset="-122"/>
                <a:cs typeface="Calibri" panose="020F0502020204030204" pitchFamily="34" charset="-120"/>
              </a:rPr>
              <a:t>Partner with K-12 institutions to test the RL tutor with actual students, measuring pre/post learning gains through controlled assessments.</a:t>
            </a:r>
            <a:endParaRPr lang="en-US" sz="1050" dirty="0"/>
          </a:p>
        </p:txBody>
      </p:sp>
      <p:sp>
        <p:nvSpPr>
          <p:cNvPr id="26" name="Text 24"/>
          <p:cNvSpPr/>
          <p:nvPr/>
        </p:nvSpPr>
        <p:spPr>
          <a:xfrm>
            <a:off x="8046720" y="4846320"/>
            <a:ext cx="914400" cy="274320"/>
          </a:xfrm>
          <a:prstGeom prst="rect">
            <a:avLst/>
          </a:prstGeom>
          <a:noFill/>
        </p:spPr>
        <p:txBody>
          <a:bodyPr wrap="square" rtlCol="0" anchor="ctr"/>
          <a:lstStyle/>
          <a:p>
            <a:pPr marL="0" indent="0" algn="r">
              <a:buNone/>
            </a:pPr>
            <a:r>
              <a:rPr lang="en-US" sz="1000" dirty="0">
                <a:solidFill>
                  <a:srgbClr val="607D8B"/>
                </a:solidFill>
                <a:latin typeface="Calibri" panose="020F0502020204030204" pitchFamily="34" charset="0"/>
                <a:ea typeface="Calibri" panose="020F0502020204030204" pitchFamily="34" charset="-122"/>
                <a:cs typeface="Calibri" panose="020F0502020204030204" pitchFamily="34" charset="-120"/>
              </a:rPr>
              <a:t>14 / 15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897B"/>
          </a:solidFill>
        </p:spPr>
      </p:sp>
      <p:sp>
        <p:nvSpPr>
          <p:cNvPr id="3" name="Shape 1"/>
          <p:cNvSpPr/>
          <p:nvPr/>
        </p:nvSpPr>
        <p:spPr>
          <a:xfrm>
            <a:off x="0" y="5070348"/>
            <a:ext cx="9144000" cy="73152"/>
          </a:xfrm>
          <a:prstGeom prst="rect">
            <a:avLst/>
          </a:prstGeom>
          <a:solidFill>
            <a:srgbClr val="1565C0"/>
          </a:solidFill>
        </p:spPr>
      </p:sp>
      <p:sp>
        <p:nvSpPr>
          <p:cNvPr id="4" name="Text 2"/>
          <p:cNvSpPr/>
          <p:nvPr/>
        </p:nvSpPr>
        <p:spPr>
          <a:xfrm>
            <a:off x="457200" y="182880"/>
            <a:ext cx="8229600" cy="502920"/>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Key Takeaways</a:t>
            </a:r>
            <a:endParaRPr lang="en-US" sz="2800" dirty="0"/>
          </a:p>
        </p:txBody>
      </p:sp>
      <p:sp>
        <p:nvSpPr>
          <p:cNvPr id="5" name="Shape 3"/>
          <p:cNvSpPr/>
          <p:nvPr/>
        </p:nvSpPr>
        <p:spPr>
          <a:xfrm>
            <a:off x="457200" y="868680"/>
            <a:ext cx="411480" cy="411480"/>
          </a:xfrm>
          <a:prstGeom prst="ellipse">
            <a:avLst/>
          </a:prstGeom>
          <a:solidFill>
            <a:srgbClr val="64B5F6"/>
          </a:solidFill>
        </p:spPr>
      </p:sp>
      <p:sp>
        <p:nvSpPr>
          <p:cNvPr id="6" name="Text 4"/>
          <p:cNvSpPr/>
          <p:nvPr/>
        </p:nvSpPr>
        <p:spPr>
          <a:xfrm>
            <a:off x="457200" y="868680"/>
            <a:ext cx="411480" cy="411480"/>
          </a:xfrm>
          <a:prstGeom prst="rect">
            <a:avLst/>
          </a:prstGeom>
          <a:noFill/>
        </p:spPr>
        <p:txBody>
          <a:bodyPr wrap="square" rtlCol="0" anchor="ctr"/>
          <a:lstStyle/>
          <a:p>
            <a:pPr marL="0" indent="0" algn="ctr">
              <a:buNone/>
            </a:pPr>
            <a:r>
              <a:rPr lang="en-US" sz="1600" b="1" dirty="0">
                <a:solidFill>
                  <a:srgbClr val="0D1B2A"/>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7" name="Text 5"/>
          <p:cNvSpPr/>
          <p:nvPr/>
        </p:nvSpPr>
        <p:spPr>
          <a:xfrm>
            <a:off x="1005840" y="850392"/>
            <a:ext cx="7863840" cy="475488"/>
          </a:xfrm>
          <a:prstGeom prst="rect">
            <a:avLst/>
          </a:prstGeom>
          <a:noFill/>
        </p:spPr>
        <p:txBody>
          <a:bodyPr wrap="square" rtlCol="0" anchor="ctr"/>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Successfully replicated the Stanford paper: CQL + Augmentation achieves 60.33% student success — a ~50% gain over prompt engineering.</a:t>
            </a:r>
            <a:endParaRPr lang="en-US" sz="1300" dirty="0"/>
          </a:p>
        </p:txBody>
      </p:sp>
      <p:sp>
        <p:nvSpPr>
          <p:cNvPr id="8" name="Shape 6"/>
          <p:cNvSpPr/>
          <p:nvPr/>
        </p:nvSpPr>
        <p:spPr>
          <a:xfrm>
            <a:off x="640080" y="1280160"/>
            <a:ext cx="54864" cy="475488"/>
          </a:xfrm>
          <a:prstGeom prst="rect">
            <a:avLst/>
          </a:prstGeom>
          <a:solidFill>
            <a:srgbClr val="2D4263"/>
          </a:solidFill>
        </p:spPr>
      </p:sp>
      <p:sp>
        <p:nvSpPr>
          <p:cNvPr id="9" name="Shape 7"/>
          <p:cNvSpPr/>
          <p:nvPr/>
        </p:nvSpPr>
        <p:spPr>
          <a:xfrm>
            <a:off x="457200" y="1764792"/>
            <a:ext cx="411480" cy="411480"/>
          </a:xfrm>
          <a:prstGeom prst="ellipse">
            <a:avLst/>
          </a:prstGeom>
          <a:solidFill>
            <a:srgbClr val="EF9A9A"/>
          </a:solidFill>
        </p:spPr>
      </p:sp>
      <p:sp>
        <p:nvSpPr>
          <p:cNvPr id="10" name="Text 8"/>
          <p:cNvSpPr/>
          <p:nvPr/>
        </p:nvSpPr>
        <p:spPr>
          <a:xfrm>
            <a:off x="457200" y="1764792"/>
            <a:ext cx="411480" cy="411480"/>
          </a:xfrm>
          <a:prstGeom prst="rect">
            <a:avLst/>
          </a:prstGeom>
          <a:noFill/>
        </p:spPr>
        <p:txBody>
          <a:bodyPr wrap="square" rtlCol="0" anchor="ctr"/>
          <a:lstStyle/>
          <a:p>
            <a:pPr marL="0" indent="0" algn="ctr">
              <a:buNone/>
            </a:pPr>
            <a:r>
              <a:rPr lang="en-US" sz="1600" b="1" dirty="0">
                <a:solidFill>
                  <a:srgbClr val="0D1B2A"/>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11" name="Text 9"/>
          <p:cNvSpPr/>
          <p:nvPr/>
        </p:nvSpPr>
        <p:spPr>
          <a:xfrm>
            <a:off x="1005840" y="1746504"/>
            <a:ext cx="7863840" cy="475488"/>
          </a:xfrm>
          <a:prstGeom prst="rect">
            <a:avLst/>
          </a:prstGeom>
          <a:noFill/>
        </p:spPr>
        <p:txBody>
          <a:bodyPr wrap="square" rtlCol="0" anchor="ctr"/>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Diagnosed the paper's critical flaw: problem-agnostic 25D state representation causes catastrophic 27.48% collapse on unseen domains.</a:t>
            </a:r>
            <a:endParaRPr lang="en-US" sz="1300" dirty="0"/>
          </a:p>
        </p:txBody>
      </p:sp>
      <p:sp>
        <p:nvSpPr>
          <p:cNvPr id="12" name="Shape 10"/>
          <p:cNvSpPr/>
          <p:nvPr/>
        </p:nvSpPr>
        <p:spPr>
          <a:xfrm>
            <a:off x="640080" y="2176272"/>
            <a:ext cx="54864" cy="475488"/>
          </a:xfrm>
          <a:prstGeom prst="rect">
            <a:avLst/>
          </a:prstGeom>
          <a:solidFill>
            <a:srgbClr val="2D4263"/>
          </a:solidFill>
        </p:spPr>
      </p:sp>
      <p:sp>
        <p:nvSpPr>
          <p:cNvPr id="13" name="Shape 11"/>
          <p:cNvSpPr/>
          <p:nvPr/>
        </p:nvSpPr>
        <p:spPr>
          <a:xfrm>
            <a:off x="457200" y="2660904"/>
            <a:ext cx="411480" cy="411480"/>
          </a:xfrm>
          <a:prstGeom prst="ellipse">
            <a:avLst/>
          </a:prstGeom>
          <a:solidFill>
            <a:srgbClr val="A5D6A7"/>
          </a:solidFill>
        </p:spPr>
      </p:sp>
      <p:sp>
        <p:nvSpPr>
          <p:cNvPr id="14" name="Text 12"/>
          <p:cNvSpPr/>
          <p:nvPr/>
        </p:nvSpPr>
        <p:spPr>
          <a:xfrm>
            <a:off x="457200" y="2660904"/>
            <a:ext cx="411480" cy="411480"/>
          </a:xfrm>
          <a:prstGeom prst="rect">
            <a:avLst/>
          </a:prstGeom>
          <a:noFill/>
        </p:spPr>
        <p:txBody>
          <a:bodyPr wrap="square" rtlCol="0" anchor="ctr"/>
          <a:lstStyle/>
          <a:p>
            <a:pPr marL="0" indent="0" algn="ctr">
              <a:buNone/>
            </a:pPr>
            <a:r>
              <a:rPr lang="en-US" sz="1600" b="1" dirty="0">
                <a:solidFill>
                  <a:srgbClr val="0D1B2A"/>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15" name="Text 13"/>
          <p:cNvSpPr/>
          <p:nvPr/>
        </p:nvSpPr>
        <p:spPr>
          <a:xfrm>
            <a:off x="1005840" y="2642616"/>
            <a:ext cx="7863840" cy="475488"/>
          </a:xfrm>
          <a:prstGeom prst="rect">
            <a:avLst/>
          </a:prstGeom>
          <a:noFill/>
        </p:spPr>
        <p:txBody>
          <a:bodyPr wrap="square" rtlCol="0" anchor="ctr"/>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Engineered 4 novel solutions: 409D Context-Aware Vectors, Dense Reward Shaping, Hindsight Experience Replay, ε-Greedy Exploration.</a:t>
            </a:r>
            <a:endParaRPr lang="en-US" sz="1300" dirty="0"/>
          </a:p>
        </p:txBody>
      </p:sp>
      <p:sp>
        <p:nvSpPr>
          <p:cNvPr id="16" name="Shape 14"/>
          <p:cNvSpPr/>
          <p:nvPr/>
        </p:nvSpPr>
        <p:spPr>
          <a:xfrm>
            <a:off x="640080" y="3072384"/>
            <a:ext cx="54864" cy="475488"/>
          </a:xfrm>
          <a:prstGeom prst="rect">
            <a:avLst/>
          </a:prstGeom>
          <a:solidFill>
            <a:srgbClr val="2D4263"/>
          </a:solidFill>
        </p:spPr>
      </p:sp>
      <p:sp>
        <p:nvSpPr>
          <p:cNvPr id="17" name="Shape 15"/>
          <p:cNvSpPr/>
          <p:nvPr/>
        </p:nvSpPr>
        <p:spPr>
          <a:xfrm>
            <a:off x="457200" y="3557016"/>
            <a:ext cx="411480" cy="411480"/>
          </a:xfrm>
          <a:prstGeom prst="ellipse">
            <a:avLst/>
          </a:prstGeom>
          <a:solidFill>
            <a:srgbClr val="FFCC80"/>
          </a:solidFill>
        </p:spPr>
      </p:sp>
      <p:sp>
        <p:nvSpPr>
          <p:cNvPr id="18" name="Text 16"/>
          <p:cNvSpPr/>
          <p:nvPr/>
        </p:nvSpPr>
        <p:spPr>
          <a:xfrm>
            <a:off x="457200" y="3557016"/>
            <a:ext cx="411480" cy="411480"/>
          </a:xfrm>
          <a:prstGeom prst="rect">
            <a:avLst/>
          </a:prstGeom>
          <a:noFill/>
        </p:spPr>
        <p:txBody>
          <a:bodyPr wrap="square" rtlCol="0" anchor="ctr"/>
          <a:lstStyle/>
          <a:p>
            <a:pPr marL="0" indent="0" algn="ctr">
              <a:buNone/>
            </a:pPr>
            <a:r>
              <a:rPr lang="en-US" sz="1600" b="1" dirty="0">
                <a:solidFill>
                  <a:srgbClr val="0D1B2A"/>
                </a:solidFill>
                <a:latin typeface="Calibri" panose="020F0502020204030204" pitchFamily="34" charset="0"/>
                <a:ea typeface="Calibri" panose="020F0502020204030204" pitchFamily="34" charset="-122"/>
                <a:cs typeface="Calibri" panose="020F0502020204030204" pitchFamily="34" charset="-120"/>
              </a:rPr>
              <a:t>4</a:t>
            </a:r>
            <a:endParaRPr lang="en-US" sz="1600" dirty="0"/>
          </a:p>
        </p:txBody>
      </p:sp>
      <p:sp>
        <p:nvSpPr>
          <p:cNvPr id="19" name="Text 17"/>
          <p:cNvSpPr/>
          <p:nvPr/>
        </p:nvSpPr>
        <p:spPr>
          <a:xfrm>
            <a:off x="1005840" y="3538728"/>
            <a:ext cx="7863840" cy="475488"/>
          </a:xfrm>
          <a:prstGeom prst="rect">
            <a:avLst/>
          </a:prstGeom>
          <a:noFill/>
        </p:spPr>
        <p:txBody>
          <a:bodyPr wrap="square" rtlCol="0" anchor="ctr"/>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Our system retains ~63% success rate across Math, Physics, History &amp; Programming vs. the paper's 27.48% generalizability collapse — a 2.3× improvement.</a:t>
            </a:r>
            <a:endParaRPr lang="en-US" sz="1300" dirty="0"/>
          </a:p>
        </p:txBody>
      </p:sp>
      <p:sp>
        <p:nvSpPr>
          <p:cNvPr id="20" name="Shape 18"/>
          <p:cNvSpPr/>
          <p:nvPr/>
        </p:nvSpPr>
        <p:spPr>
          <a:xfrm>
            <a:off x="457200" y="4553712"/>
            <a:ext cx="8229600" cy="457200"/>
          </a:xfrm>
          <a:prstGeom prst="rect">
            <a:avLst/>
          </a:prstGeom>
          <a:solidFill>
            <a:srgbClr val="0A1628"/>
          </a:solidFill>
          <a:ln w="12700">
            <a:solidFill>
              <a:srgbClr val="1565C0"/>
            </a:solidFill>
            <a:prstDash val="solid"/>
          </a:ln>
        </p:spPr>
      </p:sp>
      <p:sp>
        <p:nvSpPr>
          <p:cNvPr id="21" name="Text 19"/>
          <p:cNvSpPr/>
          <p:nvPr/>
        </p:nvSpPr>
        <p:spPr>
          <a:xfrm>
            <a:off x="548640" y="4562856"/>
            <a:ext cx="8046720" cy="438912"/>
          </a:xfrm>
          <a:prstGeom prst="rect">
            <a:avLst/>
          </a:prstGeom>
          <a:noFill/>
        </p:spPr>
        <p:txBody>
          <a:bodyPr wrap="square" rtlCol="0" anchor="ctr"/>
          <a:lstStyle/>
          <a:p>
            <a:pPr marL="0" indent="0" algn="ctr">
              <a:buNone/>
            </a:pPr>
            <a:r>
              <a:rPr lang="en-US" sz="1300" b="1" i="1" dirty="0">
                <a:solidFill>
                  <a:srgbClr val="64B5F6"/>
                </a:solidFill>
                <a:latin typeface="Calibri" panose="020F0502020204030204" pitchFamily="34" charset="0"/>
                <a:ea typeface="Calibri" panose="020F0502020204030204" pitchFamily="34" charset="-122"/>
                <a:cs typeface="Calibri" panose="020F0502020204030204" pitchFamily="34" charset="-120"/>
              </a:rPr>
              <a:t>Compressed State Spaces  +  Offline CQL  +  Semantic Tracking  =  Superhuman Pedagogical AI</a:t>
            </a:r>
            <a:endParaRPr lang="en-US" sz="1300" dirty="0"/>
          </a:p>
        </p:txBody>
      </p:sp>
      <p:sp>
        <p:nvSpPr>
          <p:cNvPr id="22" name="Shape 20"/>
          <p:cNvSpPr/>
          <p:nvPr/>
        </p:nvSpPr>
        <p:spPr>
          <a:xfrm>
            <a:off x="2926080" y="4041648"/>
            <a:ext cx="3291840" cy="411480"/>
          </a:xfrm>
          <a:prstGeom prst="rect">
            <a:avLst/>
          </a:prstGeom>
          <a:solidFill>
            <a:srgbClr val="00897B"/>
          </a:solidFill>
        </p:spPr>
      </p:sp>
      <p:sp>
        <p:nvSpPr>
          <p:cNvPr id="23" name="Text 21"/>
          <p:cNvSpPr/>
          <p:nvPr/>
        </p:nvSpPr>
        <p:spPr>
          <a:xfrm>
            <a:off x="2926080" y="4041648"/>
            <a:ext cx="3291840" cy="41148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Thank You — Questions Welcome</a:t>
            </a:r>
            <a:endParaRPr lang="en-US" sz="1400" dirty="0"/>
          </a:p>
        </p:txBody>
      </p:sp>
    </p:spTree>
  </p:cSld>
  <p:clrMapOvr>
    <a:masterClrMapping/>
  </p:clrMapOvr>
</p:sld>
</file>

<file path=ppt/tags/tag1.xml><?xml version="1.0" encoding="utf-8"?>
<p:tagLst xmlns:p="http://schemas.openxmlformats.org/presentationml/2006/main">
  <p:tag name="KSO_WM_DIAGRAM_VIRTUALLY_FRAME" val="{&quot;height&quot;:251.27999999999997,&quot;left&quot;:21.6,&quot;top&quot;:66.24,&quot;width&quot;:403.2}"/>
</p:tagLst>
</file>

<file path=ppt/tags/tag2.xml><?xml version="1.0" encoding="utf-8"?>
<p:tagLst xmlns:p="http://schemas.openxmlformats.org/presentationml/2006/main">
  <p:tag name="KSO_WM_DIAGRAM_VIRTUALLY_FRAME" val="{&quot;height&quot;:251.27999999999997,&quot;left&quot;:21.6,&quot;top&quot;:66.24,&quot;width&quot;:403.2}"/>
</p:tagLst>
</file>

<file path=ppt/tags/tag3.xml><?xml version="1.0" encoding="utf-8"?>
<p:tagLst xmlns:p="http://schemas.openxmlformats.org/presentationml/2006/main">
  <p:tag name="KSO_WM_DIAGRAM_VIRTUALLY_FRAME" val="{&quot;height&quot;:251.27999999999997,&quot;left&quot;:21.6,&quot;top&quot;:66.24,&quot;width&quot;:403.2}"/>
</p:tagLst>
</file>

<file path=ppt/tags/tag4.xml><?xml version="1.0" encoding="utf-8"?>
<p:tagLst xmlns:p="http://schemas.openxmlformats.org/presentationml/2006/main">
  <p:tag name="KSO_WM_DIAGRAM_VIRTUALLY_FRAME" val="{&quot;height&quot;:251.27999999999997,&quot;left&quot;:21.6,&quot;top&quot;:66.24,&quot;width&quot;:403.2}"/>
</p:tagLst>
</file>

<file path=ppt/tags/tag5.xml><?xml version="1.0" encoding="utf-8"?>
<p:tagLst xmlns:p="http://schemas.openxmlformats.org/presentationml/2006/main">
  <p:tag name="KSO_WM_DIAGRAM_VIRTUALLY_FRAME" val="{&quot;height&quot;:251.27999999999997,&quot;left&quot;:21.6,&quot;top&quot;:66.24,&quot;width&quot;:403.2}"/>
</p:tagLst>
</file>

<file path=ppt/tags/tag6.xml><?xml version="1.0" encoding="utf-8"?>
<p:tagLst xmlns:p="http://schemas.openxmlformats.org/presentationml/2006/main">
  <p:tag name="KSO_WM_DIAGRAM_VIRTUALLY_FRAME" val="{&quot;height&quot;:251.27999999999997,&quot;left&quot;:21.6,&quot;top&quot;:66.24,&quot;width&quot;:403.2}"/>
</p:tagLst>
</file>

<file path=ppt/tags/tag7.xml><?xml version="1.0" encoding="utf-8"?>
<p:tagLst xmlns:p="http://schemas.openxmlformats.org/presentationml/2006/main">
  <p:tag name="KSO_WM_DIAGRAM_VIRTUALLY_FRAME" val="{&quot;height&quot;:251.27999999999997,&quot;left&quot;:21.6,&quot;top&quot;:66.24,&quot;width&quot;:403.2}"/>
</p:tagLst>
</file>

<file path=ppt/tags/tag8.xml><?xml version="1.0" encoding="utf-8"?>
<p:tagLst xmlns:p="http://schemas.openxmlformats.org/presentationml/2006/main">
  <p:tag name="KSO_WM_DIAGRAM_VIRTUALLY_FRAME" val="{&quot;height&quot;:251.27999999999997,&quot;left&quot;:21.6,&quot;top&quot;:66.24,&quot;width&quot;:403.2}"/>
</p:tagLst>
</file>

<file path=ppt/tags/tag9.xml><?xml version="1.0" encoding="utf-8"?>
<p:tagLst xmlns:p="http://schemas.openxmlformats.org/presentationml/2006/main">
  <p:tag name="KSO_WM_DIAGRAM_VIRTUALLY_FRAME" val="{&quot;height&quot;:251.27999999999997,&quot;left&quot;:21.6,&quot;top&quot;:66.24,&quot;width&quot;:403.2}"/>
</p:tagLst>
</file>

<file path=ppt/tags/tag10.xml><?xml version="1.0" encoding="utf-8"?>
<p:tagLst xmlns:p="http://schemas.openxmlformats.org/presentationml/2006/main">
  <p:tag name="KSO_WM_DIAGRAM_VIRTUALLY_FRAME" val="{&quot;height&quot;:251.27999999999997,&quot;left&quot;:21.6,&quot;top&quot;:66.24,&quot;width&quot;:403.2}"/>
</p:tagLst>
</file>

<file path=ppt/tags/tag11.xml><?xml version="1.0" encoding="utf-8"?>
<p:tagLst xmlns:p="http://schemas.openxmlformats.org/presentationml/2006/main">
  <p:tag name="KSO_WM_DIAGRAM_VIRTUALLY_FRAME" val="{&quot;height&quot;:251.27999999999997,&quot;left&quot;:21.6,&quot;top&quot;:66.24,&quot;width&quot;:403.2}"/>
</p:tagLst>
</file>

<file path=ppt/tags/tag12.xml><?xml version="1.0" encoding="utf-8"?>
<p:tagLst xmlns:p="http://schemas.openxmlformats.org/presentationml/2006/main">
  <p:tag name="KSO_WM_DIAGRAM_VIRTUALLY_FRAME" val="{&quot;height&quot;:251.27999999999997,&quot;left&quot;:21.6,&quot;top&quot;:66.24,&quot;width&quot;:403.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8584</Words>
  <Application>WPS Presentation</Application>
  <PresentationFormat>On-screen Show (16:9)</PresentationFormat>
  <Paragraphs>393</Paragraphs>
  <Slides>15</Slides>
  <Notes>15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Arial</vt:lpstr>
      <vt:lpstr>SimSun</vt:lpstr>
      <vt:lpstr>Wingdings</vt:lpstr>
      <vt:lpstr>Calibri</vt:lpstr>
      <vt:lpstr>Calibri</vt:lpstr>
      <vt:lpstr>Calibri</vt:lpstr>
      <vt:lpstr>Arial</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RL for Omni-Domain LLM Tutors</dc:title>
  <dc:creator>Divyansh, Tanu, Hanmanth</dc:creator>
  <dc:subject>PptxGenJS Presentation</dc:subject>
  <cp:lastModifiedBy>HANMANT Jajulwar</cp:lastModifiedBy>
  <cp:revision>3</cp:revision>
  <dcterms:created xsi:type="dcterms:W3CDTF">2026-04-15T06:30:00Z</dcterms:created>
  <dcterms:modified xsi:type="dcterms:W3CDTF">2026-04-15T06:40:57Z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E4CBEBD3ED4A40BEAEED55D533196229_13</vt:lpwstr>
  </property>
  <property fmtid="{D5CDD505-2E9C-101B-9397-08002B2CF9AE}" pid="3" name="KSOProductBuildVer">
    <vt:lpwstr>2057-12.2.0.23197</vt:lpwstr>
  </property>
</Properties>
</file>