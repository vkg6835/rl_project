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jpeg" ContentType="image/jpeg"/>
  <Override PartName="/ppt/media/image4.png" ContentType="image/png"/>
  <Override PartName="/ppt/media/image8.jpeg" ContentType="image/jpeg"/>
  <Override PartName="/ppt/media/image11.jpeg" ContentType="image/jpeg"/>
  <Override PartName="/ppt/media/image12.jpeg" ContentType="image/jpeg"/>
  <Override PartName="/ppt/media/image9.jpeg" ContentType="image/jpeg"/>
  <Override PartName="/ppt/media/image19.jpeg" ContentType="image/jpeg"/>
  <Override PartName="/ppt/media/image18.jpeg" ContentType="image/jpeg"/>
  <Override PartName="/ppt/media/image17.jpeg" ContentType="image/jpeg"/>
  <Override PartName="/ppt/media/image16.jpeg" ContentType="image/jpeg"/>
  <Override PartName="/ppt/media/image15.jpeg" ContentType="image/jpeg"/>
  <Override PartName="/ppt/media/image14.jpeg" ContentType="image/jpeg"/>
  <Override PartName="/ppt/media/image3.png" ContentType="image/png"/>
  <Override PartName="/ppt/media/image2.jpeg" ContentType="image/jpeg"/>
  <Override PartName="/ppt/media/image5.jpeg" ContentType="image/jpeg"/>
  <Override PartName="/ppt/media/image1.png" ContentType="image/png"/>
  <Override PartName="/ppt/media/image6.jpeg" ContentType="image/jpeg"/>
  <Override PartName="/ppt/media/image10.jpeg" ContentType="image/jpeg"/>
  <Override PartName="/ppt/media/image7.jpeg" ContentType="image/jpe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move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notes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2DAC50C-37BB-4DB7-98E1-7B014F9AC7F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145D2B-235A-4651-8C92-E45276BB5DB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624E26-B7B5-4340-B0B0-114C9C1E6E0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55350F-2FE6-4D7D-8CEE-57C24D997C5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3E6907-374D-475B-B9B5-9CE206EE1FE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274C7B-285E-4976-BFD6-AEF6CC92FD5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EAE25A-154A-4F86-B658-B4BA1B24BDB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157B10-F946-40D6-BDEE-199B68FFE2E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9D95E4-8C95-41BB-90C5-8CE6D4274EE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2BF056-45E7-4689-A083-51CC3FCA0C5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19D7A2-2408-46D8-A726-7FE7DBE05EA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B87B5E-36B1-4D5B-90CF-6F89558D7D0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602925-080B-4C24-BD00-5A8831B5444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3286A0-D4DC-4BD2-94F9-CDAF4DA3DDA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4BE7D6-3950-4E24-8E25-DE90B311298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2E18CA-0ACC-4467-B142-24D5A18E48A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226099-6005-4385-B7D9-556D5CA2984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362822-6A0D-4EA8-B198-14E07B0CD7B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3F7C4B-822A-45ED-B0B6-2592BF5F153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9B7002-9D59-476D-8480-93C06434842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835E7C-1021-4E3F-929E-5D0525E8FF4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54A642-DEAE-4104-B015-1FE5AFE88D8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D31EA6-181A-4157-A501-BFDBD0E325C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13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image" Target="../media/image17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image" Target="../media/image19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7589520" y="-548640"/>
            <a:ext cx="2559960" cy="2559960"/>
          </a:xfrm>
          <a:prstGeom prst="ellipse">
            <a:avLst/>
          </a:prstGeom>
          <a:solidFill>
            <a:srgbClr val="028090">
              <a:alpha val="28000"/>
            </a:srgbClr>
          </a:solidFill>
          <a:ln w="12700">
            <a:solidFill>
              <a:srgbClr val="028090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8046720" y="-91440"/>
            <a:ext cx="1737000" cy="1737000"/>
          </a:xfrm>
          <a:prstGeom prst="ellipse">
            <a:avLst/>
          </a:prstGeom>
          <a:solidFill>
            <a:srgbClr val="00a896">
              <a:alpha val="38000"/>
            </a:srgbClr>
          </a:solidFill>
          <a:ln w="12700">
            <a:solidFill>
              <a:srgbClr val="00a896">
                <a:alpha val="3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64520" y="4434840"/>
            <a:ext cx="8979120" cy="708480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365760" y="45720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Reinforcement Learning using EEG Signals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365760" y="1170360"/>
            <a:ext cx="8412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a896"/>
                </a:solidFill>
                <a:latin typeface="Calibri"/>
                <a:ea typeface="Calibri"/>
              </a:rPr>
              <a:t>for Therapeutic Use of Music in Emotion Management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65760" y="1801440"/>
            <a:ext cx="4114440" cy="36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365760" y="1938600"/>
            <a:ext cx="2742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Sahil Nagwani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365760" y="22676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a896"/>
                </a:solidFill>
                <a:latin typeface="Calibri"/>
                <a:ea typeface="Calibri"/>
              </a:rPr>
              <a:t>U23AI106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3273480" y="1938600"/>
            <a:ext cx="2742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Vishal Gautam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3273480" y="22676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a896"/>
                </a:solidFill>
                <a:latin typeface="Calibri"/>
                <a:ea typeface="Calibri"/>
              </a:rPr>
              <a:t>U23AI127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6181200" y="1938600"/>
            <a:ext cx="2742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PRAKRITI Manhar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6181200" y="22676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a896"/>
                </a:solidFill>
                <a:latin typeface="Calibri"/>
                <a:ea typeface="Calibri"/>
              </a:rPr>
              <a:t>U23AI114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365760" y="2670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a0c4d0"/>
                </a:solidFill>
                <a:latin typeface="Calibri"/>
                <a:ea typeface="Calibri"/>
              </a:rPr>
              <a:t>Department of Artificial Intelligence  |  SVNIT Surat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365760" y="303588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a9fad"/>
                </a:solidFill>
                <a:latin typeface="Calibri"/>
                <a:ea typeface="Calibri"/>
              </a:rPr>
              <a:t>Base Paper: Dutta et al. (2020) IEEE EMBC  •  Extended with SARSA, Double Q-Learning, Double SARSA, Reward Shaping Analysis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365760" y="4480560"/>
            <a:ext cx="8412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DEAP Dataset  • 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32 Subjects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  • 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5 RL Algorithms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  • 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1000 Episodes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  • 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LOSO Cross-Validation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9143640" cy="566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274320" y="5472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Why This Research Matters — The Clinical Motivation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2"/>
          <p:cNvSpPr/>
          <p:nvPr/>
        </p:nvSpPr>
        <p:spPr>
          <a:xfrm>
            <a:off x="182880" y="713160"/>
            <a:ext cx="2084400" cy="1599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3"/>
          <p:cNvSpPr/>
          <p:nvPr/>
        </p:nvSpPr>
        <p:spPr>
          <a:xfrm>
            <a:off x="228600" y="749880"/>
            <a:ext cx="19929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0a896"/>
                </a:solidFill>
                <a:latin typeface="Calibri"/>
                <a:ea typeface="Calibri"/>
              </a:rPr>
              <a:t>~280M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4"/>
          <p:cNvSpPr/>
          <p:nvPr/>
        </p:nvSpPr>
        <p:spPr>
          <a:xfrm>
            <a:off x="228600" y="1371600"/>
            <a:ext cx="1992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People worldwide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suffer from depression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5"/>
          <p:cNvSpPr/>
          <p:nvPr/>
        </p:nvSpPr>
        <p:spPr>
          <a:xfrm>
            <a:off x="2377440" y="713160"/>
            <a:ext cx="2084400" cy="1599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6"/>
          <p:cNvSpPr/>
          <p:nvPr/>
        </p:nvSpPr>
        <p:spPr>
          <a:xfrm>
            <a:off x="2423160" y="749880"/>
            <a:ext cx="19929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eaa7"/>
                </a:solidFill>
                <a:latin typeface="Calibri"/>
                <a:ea typeface="Calibri"/>
              </a:rPr>
              <a:t>Music Rx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7"/>
          <p:cNvSpPr/>
          <p:nvPr/>
        </p:nvSpPr>
        <p:spPr>
          <a:xfrm>
            <a:off x="2423160" y="1371600"/>
            <a:ext cx="1992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Therapy shown to reduce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depressive symptoms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8"/>
          <p:cNvSpPr/>
          <p:nvPr/>
        </p:nvSpPr>
        <p:spPr>
          <a:xfrm>
            <a:off x="4572000" y="713160"/>
            <a:ext cx="2084400" cy="159984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9"/>
          <p:cNvSpPr/>
          <p:nvPr/>
        </p:nvSpPr>
        <p:spPr>
          <a:xfrm>
            <a:off x="4617720" y="749880"/>
            <a:ext cx="19929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28090"/>
                </a:solidFill>
                <a:latin typeface="Calibri"/>
                <a:ea typeface="Calibri"/>
              </a:rPr>
              <a:t>EEG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0"/>
          <p:cNvSpPr/>
          <p:nvPr/>
        </p:nvSpPr>
        <p:spPr>
          <a:xfrm>
            <a:off x="4617720" y="1371600"/>
            <a:ext cx="1992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a2342"/>
                </a:solidFill>
                <a:latin typeface="Calibri"/>
                <a:ea typeface="Calibri"/>
              </a:rPr>
              <a:t>Objective, non-invasive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a2342"/>
                </a:solidFill>
                <a:latin typeface="Calibri"/>
                <a:ea typeface="Calibri"/>
              </a:rPr>
              <a:t>brain-state measurement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11"/>
          <p:cNvSpPr/>
          <p:nvPr/>
        </p:nvSpPr>
        <p:spPr>
          <a:xfrm>
            <a:off x="6766560" y="713160"/>
            <a:ext cx="2084400" cy="1599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6812280" y="749880"/>
            <a:ext cx="19929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a8e6cf"/>
                </a:solidFill>
                <a:latin typeface="Calibri"/>
                <a:ea typeface="Calibri"/>
              </a:rPr>
              <a:t>RL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3"/>
          <p:cNvSpPr/>
          <p:nvPr/>
        </p:nvSpPr>
        <p:spPr>
          <a:xfrm>
            <a:off x="6812280" y="1371600"/>
            <a:ext cx="1992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Learns optimal playlists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without user feedback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4"/>
          <p:cNvSpPr/>
          <p:nvPr/>
        </p:nvSpPr>
        <p:spPr>
          <a:xfrm>
            <a:off x="182880" y="2450520"/>
            <a:ext cx="8777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a2342"/>
                </a:solidFill>
                <a:latin typeface="Calibri"/>
                <a:ea typeface="Calibri"/>
              </a:rPr>
              <a:t>The Core Problem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274320" y="2788920"/>
            <a:ext cx="8595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Depressed individuals are drawn to sad music, reinforcing negative emotional states (Garrido &amp; Schubert, 2013)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6"/>
          <p:cNvSpPr/>
          <p:nvPr/>
        </p:nvSpPr>
        <p:spPr>
          <a:xfrm>
            <a:off x="274320" y="3026520"/>
            <a:ext cx="859500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Manual playlist curation is subjective — patients may unknowingly choose emotionally harmful music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274320" y="3292200"/>
            <a:ext cx="8595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Traditional RL for playlists uses pause/skip/replay feedback which is unreliable for depressed users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8"/>
          <p:cNvSpPr/>
          <p:nvPr/>
        </p:nvSpPr>
        <p:spPr>
          <a:xfrm>
            <a:off x="274320" y="3520800"/>
            <a:ext cx="8595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EEG captures involuntary emotional responses to music — bypassing self-report bias entirely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9"/>
          <p:cNvSpPr/>
          <p:nvPr/>
        </p:nvSpPr>
        <p:spPr>
          <a:xfrm>
            <a:off x="274320" y="3749400"/>
            <a:ext cx="8595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Need: A closed-loop system that reads EEG → identifies emotion → selects next clip → guides to 'happy'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685800" y="4115160"/>
            <a:ext cx="6089400" cy="263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Challanges : Emotions are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subjective and continuous and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also playlist must be shorter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(6)clips ,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685800" y="4339440"/>
            <a:ext cx="5486400" cy="374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Approach:   Model emotions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on a 2D Valence–Arousal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wheel Agent selects music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clips as                           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actions Minimize angular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error to target Based on Dutta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et al. 2020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0"/>
          <p:cNvSpPr/>
          <p:nvPr/>
        </p:nvSpPr>
        <p:spPr>
          <a:xfrm>
            <a:off x="0" y="0"/>
            <a:ext cx="9143640" cy="566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274320" y="5472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DEAP Dataset &amp; Emotion Space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2"/>
          <p:cNvSpPr/>
          <p:nvPr/>
        </p:nvSpPr>
        <p:spPr>
          <a:xfrm>
            <a:off x="182880" y="658440"/>
            <a:ext cx="4205880" cy="2102760"/>
          </a:xfrm>
          <a:prstGeom prst="rect">
            <a:avLst/>
          </a:prstGeom>
          <a:solidFill>
            <a:srgbClr val="f0f8ff"/>
          </a:solidFill>
          <a:ln w="12700">
            <a:solidFill>
              <a:srgbClr val="1565c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3"/>
          <p:cNvSpPr/>
          <p:nvPr/>
        </p:nvSpPr>
        <p:spPr>
          <a:xfrm>
            <a:off x="274320" y="69480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565c0"/>
                </a:solidFill>
                <a:latin typeface="Calibri"/>
                <a:ea typeface="Calibri"/>
              </a:rPr>
              <a:t>DEAP Dataset Overview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4"/>
          <p:cNvSpPr/>
          <p:nvPr/>
        </p:nvSpPr>
        <p:spPr>
          <a:xfrm>
            <a:off x="274320" y="104256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32 participants, each watched 40 × 1-min music video clips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5"/>
          <p:cNvSpPr/>
          <p:nvPr/>
        </p:nvSpPr>
        <p:spPr>
          <a:xfrm>
            <a:off x="274320" y="131688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EEG recorded at 128 Hz across 32 scalp electrodes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6"/>
          <p:cNvSpPr/>
          <p:nvPr/>
        </p:nvSpPr>
        <p:spPr>
          <a:xfrm>
            <a:off x="274320" y="159120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Self-reported Valence, Arousal, Dominance, Liking (1–9 scale) per clip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7"/>
          <p:cNvSpPr/>
          <p:nvPr/>
        </p:nvSpPr>
        <p:spPr>
          <a:xfrm>
            <a:off x="274320" y="186552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Preprocessed valence &amp; arousal used directly in this work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8"/>
          <p:cNvSpPr/>
          <p:nvPr/>
        </p:nvSpPr>
        <p:spPr>
          <a:xfrm>
            <a:off x="274320" y="213984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40 clips × 32 subjects = 1280 state-action observations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9"/>
          <p:cNvSpPr/>
          <p:nvPr/>
        </p:nvSpPr>
        <p:spPr>
          <a:xfrm>
            <a:off x="274320" y="241416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Emotion-transition pairs extracted from consecutive clip responses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10"/>
          <p:cNvSpPr/>
          <p:nvPr/>
        </p:nvSpPr>
        <p:spPr>
          <a:xfrm>
            <a:off x="4663440" y="658440"/>
            <a:ext cx="4297320" cy="2102760"/>
          </a:xfrm>
          <a:prstGeom prst="rect">
            <a:avLst/>
          </a:prstGeom>
          <a:solidFill>
            <a:srgbClr val="fff8f0"/>
          </a:solidFill>
          <a:ln w="12700">
            <a:solidFill>
              <a:srgbClr val="e8640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1"/>
          <p:cNvSpPr/>
          <p:nvPr/>
        </p:nvSpPr>
        <p:spPr>
          <a:xfrm>
            <a:off x="4754880" y="69480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640a"/>
                </a:solidFill>
                <a:latin typeface="Calibri"/>
                <a:ea typeface="Calibri"/>
              </a:rPr>
              <a:t>8 Emotion Groups (from 15 GEW emotions)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12"/>
          <p:cNvSpPr/>
          <p:nvPr/>
        </p:nvSpPr>
        <p:spPr>
          <a:xfrm>
            <a:off x="4736520" y="1042560"/>
            <a:ext cx="2057040" cy="228240"/>
          </a:xfrm>
          <a:prstGeom prst="rect">
            <a:avLst/>
          </a:prstGeom>
          <a:solidFill>
            <a:srgbClr val="1a7a4a">
              <a:alpha val="15000"/>
            </a:srgbClr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13"/>
          <p:cNvSpPr/>
          <p:nvPr/>
        </p:nvSpPr>
        <p:spPr>
          <a:xfrm>
            <a:off x="4773240" y="1051560"/>
            <a:ext cx="19929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Happy  (High V, High 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14"/>
          <p:cNvSpPr/>
          <p:nvPr/>
        </p:nvSpPr>
        <p:spPr>
          <a:xfrm>
            <a:off x="6839640" y="1042560"/>
            <a:ext cx="2057040" cy="228240"/>
          </a:xfrm>
          <a:prstGeom prst="rect">
            <a:avLst/>
          </a:prstGeom>
          <a:solidFill>
            <a:srgbClr val="1a7a4a">
              <a:alpha val="15000"/>
            </a:srgbClr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15"/>
          <p:cNvSpPr/>
          <p:nvPr/>
        </p:nvSpPr>
        <p:spPr>
          <a:xfrm>
            <a:off x="6876360" y="1051560"/>
            <a:ext cx="19929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Exciting  (High V, High 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16"/>
          <p:cNvSpPr/>
          <p:nvPr/>
        </p:nvSpPr>
        <p:spPr>
          <a:xfrm>
            <a:off x="4736520" y="1289160"/>
            <a:ext cx="2057040" cy="228240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17"/>
          <p:cNvSpPr/>
          <p:nvPr/>
        </p:nvSpPr>
        <p:spPr>
          <a:xfrm>
            <a:off x="4773240" y="1298520"/>
            <a:ext cx="19929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Pleasant  (High V, Low 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8"/>
          <p:cNvSpPr/>
          <p:nvPr/>
        </p:nvSpPr>
        <p:spPr>
          <a:xfrm>
            <a:off x="6839640" y="1289160"/>
            <a:ext cx="2057040" cy="228240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9"/>
          <p:cNvSpPr/>
          <p:nvPr/>
        </p:nvSpPr>
        <p:spPr>
          <a:xfrm>
            <a:off x="6876360" y="1298520"/>
            <a:ext cx="19929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Calm  (High V, Low 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20"/>
          <p:cNvSpPr/>
          <p:nvPr/>
        </p:nvSpPr>
        <p:spPr>
          <a:xfrm>
            <a:off x="4736520" y="1536120"/>
            <a:ext cx="2057040" cy="228240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21"/>
          <p:cNvSpPr/>
          <p:nvPr/>
        </p:nvSpPr>
        <p:spPr>
          <a:xfrm>
            <a:off x="4773240" y="1545480"/>
            <a:ext cx="19929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Sad  (Low V, Low 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22"/>
          <p:cNvSpPr/>
          <p:nvPr/>
        </p:nvSpPr>
        <p:spPr>
          <a:xfrm>
            <a:off x="6839640" y="1536120"/>
            <a:ext cx="2057040" cy="228240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23"/>
          <p:cNvSpPr/>
          <p:nvPr/>
        </p:nvSpPr>
        <p:spPr>
          <a:xfrm>
            <a:off x="6876360" y="1545480"/>
            <a:ext cx="19929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Negative  (Low V, Low 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24"/>
          <p:cNvSpPr/>
          <p:nvPr/>
        </p:nvSpPr>
        <p:spPr>
          <a:xfrm>
            <a:off x="4736520" y="1783080"/>
            <a:ext cx="2057040" cy="228240"/>
          </a:xfrm>
          <a:prstGeom prst="rect">
            <a:avLst/>
          </a:prstGeom>
          <a:solidFill>
            <a:srgbClr val="e8640a">
              <a:alpha val="15000"/>
            </a:srgbClr>
          </a:solidFill>
          <a:ln w="127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25"/>
          <p:cNvSpPr/>
          <p:nvPr/>
        </p:nvSpPr>
        <p:spPr>
          <a:xfrm>
            <a:off x="4773240" y="1792080"/>
            <a:ext cx="19929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Anger  (Low V, High 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26"/>
          <p:cNvSpPr/>
          <p:nvPr/>
        </p:nvSpPr>
        <p:spPr>
          <a:xfrm>
            <a:off x="6839640" y="1783080"/>
            <a:ext cx="2057040" cy="228240"/>
          </a:xfrm>
          <a:prstGeom prst="rect">
            <a:avLst/>
          </a:prstGeom>
          <a:solidFill>
            <a:srgbClr val="e8640a">
              <a:alpha val="15000"/>
            </a:srgbClr>
          </a:solidFill>
          <a:ln w="127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27"/>
          <p:cNvSpPr/>
          <p:nvPr/>
        </p:nvSpPr>
        <p:spPr>
          <a:xfrm>
            <a:off x="6876360" y="1792080"/>
            <a:ext cx="19929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Fear  (Low V, High 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28"/>
          <p:cNvSpPr/>
          <p:nvPr/>
        </p:nvSpPr>
        <p:spPr>
          <a:xfrm>
            <a:off x="182880" y="2853000"/>
            <a:ext cx="8777880" cy="2084400"/>
          </a:xfrm>
          <a:prstGeom prst="rect">
            <a:avLst/>
          </a:prstGeom>
          <a:solidFill>
            <a:srgbClr val="f5fafc"/>
          </a:solidFill>
          <a:ln w="12700">
            <a:solidFill>
              <a:srgbClr val="02809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29"/>
          <p:cNvSpPr/>
          <p:nvPr/>
        </p:nvSpPr>
        <p:spPr>
          <a:xfrm>
            <a:off x="320040" y="2889360"/>
            <a:ext cx="8503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28090"/>
                </a:solidFill>
                <a:latin typeface="Calibri"/>
                <a:ea typeface="Calibri"/>
              </a:rPr>
              <a:t>State Space: 20×20 Valence-Arousal Grid = 400 Discrete States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30"/>
          <p:cNvSpPr/>
          <p:nvPr/>
        </p:nvSpPr>
        <p:spPr>
          <a:xfrm>
            <a:off x="320040" y="3237120"/>
            <a:ext cx="8503560" cy="157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Valence axis (x):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−1 to +1, normalized → 20 bins. Positive = pleasant emotions; Negative = unpleasant.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Arousal axis (y):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−1 to +1, normalized → 20 bins. High = excited/angry; Low = calm/sad.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100" spc="-1" strike="noStrike">
                <a:solidFill>
                  <a:srgbClr val="1a7a4a"/>
                </a:solidFill>
                <a:latin typeface="Calibri"/>
                <a:ea typeface="Calibri"/>
              </a:rPr>
              <a:t>Target state: </a:t>
            </a:r>
            <a:r>
              <a:rPr b="0" lang="en-US" sz="1100" spc="-1" strike="noStrike">
                <a:solidFill>
                  <a:srgbClr val="1a7a4a"/>
                </a:solidFill>
                <a:latin typeface="Calibri"/>
                <a:ea typeface="Calibri"/>
              </a:rPr>
              <a:t>'Happy' → normalized VA = [0.905, 0.425] → bin (18,12) in the 20×20 grid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Start state: </a:t>
            </a:r>
            <a:r>
              <a:rPr b="0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'Anger' → Low Valence, High Arousal → upper-left quadrant of GEW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Each clip rated on: Valence (1–9), Arousal (1–9), Dominance, Liking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0" y="0"/>
            <a:ext cx="9143640" cy="5115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274320" y="5472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Geneva Emotion Wheel (GEW) — Emotion Space Visualization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8"/>
          <p:cNvSpPr/>
          <p:nvPr/>
        </p:nvSpPr>
        <p:spPr>
          <a:xfrm>
            <a:off x="3429000" y="2057760"/>
            <a:ext cx="63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28"/>
          <p:cNvSpPr/>
          <p:nvPr/>
        </p:nvSpPr>
        <p:spPr>
          <a:xfrm>
            <a:off x="5139000" y="69480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29"/>
          <p:cNvSpPr/>
          <p:nvPr/>
        </p:nvSpPr>
        <p:spPr>
          <a:xfrm>
            <a:off x="5139000" y="1042560"/>
            <a:ext cx="3730320" cy="15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5715000" y="2960280"/>
            <a:ext cx="3429000" cy="2171880"/>
          </a:xfrm>
          <a:prstGeom prst="rect">
            <a:avLst/>
          </a:prstGeom>
          <a:ln w="0">
            <a:noFill/>
          </a:ln>
        </p:spPr>
      </p:pic>
      <p:pic>
        <p:nvPicPr>
          <p:cNvPr id="83" name="" descr=""/>
          <p:cNvPicPr/>
          <p:nvPr/>
        </p:nvPicPr>
        <p:blipFill>
          <a:blip r:embed="rId2"/>
          <a:stretch/>
        </p:blipFill>
        <p:spPr>
          <a:xfrm>
            <a:off x="5943600" y="511560"/>
            <a:ext cx="3200400" cy="2448720"/>
          </a:xfrm>
          <a:prstGeom prst="rect">
            <a:avLst/>
          </a:prstGeom>
          <a:ln w="0">
            <a:noFill/>
          </a:ln>
        </p:spPr>
      </p:pic>
      <p:pic>
        <p:nvPicPr>
          <p:cNvPr id="84" name="" descr=""/>
          <p:cNvPicPr/>
          <p:nvPr/>
        </p:nvPicPr>
        <p:blipFill>
          <a:blip r:embed="rId3"/>
          <a:stretch/>
        </p:blipFill>
        <p:spPr>
          <a:xfrm>
            <a:off x="0" y="511560"/>
            <a:ext cx="5715000" cy="451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62"/>
          <p:cNvSpPr/>
          <p:nvPr/>
        </p:nvSpPr>
        <p:spPr>
          <a:xfrm>
            <a:off x="569520" y="908280"/>
            <a:ext cx="3372120" cy="3206520"/>
          </a:xfrm>
          <a:prstGeom prst="ellipse">
            <a:avLst/>
          </a:prstGeom>
          <a:solidFill>
            <a:srgbClr val="f8fbff"/>
          </a:solidFill>
          <a:ln w="12700">
            <a:solidFill>
              <a:srgbClr val="ccdd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64"/>
          <p:cNvSpPr/>
          <p:nvPr/>
        </p:nvSpPr>
        <p:spPr>
          <a:xfrm>
            <a:off x="2274480" y="886680"/>
            <a:ext cx="360" cy="3228120"/>
          </a:xfrm>
          <a:prstGeom prst="line">
            <a:avLst/>
          </a:prstGeom>
          <a:ln w="12700">
            <a:solidFill>
              <a:srgbClr val="aaaaa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66"/>
          <p:cNvSpPr/>
          <p:nvPr/>
        </p:nvSpPr>
        <p:spPr>
          <a:xfrm>
            <a:off x="569520" y="2500920"/>
            <a:ext cx="3409920" cy="0"/>
          </a:xfrm>
          <a:prstGeom prst="line">
            <a:avLst/>
          </a:prstGeom>
          <a:ln w="12700">
            <a:solidFill>
              <a:srgbClr val="aaaaa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63"/>
          <p:cNvSpPr/>
          <p:nvPr/>
        </p:nvSpPr>
        <p:spPr>
          <a:xfrm>
            <a:off x="948600" y="893880"/>
            <a:ext cx="265176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888888"/>
                </a:solidFill>
                <a:latin typeface="Calibri"/>
                <a:ea typeface="Calibri"/>
              </a:rPr>
              <a:t>High Arousal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65"/>
          <p:cNvSpPr/>
          <p:nvPr/>
        </p:nvSpPr>
        <p:spPr>
          <a:xfrm>
            <a:off x="948600" y="3885480"/>
            <a:ext cx="2651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888888"/>
                </a:solidFill>
                <a:latin typeface="Calibri"/>
                <a:ea typeface="Calibri"/>
              </a:rPr>
              <a:t>Low </a:t>
            </a:r>
            <a:r>
              <a:rPr b="0" i="1" lang="en-US" sz="900" spc="-1" strike="noStrike">
                <a:solidFill>
                  <a:srgbClr val="888888"/>
                </a:solidFill>
                <a:latin typeface="Calibri"/>
                <a:ea typeface="Calibri"/>
              </a:rPr>
              <a:t>Arousal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67"/>
          <p:cNvSpPr/>
          <p:nvPr/>
        </p:nvSpPr>
        <p:spPr>
          <a:xfrm>
            <a:off x="554400" y="2163960"/>
            <a:ext cx="52992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888888"/>
                </a:solidFill>
                <a:latin typeface="Calibri"/>
                <a:ea typeface="Calibri"/>
              </a:rPr>
              <a:t>Low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888888"/>
                </a:solidFill>
                <a:latin typeface="Calibri"/>
                <a:ea typeface="Calibri"/>
              </a:rPr>
              <a:t>Valence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68"/>
          <p:cNvSpPr/>
          <p:nvPr/>
        </p:nvSpPr>
        <p:spPr>
          <a:xfrm>
            <a:off x="3146040" y="1288440"/>
            <a:ext cx="272160" cy="25812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69"/>
          <p:cNvSpPr/>
          <p:nvPr/>
        </p:nvSpPr>
        <p:spPr>
          <a:xfrm>
            <a:off x="3456360" y="1274040"/>
            <a:ext cx="7956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7a4a"/>
                </a:solidFill>
                <a:latin typeface="Calibri"/>
                <a:ea typeface="Calibri"/>
              </a:rPr>
              <a:t>Happy ★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69"/>
          <p:cNvSpPr/>
          <p:nvPr/>
        </p:nvSpPr>
        <p:spPr>
          <a:xfrm>
            <a:off x="2881080" y="1087920"/>
            <a:ext cx="211680" cy="2005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70"/>
          <p:cNvSpPr/>
          <p:nvPr/>
        </p:nvSpPr>
        <p:spPr>
          <a:xfrm>
            <a:off x="3130920" y="1073520"/>
            <a:ext cx="7952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a7a4a"/>
                </a:solidFill>
                <a:latin typeface="Calibri"/>
                <a:ea typeface="Calibri"/>
              </a:rPr>
              <a:t>Exciting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70"/>
          <p:cNvSpPr/>
          <p:nvPr/>
        </p:nvSpPr>
        <p:spPr>
          <a:xfrm>
            <a:off x="1100160" y="1145160"/>
            <a:ext cx="242280" cy="229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71"/>
          <p:cNvSpPr/>
          <p:nvPr/>
        </p:nvSpPr>
        <p:spPr>
          <a:xfrm>
            <a:off x="266400" y="1130760"/>
            <a:ext cx="7956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c0392b"/>
                </a:solidFill>
                <a:latin typeface="Calibri"/>
                <a:ea typeface="Calibri"/>
              </a:rPr>
              <a:t>Anger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71"/>
          <p:cNvSpPr/>
          <p:nvPr/>
        </p:nvSpPr>
        <p:spPr>
          <a:xfrm>
            <a:off x="1365120" y="1338840"/>
            <a:ext cx="196560" cy="186120"/>
          </a:xfrm>
          <a:prstGeom prst="ellipse">
            <a:avLst/>
          </a:prstGeom>
          <a:solidFill>
            <a:srgbClr val="e8640a"/>
          </a:solidFill>
          <a:ln w="127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72"/>
          <p:cNvSpPr/>
          <p:nvPr/>
        </p:nvSpPr>
        <p:spPr>
          <a:xfrm>
            <a:off x="531720" y="1324440"/>
            <a:ext cx="7952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640a"/>
                </a:solidFill>
                <a:latin typeface="Calibri"/>
                <a:ea typeface="Calibri"/>
              </a:rPr>
              <a:t>Fear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72"/>
          <p:cNvSpPr/>
          <p:nvPr/>
        </p:nvSpPr>
        <p:spPr>
          <a:xfrm>
            <a:off x="1062360" y="3383280"/>
            <a:ext cx="196560" cy="18612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73"/>
          <p:cNvSpPr/>
          <p:nvPr/>
        </p:nvSpPr>
        <p:spPr>
          <a:xfrm>
            <a:off x="228600" y="3368880"/>
            <a:ext cx="7956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e44ad"/>
                </a:solidFill>
                <a:latin typeface="Calibri"/>
                <a:ea typeface="Calibri"/>
              </a:rPr>
              <a:t>Sad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73"/>
          <p:cNvSpPr/>
          <p:nvPr/>
        </p:nvSpPr>
        <p:spPr>
          <a:xfrm>
            <a:off x="1402920" y="3132360"/>
            <a:ext cx="181800" cy="171720"/>
          </a:xfrm>
          <a:prstGeom prst="ellipse">
            <a:avLst/>
          </a:prstGeom>
          <a:solidFill>
            <a:srgbClr val="636e72"/>
          </a:solidFill>
          <a:ln w="12700">
            <a:solidFill>
              <a:srgbClr val="636e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74"/>
          <p:cNvSpPr/>
          <p:nvPr/>
        </p:nvSpPr>
        <p:spPr>
          <a:xfrm>
            <a:off x="569520" y="3117960"/>
            <a:ext cx="7952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36e72"/>
                </a:solidFill>
                <a:latin typeface="Calibri"/>
                <a:ea typeface="Calibri"/>
              </a:rPr>
              <a:t>Negative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74"/>
          <p:cNvSpPr/>
          <p:nvPr/>
        </p:nvSpPr>
        <p:spPr>
          <a:xfrm>
            <a:off x="3070080" y="3168000"/>
            <a:ext cx="212040" cy="2005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75"/>
          <p:cNvSpPr/>
          <p:nvPr/>
        </p:nvSpPr>
        <p:spPr>
          <a:xfrm>
            <a:off x="3320280" y="3153600"/>
            <a:ext cx="7952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565c0"/>
                </a:solidFill>
                <a:latin typeface="Calibri"/>
                <a:ea typeface="Calibri"/>
              </a:rPr>
              <a:t>Pleasant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75"/>
          <p:cNvSpPr/>
          <p:nvPr/>
        </p:nvSpPr>
        <p:spPr>
          <a:xfrm>
            <a:off x="2994480" y="3454920"/>
            <a:ext cx="196920" cy="18612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76"/>
          <p:cNvSpPr/>
          <p:nvPr/>
        </p:nvSpPr>
        <p:spPr>
          <a:xfrm>
            <a:off x="3229560" y="3440520"/>
            <a:ext cx="794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97a7"/>
                </a:solidFill>
                <a:latin typeface="Calibri"/>
                <a:ea typeface="Calibri"/>
              </a:rPr>
              <a:t>C</a:t>
            </a:r>
            <a:r>
              <a:rPr b="0" lang="en-US" sz="900" spc="-1" strike="noStrike">
                <a:solidFill>
                  <a:srgbClr val="0097a7"/>
                </a:solidFill>
                <a:latin typeface="Calibri"/>
                <a:ea typeface="Calibri"/>
              </a:rPr>
              <a:t>a</a:t>
            </a:r>
            <a:r>
              <a:rPr b="0" lang="en-US" sz="900" spc="-1" strike="noStrike">
                <a:solidFill>
                  <a:srgbClr val="0097a7"/>
                </a:solidFill>
                <a:latin typeface="Calibri"/>
                <a:ea typeface="Calibri"/>
              </a:rPr>
              <a:t>l</a:t>
            </a:r>
            <a:r>
              <a:rPr b="0" lang="en-US" sz="900" spc="-1" strike="noStrike">
                <a:solidFill>
                  <a:srgbClr val="0097a7"/>
                </a:solidFill>
                <a:latin typeface="Calibri"/>
                <a:ea typeface="Calibri"/>
              </a:rPr>
              <a:t>m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76"/>
          <p:cNvSpPr/>
          <p:nvPr/>
        </p:nvSpPr>
        <p:spPr>
          <a:xfrm>
            <a:off x="1160640" y="1245240"/>
            <a:ext cx="1848600" cy="43200"/>
          </a:xfrm>
          <a:prstGeom prst="line">
            <a:avLst/>
          </a:prstGeom>
          <a:ln w="12700">
            <a:solidFill>
              <a:srgbClr val="0a2342"/>
            </a:solidFill>
            <a:prstDash val="dash"/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1800" bIns="-18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77"/>
          <p:cNvSpPr/>
          <p:nvPr/>
        </p:nvSpPr>
        <p:spPr>
          <a:xfrm>
            <a:off x="1706040" y="908280"/>
            <a:ext cx="121248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a2342"/>
                </a:solidFill>
                <a:latin typeface="Calibri"/>
                <a:ea typeface="Calibri"/>
              </a:rPr>
              <a:t>Journey: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a2342"/>
                </a:solidFill>
                <a:latin typeface="Calibri"/>
                <a:ea typeface="Calibri"/>
              </a:rPr>
              <a:t>Anger → Happy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77"/>
          <p:cNvSpPr/>
          <p:nvPr/>
        </p:nvSpPr>
        <p:spPr>
          <a:xfrm>
            <a:off x="0" y="0"/>
            <a:ext cx="9143640" cy="5115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78"/>
          <p:cNvSpPr/>
          <p:nvPr/>
        </p:nvSpPr>
        <p:spPr>
          <a:xfrm>
            <a:off x="274320" y="5472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Geneva Emotion Wheel (GEW) </a:t>
            </a: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— Emotion Space Visualization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79"/>
          <p:cNvSpPr/>
          <p:nvPr/>
        </p:nvSpPr>
        <p:spPr>
          <a:xfrm>
            <a:off x="3429000" y="2057760"/>
            <a:ext cx="63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888888"/>
                </a:solidFill>
                <a:latin typeface="Calibri"/>
                <a:ea typeface="Calibri"/>
              </a:rPr>
              <a:t>High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888888"/>
                </a:solidFill>
                <a:latin typeface="Calibri"/>
                <a:ea typeface="Calibri"/>
              </a:rPr>
              <a:t>Valence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80"/>
          <p:cNvSpPr/>
          <p:nvPr/>
        </p:nvSpPr>
        <p:spPr>
          <a:xfrm>
            <a:off x="5139000" y="69480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81"/>
          <p:cNvSpPr/>
          <p:nvPr/>
        </p:nvSpPr>
        <p:spPr>
          <a:xfrm>
            <a:off x="5139000" y="1042560"/>
            <a:ext cx="3730320" cy="15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4172040" y="685800"/>
            <a:ext cx="4743360" cy="422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0"/>
          <p:cNvSpPr/>
          <p:nvPr/>
        </p:nvSpPr>
        <p:spPr>
          <a:xfrm>
            <a:off x="0" y="0"/>
            <a:ext cx="9143640" cy="566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274320" y="5472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MDP Formulation — State, Action, Transition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2"/>
          <p:cNvSpPr/>
          <p:nvPr/>
        </p:nvSpPr>
        <p:spPr>
          <a:xfrm>
            <a:off x="182880" y="658440"/>
            <a:ext cx="2880000" cy="2633040"/>
          </a:xfrm>
          <a:prstGeom prst="rect">
            <a:avLst/>
          </a:prstGeom>
          <a:solidFill>
            <a:srgbClr val="eef4ff"/>
          </a:solidFill>
          <a:ln w="12700">
            <a:solidFill>
              <a:srgbClr val="1565c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3"/>
          <p:cNvSpPr/>
          <p:nvPr/>
        </p:nvSpPr>
        <p:spPr>
          <a:xfrm>
            <a:off x="182880" y="658440"/>
            <a:ext cx="2880000" cy="383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228600" y="676800"/>
            <a:ext cx="2788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State Space  |S| = 400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255960" y="1078920"/>
            <a:ext cx="2742840" cy="21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20×20 discretized Valence-Arousal grid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Each cell = one emotional region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State s = (valence_bin, arousal_bin)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Current emotion represented as a 2D vector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in the Geneva Emotion Wheel coordinate system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6"/>
          <p:cNvSpPr/>
          <p:nvPr/>
        </p:nvSpPr>
        <p:spPr>
          <a:xfrm>
            <a:off x="3173040" y="658440"/>
            <a:ext cx="2880000" cy="2633040"/>
          </a:xfrm>
          <a:prstGeom prst="rect">
            <a:avLst/>
          </a:prstGeom>
          <a:solidFill>
            <a:srgbClr val="eef8ef"/>
          </a:solidFill>
          <a:ln w="12700">
            <a:solidFill>
              <a:srgbClr val="1a7a4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7"/>
          <p:cNvSpPr/>
          <p:nvPr/>
        </p:nvSpPr>
        <p:spPr>
          <a:xfrm>
            <a:off x="3173040" y="658440"/>
            <a:ext cx="2880000" cy="3837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3218760" y="676800"/>
            <a:ext cx="2788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Action Space  |A| = 40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9"/>
          <p:cNvSpPr/>
          <p:nvPr/>
        </p:nvSpPr>
        <p:spPr>
          <a:xfrm>
            <a:off x="3246120" y="1078920"/>
            <a:ext cx="2742840" cy="21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Each action = presenting one music clip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40 clips from DEAP dataset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Each clip has a (valence, arousal) profile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Action induces emotion vector transition: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τ(s,a) = v_s + v_a → new emotional state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10"/>
          <p:cNvSpPr/>
          <p:nvPr/>
        </p:nvSpPr>
        <p:spPr>
          <a:xfrm>
            <a:off x="6163200" y="658440"/>
            <a:ext cx="2880000" cy="2633040"/>
          </a:xfrm>
          <a:prstGeom prst="rect">
            <a:avLst/>
          </a:prstGeom>
          <a:solidFill>
            <a:srgbClr val="fff5ee"/>
          </a:solidFill>
          <a:ln w="12700">
            <a:solidFill>
              <a:srgbClr val="e8640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11"/>
          <p:cNvSpPr/>
          <p:nvPr/>
        </p:nvSpPr>
        <p:spPr>
          <a:xfrm>
            <a:off x="6163200" y="658440"/>
            <a:ext cx="2880000" cy="383760"/>
          </a:xfrm>
          <a:prstGeom prst="rect">
            <a:avLst/>
          </a:prstGeom>
          <a:solidFill>
            <a:srgbClr val="e8640a"/>
          </a:solidFill>
          <a:ln w="127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12"/>
          <p:cNvSpPr/>
          <p:nvPr/>
        </p:nvSpPr>
        <p:spPr>
          <a:xfrm>
            <a:off x="6208920" y="676800"/>
            <a:ext cx="2788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Transition Function  τ(s,a)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13"/>
          <p:cNvSpPr/>
          <p:nvPr/>
        </p:nvSpPr>
        <p:spPr>
          <a:xfrm>
            <a:off x="6236280" y="1078920"/>
            <a:ext cx="2742840" cy="21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Next state s' = τ(s, a)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Vector addition: current emotion + clip emotion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Result clipped to [-1,+1] VA range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Non-deterministic: varies per subject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LOSO: transition learned from 31 subjects,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tested on 1 held-out subject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14"/>
          <p:cNvSpPr/>
          <p:nvPr/>
        </p:nvSpPr>
        <p:spPr>
          <a:xfrm>
            <a:off x="182880" y="3401640"/>
            <a:ext cx="8777880" cy="1572480"/>
          </a:xfrm>
          <a:prstGeom prst="rect">
            <a:avLst/>
          </a:prstGeom>
          <a:solidFill>
            <a:srgbClr val="fff8f0"/>
          </a:solidFill>
          <a:ln w="12700">
            <a:solidFill>
              <a:srgbClr val="e8640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15"/>
          <p:cNvSpPr/>
          <p:nvPr/>
        </p:nvSpPr>
        <p:spPr>
          <a:xfrm>
            <a:off x="320040" y="3438000"/>
            <a:ext cx="8503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640a"/>
                </a:solidFill>
                <a:latin typeface="Calibri"/>
                <a:ea typeface="Calibri"/>
              </a:rPr>
              <a:t>Reward Function Design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6"/>
          <p:cNvSpPr/>
          <p:nvPr/>
        </p:nvSpPr>
        <p:spPr>
          <a:xfrm>
            <a:off x="320040" y="3785760"/>
            <a:ext cx="85035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Base Reward: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r(s,a) = 1 if θ(s,a) ≤ 180° (music moves emotion in right direction), else 0   </a:t>
            </a:r>
            <a:r>
              <a:rPr b="0" i="1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where θ = |θ_target| + |θ_current|  (sum of angular deviations from target and current vectors)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Stagnation Penalty  φ(s,s'):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φ = −100 if s = s' (agent stayed in same emotional state — punish getting stuck)  |  φ = 0 otherwise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7a4a"/>
                </a:solidFill>
                <a:latin typeface="Calibri"/>
                <a:ea typeface="Calibri"/>
              </a:rPr>
              <a:t>Effect: </a:t>
            </a:r>
            <a:r>
              <a:rPr b="0" lang="en-US" sz="1100" spc="-1" strike="noStrike">
                <a:solidFill>
                  <a:srgbClr val="000000"/>
                </a:solidFill>
                <a:latin typeface="Calibri"/>
                <a:ea typeface="Calibri"/>
              </a:rPr>
              <a:t>Forces exploration; prevents agent from repeatedly recommending the same clip with no emotional change.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0" y="0"/>
            <a:ext cx="9143640" cy="566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274320" y="5472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Algorithm 1: Q-Learning — Off-Policy Temporal Difference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2"/>
          <p:cNvSpPr/>
          <p:nvPr/>
        </p:nvSpPr>
        <p:spPr>
          <a:xfrm>
            <a:off x="182880" y="658440"/>
            <a:ext cx="5303160" cy="1416960"/>
          </a:xfrm>
          <a:prstGeom prst="rect">
            <a:avLst/>
          </a:prstGeom>
          <a:solidFill>
            <a:srgbClr val="eef4ff"/>
          </a:solidFill>
          <a:ln w="12700">
            <a:solidFill>
              <a:srgbClr val="1565c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3"/>
          <p:cNvSpPr/>
          <p:nvPr/>
        </p:nvSpPr>
        <p:spPr>
          <a:xfrm>
            <a:off x="320040" y="694800"/>
            <a:ext cx="5074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565c0"/>
                </a:solidFill>
                <a:latin typeface="Calibri"/>
                <a:ea typeface="Calibri"/>
              </a:rPr>
              <a:t>Update Rule (with Reward Shaping)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4"/>
          <p:cNvSpPr/>
          <p:nvPr/>
        </p:nvSpPr>
        <p:spPr>
          <a:xfrm>
            <a:off x="320040" y="1024200"/>
            <a:ext cx="5074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a2342"/>
                </a:solidFill>
                <a:latin typeface="Consolas"/>
                <a:ea typeface="Consolas"/>
              </a:rPr>
              <a:t>Q(s,a)  ←  Q(s,a) + α [ r + γ · max_a' Q(s',a') + Φ(s,s') − Q(s,a) 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5"/>
          <p:cNvSpPr/>
          <p:nvPr/>
        </p:nvSpPr>
        <p:spPr>
          <a:xfrm>
            <a:off x="320040" y="1463040"/>
            <a:ext cx="5074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α</a:t>
            </a:r>
            <a:r>
              <a:rPr b="0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 = learning rate  |  </a:t>
            </a:r>
            <a:r>
              <a:rPr b="1" i="1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γ</a:t>
            </a:r>
            <a:r>
              <a:rPr b="0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 = discount factor  |  </a:t>
            </a:r>
            <a:r>
              <a:rPr b="1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Φ(s,s')</a:t>
            </a:r>
            <a:r>
              <a:rPr b="0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 = reward shaping  |  </a:t>
            </a:r>
            <a:r>
              <a:rPr b="1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max_a'</a:t>
            </a:r>
            <a:r>
              <a:rPr b="0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 = off-policy greedy selection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6"/>
          <p:cNvSpPr/>
          <p:nvPr/>
        </p:nvSpPr>
        <p:spPr>
          <a:xfrm>
            <a:off x="5669280" y="658440"/>
            <a:ext cx="3291480" cy="1416960"/>
          </a:xfrm>
          <a:prstGeom prst="rect">
            <a:avLst/>
          </a:prstGeom>
          <a:solidFill>
            <a:srgbClr val="eef4ff"/>
          </a:solidFill>
          <a:ln w="12700">
            <a:solidFill>
              <a:srgbClr val="1565c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7"/>
          <p:cNvSpPr/>
          <p:nvPr/>
        </p:nvSpPr>
        <p:spPr>
          <a:xfrm>
            <a:off x="5779080" y="694800"/>
            <a:ext cx="3090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565c0"/>
                </a:solidFill>
                <a:latin typeface="Calibri"/>
                <a:ea typeface="Calibri"/>
              </a:rPr>
              <a:t>Best Hyperparams (Grid CV)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8"/>
          <p:cNvSpPr/>
          <p:nvPr/>
        </p:nvSpPr>
        <p:spPr>
          <a:xfrm>
            <a:off x="5687640" y="1024200"/>
            <a:ext cx="3254760" cy="237240"/>
          </a:xfrm>
          <a:prstGeom prst="rect">
            <a:avLst/>
          </a:prstGeom>
          <a:solidFill>
            <a:srgbClr val="eef4ff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9"/>
          <p:cNvSpPr/>
          <p:nvPr/>
        </p:nvSpPr>
        <p:spPr>
          <a:xfrm>
            <a:off x="5724000" y="103320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α (learning rate)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0"/>
          <p:cNvSpPr/>
          <p:nvPr/>
        </p:nvSpPr>
        <p:spPr>
          <a:xfrm>
            <a:off x="7644240" y="103320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  <a:ea typeface="Calibri"/>
              </a:rPr>
              <a:t>0.2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11"/>
          <p:cNvSpPr/>
          <p:nvPr/>
        </p:nvSpPr>
        <p:spPr>
          <a:xfrm>
            <a:off x="5687640" y="1271160"/>
            <a:ext cx="3254760" cy="23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12"/>
          <p:cNvSpPr/>
          <p:nvPr/>
        </p:nvSpPr>
        <p:spPr>
          <a:xfrm>
            <a:off x="5724000" y="128016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γ (discount)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3"/>
          <p:cNvSpPr/>
          <p:nvPr/>
        </p:nvSpPr>
        <p:spPr>
          <a:xfrm>
            <a:off x="7644240" y="128016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  <a:ea typeface="Calibri"/>
              </a:rPr>
              <a:t>0.6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14"/>
          <p:cNvSpPr/>
          <p:nvPr/>
        </p:nvSpPr>
        <p:spPr>
          <a:xfrm>
            <a:off x="5687640" y="1517760"/>
            <a:ext cx="3254760" cy="237240"/>
          </a:xfrm>
          <a:prstGeom prst="rect">
            <a:avLst/>
          </a:prstGeom>
          <a:solidFill>
            <a:srgbClr val="eef4ff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5"/>
          <p:cNvSpPr/>
          <p:nvPr/>
        </p:nvSpPr>
        <p:spPr>
          <a:xfrm>
            <a:off x="5724000" y="152712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ε (exploration)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6"/>
          <p:cNvSpPr/>
          <p:nvPr/>
        </p:nvSpPr>
        <p:spPr>
          <a:xfrm>
            <a:off x="7644240" y="152712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  <a:ea typeface="Calibri"/>
              </a:rPr>
              <a:t>0.2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7"/>
          <p:cNvSpPr/>
          <p:nvPr/>
        </p:nvSpPr>
        <p:spPr>
          <a:xfrm>
            <a:off x="5687640" y="1764720"/>
            <a:ext cx="3254760" cy="23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8"/>
          <p:cNvSpPr/>
          <p:nvPr/>
        </p:nvSpPr>
        <p:spPr>
          <a:xfrm>
            <a:off x="5724000" y="177408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CV mean error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9"/>
          <p:cNvSpPr/>
          <p:nvPr/>
        </p:nvSpPr>
        <p:spPr>
          <a:xfrm>
            <a:off x="7644240" y="177408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  <a:ea typeface="Calibri"/>
              </a:rPr>
              <a:t>9.7° (w/ shaping)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20"/>
          <p:cNvSpPr/>
          <p:nvPr/>
        </p:nvSpPr>
        <p:spPr>
          <a:xfrm>
            <a:off x="182880" y="2176200"/>
            <a:ext cx="8777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a2342"/>
                </a:solidFill>
                <a:latin typeface="Calibri"/>
                <a:ea typeface="Calibri"/>
              </a:rPr>
              <a:t>How it Works — Step by Step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21"/>
          <p:cNvSpPr/>
          <p:nvPr/>
        </p:nvSpPr>
        <p:spPr>
          <a:xfrm>
            <a:off x="182880" y="2578680"/>
            <a:ext cx="347040" cy="3470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22"/>
          <p:cNvSpPr/>
          <p:nvPr/>
        </p:nvSpPr>
        <p:spPr>
          <a:xfrm>
            <a:off x="182880" y="2578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23"/>
          <p:cNvSpPr/>
          <p:nvPr/>
        </p:nvSpPr>
        <p:spPr>
          <a:xfrm>
            <a:off x="594360" y="2597040"/>
            <a:ext cx="8366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  <a:ea typeface="Calibri"/>
              </a:rPr>
              <a:t>Initialize: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Q-table of zeros: Q[400 states × 40 actions]. All music clips equally likely initially.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24"/>
          <p:cNvSpPr/>
          <p:nvPr/>
        </p:nvSpPr>
        <p:spPr>
          <a:xfrm>
            <a:off x="182880" y="3072240"/>
            <a:ext cx="347040" cy="3470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25"/>
          <p:cNvSpPr/>
          <p:nvPr/>
        </p:nvSpPr>
        <p:spPr>
          <a:xfrm>
            <a:off x="182880" y="30722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26"/>
          <p:cNvSpPr/>
          <p:nvPr/>
        </p:nvSpPr>
        <p:spPr>
          <a:xfrm>
            <a:off x="594360" y="3090600"/>
            <a:ext cx="8366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  <a:ea typeface="Calibri"/>
              </a:rPr>
              <a:t>Select Action: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ε-greedy: with prob ε explore random clip; with prob (1−ε) exploit best Q(s,a).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27"/>
          <p:cNvSpPr/>
          <p:nvPr/>
        </p:nvSpPr>
        <p:spPr>
          <a:xfrm>
            <a:off x="182880" y="3566160"/>
            <a:ext cx="347040" cy="3470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28"/>
          <p:cNvSpPr/>
          <p:nvPr/>
        </p:nvSpPr>
        <p:spPr>
          <a:xfrm>
            <a:off x="182880" y="35661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29"/>
          <p:cNvSpPr/>
          <p:nvPr/>
        </p:nvSpPr>
        <p:spPr>
          <a:xfrm>
            <a:off x="594360" y="3584520"/>
            <a:ext cx="8366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  <a:ea typeface="Calibri"/>
              </a:rPr>
              <a:t>Observe Transition: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Play selected clip → EEG captures new emotional state s' = τ(s,a). Get reward r + shaping Φ.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30"/>
          <p:cNvSpPr/>
          <p:nvPr/>
        </p:nvSpPr>
        <p:spPr>
          <a:xfrm>
            <a:off x="182880" y="4060080"/>
            <a:ext cx="347040" cy="3470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31"/>
          <p:cNvSpPr/>
          <p:nvPr/>
        </p:nvSpPr>
        <p:spPr>
          <a:xfrm>
            <a:off x="182880" y="40600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32"/>
          <p:cNvSpPr/>
          <p:nvPr/>
        </p:nvSpPr>
        <p:spPr>
          <a:xfrm>
            <a:off x="594360" y="4078080"/>
            <a:ext cx="8366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  <a:ea typeface="Calibri"/>
              </a:rPr>
              <a:t>Off-Policy Update: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Update Q(s,a) using MAXIMUM Q-value of next state: max_a' Q(s',a'). Does NOT follow current policy.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33"/>
          <p:cNvSpPr/>
          <p:nvPr/>
        </p:nvSpPr>
        <p:spPr>
          <a:xfrm>
            <a:off x="182880" y="4553640"/>
            <a:ext cx="347040" cy="3470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34"/>
          <p:cNvSpPr/>
          <p:nvPr/>
        </p:nvSpPr>
        <p:spPr>
          <a:xfrm>
            <a:off x="182880" y="4553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35"/>
          <p:cNvSpPr/>
          <p:nvPr/>
        </p:nvSpPr>
        <p:spPr>
          <a:xfrm>
            <a:off x="594360" y="4572000"/>
            <a:ext cx="8366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  <a:ea typeface="Calibri"/>
              </a:rPr>
              <a:t>LOSO Evaluation: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Train on 31 subjects → test on held-out subject. Repeat 32 times. Final metric = angular error at clip 6.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36"/>
          <p:cNvSpPr/>
          <p:nvPr/>
        </p:nvSpPr>
        <p:spPr>
          <a:xfrm>
            <a:off x="7543800" y="2176200"/>
            <a:ext cx="1416960" cy="2907360"/>
          </a:xfrm>
          <a:prstGeom prst="rect">
            <a:avLst/>
          </a:prstGeom>
          <a:solidFill>
            <a:srgbClr val="e3f2ff"/>
          </a:solidFill>
          <a:ln w="12700">
            <a:solidFill>
              <a:srgbClr val="1565c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  <a:ea typeface="Calibri"/>
              </a:rPr>
              <a:t>Why Off-Policy?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Q-Learning learns the OPTIMAL policy independently of what the agent actually does. It can explore random paths yet still update toward the greedy optimal. This makes it sample-efficient for the sparse DEAP emotion transition space. Best results: 30/32 convergence with shaping.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37"/>
          <p:cNvSpPr/>
          <p:nvPr/>
        </p:nvSpPr>
        <p:spPr>
          <a:xfrm>
            <a:off x="320040" y="5111640"/>
            <a:ext cx="8503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0"/>
          <p:cNvSpPr/>
          <p:nvPr/>
        </p:nvSpPr>
        <p:spPr>
          <a:xfrm>
            <a:off x="0" y="0"/>
            <a:ext cx="9143640" cy="566640"/>
          </a:xfrm>
          <a:prstGeom prst="rect">
            <a:avLst/>
          </a:prstGeom>
          <a:solidFill>
            <a:srgbClr val="e8640a"/>
          </a:solidFill>
          <a:ln w="127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1"/>
          <p:cNvSpPr/>
          <p:nvPr/>
        </p:nvSpPr>
        <p:spPr>
          <a:xfrm>
            <a:off x="274320" y="5472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Algorithm 2: SARSA — On-Policy Temporal Difference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2"/>
          <p:cNvSpPr/>
          <p:nvPr/>
        </p:nvSpPr>
        <p:spPr>
          <a:xfrm>
            <a:off x="182880" y="658440"/>
            <a:ext cx="5303160" cy="1416960"/>
          </a:xfrm>
          <a:prstGeom prst="rect">
            <a:avLst/>
          </a:prstGeom>
          <a:solidFill>
            <a:srgbClr val="fff5ee"/>
          </a:solidFill>
          <a:ln w="12700">
            <a:solidFill>
              <a:srgbClr val="e8640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3"/>
          <p:cNvSpPr/>
          <p:nvPr/>
        </p:nvSpPr>
        <p:spPr>
          <a:xfrm>
            <a:off x="320040" y="694800"/>
            <a:ext cx="5074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640a"/>
                </a:solidFill>
                <a:latin typeface="Calibri"/>
                <a:ea typeface="Calibri"/>
              </a:rPr>
              <a:t>Update Rule (SARSA with Reward Shaping)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4"/>
          <p:cNvSpPr/>
          <p:nvPr/>
        </p:nvSpPr>
        <p:spPr>
          <a:xfrm>
            <a:off x="320040" y="1024200"/>
            <a:ext cx="5074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a2342"/>
                </a:solidFill>
                <a:latin typeface="Consolas"/>
                <a:ea typeface="Consolas"/>
              </a:rPr>
              <a:t>Q(s,a)  ←  Q(s,a) + α [ r + γ · Q(s',a') + Φ(s,s') − Q(s,a) 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5"/>
          <p:cNvSpPr/>
          <p:nvPr/>
        </p:nvSpPr>
        <p:spPr>
          <a:xfrm>
            <a:off x="320040" y="1481400"/>
            <a:ext cx="5074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640a"/>
                </a:solidFill>
                <a:latin typeface="Calibri"/>
                <a:ea typeface="Calibri"/>
              </a:rPr>
              <a:t>Key difference: uses Q(s',a') — the ACTUAL next action chosen by policy, NOT the maximum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6"/>
          <p:cNvSpPr/>
          <p:nvPr/>
        </p:nvSpPr>
        <p:spPr>
          <a:xfrm>
            <a:off x="5669280" y="658440"/>
            <a:ext cx="3291480" cy="1416960"/>
          </a:xfrm>
          <a:prstGeom prst="rect">
            <a:avLst/>
          </a:prstGeom>
          <a:solidFill>
            <a:srgbClr val="fff5ee"/>
          </a:solidFill>
          <a:ln w="12700">
            <a:solidFill>
              <a:srgbClr val="e8640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7"/>
          <p:cNvSpPr/>
          <p:nvPr/>
        </p:nvSpPr>
        <p:spPr>
          <a:xfrm>
            <a:off x="5779080" y="694800"/>
            <a:ext cx="3090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640a"/>
                </a:solidFill>
                <a:latin typeface="Calibri"/>
                <a:ea typeface="Calibri"/>
              </a:rPr>
              <a:t>Best Hyperparams (Grid CV)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8"/>
          <p:cNvSpPr/>
          <p:nvPr/>
        </p:nvSpPr>
        <p:spPr>
          <a:xfrm>
            <a:off x="5687640" y="1024200"/>
            <a:ext cx="3254760" cy="237240"/>
          </a:xfrm>
          <a:prstGeom prst="rect">
            <a:avLst/>
          </a:prstGeom>
          <a:solidFill>
            <a:srgbClr val="fff5ee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9"/>
          <p:cNvSpPr/>
          <p:nvPr/>
        </p:nvSpPr>
        <p:spPr>
          <a:xfrm>
            <a:off x="5724000" y="103320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α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10"/>
          <p:cNvSpPr/>
          <p:nvPr/>
        </p:nvSpPr>
        <p:spPr>
          <a:xfrm>
            <a:off x="7644240" y="103320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640a"/>
                </a:solidFill>
                <a:latin typeface="Calibri"/>
                <a:ea typeface="Calibri"/>
              </a:rPr>
              <a:t>0.1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11"/>
          <p:cNvSpPr/>
          <p:nvPr/>
        </p:nvSpPr>
        <p:spPr>
          <a:xfrm>
            <a:off x="5687640" y="1271160"/>
            <a:ext cx="3254760" cy="23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12"/>
          <p:cNvSpPr/>
          <p:nvPr/>
        </p:nvSpPr>
        <p:spPr>
          <a:xfrm>
            <a:off x="5724000" y="128016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γ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13"/>
          <p:cNvSpPr/>
          <p:nvPr/>
        </p:nvSpPr>
        <p:spPr>
          <a:xfrm>
            <a:off x="7644240" y="128016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640a"/>
                </a:solidFill>
                <a:latin typeface="Calibri"/>
                <a:ea typeface="Calibri"/>
              </a:rPr>
              <a:t>0.8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14"/>
          <p:cNvSpPr/>
          <p:nvPr/>
        </p:nvSpPr>
        <p:spPr>
          <a:xfrm>
            <a:off x="5687640" y="1517760"/>
            <a:ext cx="3254760" cy="237240"/>
          </a:xfrm>
          <a:prstGeom prst="rect">
            <a:avLst/>
          </a:prstGeom>
          <a:solidFill>
            <a:srgbClr val="fff5ee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15"/>
          <p:cNvSpPr/>
          <p:nvPr/>
        </p:nvSpPr>
        <p:spPr>
          <a:xfrm>
            <a:off x="5724000" y="152712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ε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16"/>
          <p:cNvSpPr/>
          <p:nvPr/>
        </p:nvSpPr>
        <p:spPr>
          <a:xfrm>
            <a:off x="7644240" y="152712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640a"/>
                </a:solidFill>
                <a:latin typeface="Calibri"/>
                <a:ea typeface="Calibri"/>
              </a:rPr>
              <a:t>0.05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17"/>
          <p:cNvSpPr/>
          <p:nvPr/>
        </p:nvSpPr>
        <p:spPr>
          <a:xfrm>
            <a:off x="5687640" y="1764720"/>
            <a:ext cx="3254760" cy="23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18"/>
          <p:cNvSpPr/>
          <p:nvPr/>
        </p:nvSpPr>
        <p:spPr>
          <a:xfrm>
            <a:off x="5724000" y="177408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CV mean error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19"/>
          <p:cNvSpPr/>
          <p:nvPr/>
        </p:nvSpPr>
        <p:spPr>
          <a:xfrm>
            <a:off x="7644240" y="177408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640a"/>
                </a:solidFill>
                <a:latin typeface="Calibri"/>
                <a:ea typeface="Calibri"/>
              </a:rPr>
              <a:t>77.7° (w/ shaping)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20"/>
          <p:cNvSpPr/>
          <p:nvPr/>
        </p:nvSpPr>
        <p:spPr>
          <a:xfrm>
            <a:off x="182880" y="2176200"/>
            <a:ext cx="8777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a2342"/>
                </a:solidFill>
                <a:latin typeface="Calibri"/>
                <a:ea typeface="Calibri"/>
              </a:rPr>
              <a:t>How it Works — On-Policy Difference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21"/>
          <p:cNvSpPr/>
          <p:nvPr/>
        </p:nvSpPr>
        <p:spPr>
          <a:xfrm>
            <a:off x="182880" y="2578680"/>
            <a:ext cx="411120" cy="347040"/>
          </a:xfrm>
          <a:prstGeom prst="roundRect">
            <a:avLst>
              <a:gd name="adj" fmla="val 13158"/>
            </a:avLst>
          </a:prstGeom>
          <a:solidFill>
            <a:srgbClr val="e8640a"/>
          </a:solidFill>
          <a:ln w="127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22"/>
          <p:cNvSpPr/>
          <p:nvPr/>
        </p:nvSpPr>
        <p:spPr>
          <a:xfrm>
            <a:off x="182880" y="257868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23"/>
          <p:cNvSpPr/>
          <p:nvPr/>
        </p:nvSpPr>
        <p:spPr>
          <a:xfrm>
            <a:off x="658440" y="2597040"/>
            <a:ext cx="8302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640a"/>
                </a:solidFill>
                <a:latin typeface="Calibri"/>
                <a:ea typeface="Calibri"/>
              </a:rPr>
              <a:t>State: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Current emotional state s (anger at start)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24"/>
          <p:cNvSpPr/>
          <p:nvPr/>
        </p:nvSpPr>
        <p:spPr>
          <a:xfrm>
            <a:off x="182880" y="3044880"/>
            <a:ext cx="411120" cy="347040"/>
          </a:xfrm>
          <a:prstGeom prst="roundRect">
            <a:avLst>
              <a:gd name="adj" fmla="val 13158"/>
            </a:avLst>
          </a:prstGeom>
          <a:solidFill>
            <a:srgbClr val="e8640a"/>
          </a:solidFill>
          <a:ln w="127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25"/>
          <p:cNvSpPr/>
          <p:nvPr/>
        </p:nvSpPr>
        <p:spPr>
          <a:xfrm>
            <a:off x="182880" y="304488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26"/>
          <p:cNvSpPr/>
          <p:nvPr/>
        </p:nvSpPr>
        <p:spPr>
          <a:xfrm>
            <a:off x="658440" y="3063240"/>
            <a:ext cx="8302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640a"/>
                </a:solidFill>
                <a:latin typeface="Calibri"/>
                <a:ea typeface="Calibri"/>
              </a:rPr>
              <a:t>Action: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Choose action a using ε-greedy policy on Q-table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27"/>
          <p:cNvSpPr/>
          <p:nvPr/>
        </p:nvSpPr>
        <p:spPr>
          <a:xfrm>
            <a:off x="182880" y="3511440"/>
            <a:ext cx="411120" cy="347040"/>
          </a:xfrm>
          <a:prstGeom prst="roundRect">
            <a:avLst>
              <a:gd name="adj" fmla="val 13158"/>
            </a:avLst>
          </a:prstGeom>
          <a:solidFill>
            <a:srgbClr val="e8640a"/>
          </a:solidFill>
          <a:ln w="127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28"/>
          <p:cNvSpPr/>
          <p:nvPr/>
        </p:nvSpPr>
        <p:spPr>
          <a:xfrm>
            <a:off x="182880" y="351144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29"/>
          <p:cNvSpPr/>
          <p:nvPr/>
        </p:nvSpPr>
        <p:spPr>
          <a:xfrm>
            <a:off x="658440" y="3529440"/>
            <a:ext cx="8302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640a"/>
                </a:solidFill>
                <a:latin typeface="Calibri"/>
                <a:ea typeface="Calibri"/>
              </a:rPr>
              <a:t>Reward: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Observe reward r after presenting music clip. Apply shaping Φ if s=s'.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30"/>
          <p:cNvSpPr/>
          <p:nvPr/>
        </p:nvSpPr>
        <p:spPr>
          <a:xfrm>
            <a:off x="182880" y="3977640"/>
            <a:ext cx="411120" cy="347040"/>
          </a:xfrm>
          <a:prstGeom prst="roundRect">
            <a:avLst>
              <a:gd name="adj" fmla="val 13158"/>
            </a:avLst>
          </a:prstGeom>
          <a:solidFill>
            <a:srgbClr val="e8640a"/>
          </a:solidFill>
          <a:ln w="127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31"/>
          <p:cNvSpPr/>
          <p:nvPr/>
        </p:nvSpPr>
        <p:spPr>
          <a:xfrm>
            <a:off x="182880" y="397764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S'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32"/>
          <p:cNvSpPr/>
          <p:nvPr/>
        </p:nvSpPr>
        <p:spPr>
          <a:xfrm>
            <a:off x="658440" y="3996000"/>
            <a:ext cx="8302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640a"/>
                </a:solidFill>
                <a:latin typeface="Calibri"/>
                <a:ea typeface="Calibri"/>
              </a:rPr>
              <a:t>Next State: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Observe new emotional state s' from EEG response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33"/>
          <p:cNvSpPr/>
          <p:nvPr/>
        </p:nvSpPr>
        <p:spPr>
          <a:xfrm>
            <a:off x="182880" y="4443840"/>
            <a:ext cx="411120" cy="347040"/>
          </a:xfrm>
          <a:prstGeom prst="roundRect">
            <a:avLst>
              <a:gd name="adj" fmla="val 13158"/>
            </a:avLst>
          </a:prstGeom>
          <a:solidFill>
            <a:srgbClr val="e8640a"/>
          </a:solidFill>
          <a:ln w="127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34"/>
          <p:cNvSpPr/>
          <p:nvPr/>
        </p:nvSpPr>
        <p:spPr>
          <a:xfrm>
            <a:off x="182880" y="444384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A'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35"/>
          <p:cNvSpPr/>
          <p:nvPr/>
        </p:nvSpPr>
        <p:spPr>
          <a:xfrm>
            <a:off x="658440" y="4462200"/>
            <a:ext cx="8302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640a"/>
                </a:solidFill>
                <a:latin typeface="Calibri"/>
                <a:ea typeface="Calibri"/>
              </a:rPr>
              <a:t>Next Action: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Choose next action a' using SAME ε-greedy policy (on-policy).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Update Q(s,a) using this actual a', not max.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36"/>
          <p:cNvSpPr/>
          <p:nvPr/>
        </p:nvSpPr>
        <p:spPr>
          <a:xfrm>
            <a:off x="6858000" y="2176200"/>
            <a:ext cx="2286000" cy="2853000"/>
          </a:xfrm>
          <a:prstGeom prst="rect">
            <a:avLst/>
          </a:prstGeom>
          <a:solidFill>
            <a:srgbClr val="fff0e6"/>
          </a:solidFill>
          <a:ln w="12700">
            <a:solidFill>
              <a:srgbClr val="c0392b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Why SARSA Underperforms Here: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Being conservative (on-policy) backfires in the sparse DEAP emotion space. With ε=0.05, the agent mostly exploits — but early Q-values are nearly all zero, so the 'greedy' choice is random. The agent locks into suboptimal emotion loops (e.g., anger→fear→fear→fear) and the conservative Q(s',a') update prevents it from breaking free. Result: 9/32 convergence.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37"/>
          <p:cNvSpPr/>
          <p:nvPr/>
        </p:nvSpPr>
        <p:spPr>
          <a:xfrm>
            <a:off x="320040" y="5065920"/>
            <a:ext cx="85035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0"/>
          <p:cNvSpPr/>
          <p:nvPr/>
        </p:nvSpPr>
        <p:spPr>
          <a:xfrm>
            <a:off x="0" y="0"/>
            <a:ext cx="9143640" cy="5666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1"/>
          <p:cNvSpPr/>
          <p:nvPr/>
        </p:nvSpPr>
        <p:spPr>
          <a:xfrm>
            <a:off x="274320" y="5472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Algorithm 3: Double Q-Learning — Reducing Maximization Bias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2"/>
          <p:cNvSpPr/>
          <p:nvPr/>
        </p:nvSpPr>
        <p:spPr>
          <a:xfrm>
            <a:off x="137520" y="685800"/>
            <a:ext cx="8777880" cy="1572480"/>
          </a:xfrm>
          <a:prstGeom prst="rect">
            <a:avLst/>
          </a:prstGeom>
          <a:solidFill>
            <a:srgbClr val="f8f0ff"/>
          </a:solidFill>
          <a:ln w="12700">
            <a:solidFill>
              <a:srgbClr val="6a1b9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3"/>
          <p:cNvSpPr/>
          <p:nvPr/>
        </p:nvSpPr>
        <p:spPr>
          <a:xfrm>
            <a:off x="320040" y="694800"/>
            <a:ext cx="8503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a1b9a"/>
                </a:solidFill>
                <a:latin typeface="Calibri"/>
                <a:ea typeface="Calibri"/>
              </a:rPr>
              <a:t>Update Rule — Two Independent Q-Tables (Q^A and Q^B)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4"/>
          <p:cNvSpPr/>
          <p:nvPr/>
        </p:nvSpPr>
        <p:spPr>
          <a:xfrm>
            <a:off x="320040" y="1033200"/>
            <a:ext cx="8503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2342"/>
                </a:solidFill>
                <a:latin typeface="Consolas"/>
                <a:ea typeface="Consolas"/>
              </a:rPr>
              <a:t>Update Q^A: Q^A(s,a) ← Q^A(s,a) + α [ r + γ · Q^B(s', argmax_a Q^A(s',a)) + Φ(s,s') − Q^A(s,a) ]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5"/>
          <p:cNvSpPr/>
          <p:nvPr/>
        </p:nvSpPr>
        <p:spPr>
          <a:xfrm>
            <a:off x="320040" y="1444680"/>
            <a:ext cx="85035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6"/>
          <p:cNvSpPr/>
          <p:nvPr/>
        </p:nvSpPr>
        <p:spPr>
          <a:xfrm>
            <a:off x="182880" y="2331720"/>
            <a:ext cx="8777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a2342"/>
                </a:solidFill>
                <a:latin typeface="Calibri"/>
                <a:ea typeface="Calibri"/>
              </a:rPr>
              <a:t>Why Double Q-Learning? The Overestimation Problem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7"/>
          <p:cNvSpPr/>
          <p:nvPr/>
        </p:nvSpPr>
        <p:spPr>
          <a:xfrm>
            <a:off x="182880" y="2697480"/>
            <a:ext cx="2815920" cy="2331720"/>
          </a:xfrm>
          <a:prstGeom prst="rect">
            <a:avLst/>
          </a:prstGeom>
          <a:solidFill>
            <a:srgbClr val="fff5f5"/>
          </a:solidFill>
          <a:ln w="12700">
            <a:solidFill>
              <a:srgbClr val="c0392b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8"/>
          <p:cNvSpPr/>
          <p:nvPr/>
        </p:nvSpPr>
        <p:spPr>
          <a:xfrm>
            <a:off x="182880" y="2697480"/>
            <a:ext cx="2880000" cy="347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9"/>
          <p:cNvSpPr/>
          <p:nvPr/>
        </p:nvSpPr>
        <p:spPr>
          <a:xfrm>
            <a:off x="228600" y="2715840"/>
            <a:ext cx="2788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Standard Q-Learning Problem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10"/>
          <p:cNvSpPr/>
          <p:nvPr/>
        </p:nvSpPr>
        <p:spPr>
          <a:xfrm>
            <a:off x="255960" y="3072240"/>
            <a:ext cx="2742840" cy="20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Uses max_a' Q(s',a') to update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The MAX operation overestimates value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In stochastic environments, max of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noise &gt; true maximum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Result: Agent thinks certain emotion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transitions are better than they are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Leads to overconfident, biased playlists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11"/>
          <p:cNvSpPr/>
          <p:nvPr/>
        </p:nvSpPr>
        <p:spPr>
          <a:xfrm>
            <a:off x="3173040" y="2697480"/>
            <a:ext cx="2770560" cy="2331720"/>
          </a:xfrm>
          <a:prstGeom prst="rect">
            <a:avLst/>
          </a:prstGeom>
          <a:solidFill>
            <a:srgbClr val="f0fff4"/>
          </a:solidFill>
          <a:ln w="12700">
            <a:solidFill>
              <a:srgbClr val="1a7a4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12"/>
          <p:cNvSpPr/>
          <p:nvPr/>
        </p:nvSpPr>
        <p:spPr>
          <a:xfrm>
            <a:off x="3173040" y="2697480"/>
            <a:ext cx="2880000" cy="3470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13"/>
          <p:cNvSpPr/>
          <p:nvPr/>
        </p:nvSpPr>
        <p:spPr>
          <a:xfrm>
            <a:off x="3218760" y="2715840"/>
            <a:ext cx="2788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Double Q-Learning Solution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14"/>
          <p:cNvSpPr/>
          <p:nvPr/>
        </p:nvSpPr>
        <p:spPr>
          <a:xfrm>
            <a:off x="3246120" y="3072240"/>
            <a:ext cx="2742840" cy="20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Q^A selects the BEST ACTION: a* = argmax Q^A(s',a)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Q^B EVALUATES that action: Q^B(s', a*)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Decoupling selection from evaluation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eliminates overestimation bias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Both tables update alternately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More stable, conservative estimates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Result: 29/32 convergence, mean 24.1°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15"/>
          <p:cNvSpPr/>
          <p:nvPr/>
        </p:nvSpPr>
        <p:spPr>
          <a:xfrm>
            <a:off x="6163200" y="2697480"/>
            <a:ext cx="2815920" cy="2331720"/>
          </a:xfrm>
          <a:prstGeom prst="rect">
            <a:avLst/>
          </a:prstGeom>
          <a:solidFill>
            <a:srgbClr val="f8f0ff"/>
          </a:solidFill>
          <a:ln w="12700">
            <a:solidFill>
              <a:srgbClr val="6a1b9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16"/>
          <p:cNvSpPr/>
          <p:nvPr/>
        </p:nvSpPr>
        <p:spPr>
          <a:xfrm>
            <a:off x="6163200" y="2697480"/>
            <a:ext cx="2880000" cy="3470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17"/>
          <p:cNvSpPr/>
          <p:nvPr/>
        </p:nvSpPr>
        <p:spPr>
          <a:xfrm>
            <a:off x="6208920" y="2715840"/>
            <a:ext cx="2788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Best Hyperparams (Grid CV)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18"/>
          <p:cNvSpPr/>
          <p:nvPr/>
        </p:nvSpPr>
        <p:spPr>
          <a:xfrm>
            <a:off x="6236280" y="3072240"/>
            <a:ext cx="2742840" cy="20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α = 0.05  (small — stable updates)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γ = 0.8  (long-term focused)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ε = 0.2  (explore well)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CV mean error: 7.3° with shaping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(Best single-run CV across all 3 algos)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Robust: less variance than std QL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82"/>
          <p:cNvSpPr/>
          <p:nvPr/>
        </p:nvSpPr>
        <p:spPr>
          <a:xfrm>
            <a:off x="320040" y="1371600"/>
            <a:ext cx="8503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2342"/>
                </a:solidFill>
                <a:latin typeface="Consolas"/>
                <a:ea typeface="Consolas"/>
              </a:rPr>
              <a:t>Update Q^B: Q^B(s,a) ← Q^B(s,a) + α [ r + γ · Q^A(s', argmax_a Q^B(s',a)) + Φ(s,s') − Q^B(s,a) ]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83"/>
          <p:cNvSpPr/>
          <p:nvPr/>
        </p:nvSpPr>
        <p:spPr>
          <a:xfrm>
            <a:off x="320040" y="1033200"/>
            <a:ext cx="8503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320040" y="1912680"/>
            <a:ext cx="6208200" cy="24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Action selection: ε-greedy on </a:t>
            </a:r>
            <a:r>
              <a:rPr b="0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Q^A + Q^B (combined)  |  </a:t>
            </a:r>
            <a:r>
              <a:rPr b="0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Update alternates randomly </a:t>
            </a:r>
            <a:r>
              <a:rPr b="0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between Q^A and Q^B each </a:t>
            </a:r>
            <a:r>
              <a:rPr b="0" lang="en-US" sz="1000" spc="-1" strike="noStrike">
                <a:solidFill>
                  <a:srgbClr val="4a5568"/>
                </a:solidFill>
                <a:latin typeface="Calibri"/>
                <a:ea typeface="Calibri"/>
              </a:rPr>
              <a:t>step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0"/>
          <p:cNvSpPr/>
          <p:nvPr/>
        </p:nvSpPr>
        <p:spPr>
          <a:xfrm>
            <a:off x="0" y="0"/>
            <a:ext cx="9143640" cy="566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1"/>
          <p:cNvSpPr/>
          <p:nvPr/>
        </p:nvSpPr>
        <p:spPr>
          <a:xfrm>
            <a:off x="274320" y="5472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Our Innovations — Double SARSA &amp; Algorithm Family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2"/>
          <p:cNvSpPr/>
          <p:nvPr/>
        </p:nvSpPr>
        <p:spPr>
          <a:xfrm>
            <a:off x="182880" y="658440"/>
            <a:ext cx="8777880" cy="1535760"/>
          </a:xfrm>
          <a:prstGeom prst="rect">
            <a:avLst/>
          </a:prstGeom>
          <a:solidFill>
            <a:srgbClr val="f0f8ff"/>
          </a:solidFill>
          <a:ln w="12700">
            <a:solidFill>
              <a:srgbClr val="00796b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3"/>
          <p:cNvSpPr/>
          <p:nvPr/>
        </p:nvSpPr>
        <p:spPr>
          <a:xfrm>
            <a:off x="320040" y="694800"/>
            <a:ext cx="8503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796b"/>
                </a:solidFill>
                <a:latin typeface="Calibri"/>
                <a:ea typeface="Calibri"/>
              </a:rPr>
              <a:t>Novel Contribution: Double SARSA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4"/>
          <p:cNvSpPr/>
          <p:nvPr/>
        </p:nvSpPr>
        <p:spPr>
          <a:xfrm>
            <a:off x="320040" y="1024200"/>
            <a:ext cx="8503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a2342"/>
                </a:solidFill>
                <a:latin typeface="Consolas"/>
                <a:ea typeface="Consolas"/>
              </a:rPr>
              <a:t>Q^A(s,a)  ←  Q^A(s,a) + α [ r + γ · Q^B(s', a') + Φ(s,s') − Q^A(s,a) ]     where a' is the ACTUAL next action (on-policy)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5"/>
          <p:cNvSpPr/>
          <p:nvPr/>
        </p:nvSpPr>
        <p:spPr>
          <a:xfrm>
            <a:off x="320040" y="1435680"/>
            <a:ext cx="8503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Combines on-policy conservatism of SARSA + dual-table bias reduction of Double Q-Learning. Uses actual next action a' (not max) for evaluation via Q^B. This is our novel algorithmic extension beyond the original paper.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6"/>
          <p:cNvSpPr/>
          <p:nvPr/>
        </p:nvSpPr>
        <p:spPr>
          <a:xfrm>
            <a:off x="182880" y="2304360"/>
            <a:ext cx="8777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a2342"/>
                </a:solidFill>
                <a:latin typeface="Calibri"/>
                <a:ea typeface="Calibri"/>
              </a:rPr>
              <a:t>Complete Algorithm Family — What We Implemented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7"/>
          <p:cNvSpPr/>
          <p:nvPr/>
        </p:nvSpPr>
        <p:spPr>
          <a:xfrm>
            <a:off x="201240" y="2670120"/>
            <a:ext cx="1919880" cy="328680"/>
          </a:xfrm>
          <a:prstGeom prst="rect">
            <a:avLst/>
          </a:prstGeom>
          <a:solidFill>
            <a:srgbClr val="0a2342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8"/>
          <p:cNvSpPr/>
          <p:nvPr/>
        </p:nvSpPr>
        <p:spPr>
          <a:xfrm>
            <a:off x="228600" y="2670120"/>
            <a:ext cx="1865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Algorithm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9"/>
          <p:cNvSpPr/>
          <p:nvPr/>
        </p:nvSpPr>
        <p:spPr>
          <a:xfrm>
            <a:off x="2121480" y="2670120"/>
            <a:ext cx="1279800" cy="328680"/>
          </a:xfrm>
          <a:prstGeom prst="rect">
            <a:avLst/>
          </a:prstGeom>
          <a:solidFill>
            <a:srgbClr val="0a2342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10"/>
          <p:cNvSpPr/>
          <p:nvPr/>
        </p:nvSpPr>
        <p:spPr>
          <a:xfrm>
            <a:off x="2148840" y="2670120"/>
            <a:ext cx="1225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Type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11"/>
          <p:cNvSpPr/>
          <p:nvPr/>
        </p:nvSpPr>
        <p:spPr>
          <a:xfrm>
            <a:off x="3401640" y="2670120"/>
            <a:ext cx="1874160" cy="328680"/>
          </a:xfrm>
          <a:prstGeom prst="rect">
            <a:avLst/>
          </a:prstGeom>
          <a:solidFill>
            <a:srgbClr val="0a2342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12"/>
          <p:cNvSpPr/>
          <p:nvPr/>
        </p:nvSpPr>
        <p:spPr>
          <a:xfrm>
            <a:off x="3429000" y="2670120"/>
            <a:ext cx="1819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Update Uses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13"/>
          <p:cNvSpPr/>
          <p:nvPr/>
        </p:nvSpPr>
        <p:spPr>
          <a:xfrm>
            <a:off x="5276160" y="2670120"/>
            <a:ext cx="2102760" cy="328680"/>
          </a:xfrm>
          <a:prstGeom prst="rect">
            <a:avLst/>
          </a:prstGeom>
          <a:solidFill>
            <a:srgbClr val="0a2342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14"/>
          <p:cNvSpPr/>
          <p:nvPr/>
        </p:nvSpPr>
        <p:spPr>
          <a:xfrm>
            <a:off x="5303520" y="2670120"/>
            <a:ext cx="2048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Key Innovation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15"/>
          <p:cNvSpPr/>
          <p:nvPr/>
        </p:nvSpPr>
        <p:spPr>
          <a:xfrm>
            <a:off x="7379280" y="2670120"/>
            <a:ext cx="1691280" cy="328680"/>
          </a:xfrm>
          <a:prstGeom prst="rect">
            <a:avLst/>
          </a:prstGeom>
          <a:solidFill>
            <a:srgbClr val="0a2342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16"/>
          <p:cNvSpPr/>
          <p:nvPr/>
        </p:nvSpPr>
        <p:spPr>
          <a:xfrm>
            <a:off x="7406640" y="2670120"/>
            <a:ext cx="1636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Our Extension?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17"/>
          <p:cNvSpPr/>
          <p:nvPr/>
        </p:nvSpPr>
        <p:spPr>
          <a:xfrm>
            <a:off x="201240" y="3017520"/>
            <a:ext cx="19198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18"/>
          <p:cNvSpPr/>
          <p:nvPr/>
        </p:nvSpPr>
        <p:spPr>
          <a:xfrm>
            <a:off x="228600" y="3017520"/>
            <a:ext cx="1865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Q-Learning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19"/>
          <p:cNvSpPr/>
          <p:nvPr/>
        </p:nvSpPr>
        <p:spPr>
          <a:xfrm>
            <a:off x="2121480" y="3017520"/>
            <a:ext cx="127980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20"/>
          <p:cNvSpPr/>
          <p:nvPr/>
        </p:nvSpPr>
        <p:spPr>
          <a:xfrm>
            <a:off x="2148840" y="3017520"/>
            <a:ext cx="1225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Off-policy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21"/>
          <p:cNvSpPr/>
          <p:nvPr/>
        </p:nvSpPr>
        <p:spPr>
          <a:xfrm>
            <a:off x="3401640" y="3017520"/>
            <a:ext cx="187416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22"/>
          <p:cNvSpPr/>
          <p:nvPr/>
        </p:nvSpPr>
        <p:spPr>
          <a:xfrm>
            <a:off x="3429000" y="3017520"/>
            <a:ext cx="1819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max_a' Q(s',a')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23"/>
          <p:cNvSpPr/>
          <p:nvPr/>
        </p:nvSpPr>
        <p:spPr>
          <a:xfrm>
            <a:off x="5276160" y="3017520"/>
            <a:ext cx="210276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24"/>
          <p:cNvSpPr/>
          <p:nvPr/>
        </p:nvSpPr>
        <p:spPr>
          <a:xfrm>
            <a:off x="5303520" y="3017520"/>
            <a:ext cx="2048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Baseline RL method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25"/>
          <p:cNvSpPr/>
          <p:nvPr/>
        </p:nvSpPr>
        <p:spPr>
          <a:xfrm>
            <a:off x="7379280" y="3017520"/>
            <a:ext cx="16912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26"/>
          <p:cNvSpPr/>
          <p:nvPr/>
        </p:nvSpPr>
        <p:spPr>
          <a:xfrm>
            <a:off x="7406640" y="3017520"/>
            <a:ext cx="1636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Replicated + grid search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27"/>
          <p:cNvSpPr/>
          <p:nvPr/>
        </p:nvSpPr>
        <p:spPr>
          <a:xfrm>
            <a:off x="201240" y="3364920"/>
            <a:ext cx="1919880" cy="328680"/>
          </a:xfrm>
          <a:prstGeom prst="rect">
            <a:avLst/>
          </a:prstGeom>
          <a:solidFill>
            <a:srgbClr val="f5fafc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28"/>
          <p:cNvSpPr/>
          <p:nvPr/>
        </p:nvSpPr>
        <p:spPr>
          <a:xfrm>
            <a:off x="228600" y="3364920"/>
            <a:ext cx="1865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SARSA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29"/>
          <p:cNvSpPr/>
          <p:nvPr/>
        </p:nvSpPr>
        <p:spPr>
          <a:xfrm>
            <a:off x="2121480" y="3364920"/>
            <a:ext cx="1279800" cy="328680"/>
          </a:xfrm>
          <a:prstGeom prst="rect">
            <a:avLst/>
          </a:prstGeom>
          <a:solidFill>
            <a:srgbClr val="f5fafc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30"/>
          <p:cNvSpPr/>
          <p:nvPr/>
        </p:nvSpPr>
        <p:spPr>
          <a:xfrm>
            <a:off x="2148840" y="3364920"/>
            <a:ext cx="1225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On-policy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31"/>
          <p:cNvSpPr/>
          <p:nvPr/>
        </p:nvSpPr>
        <p:spPr>
          <a:xfrm>
            <a:off x="3401640" y="3364920"/>
            <a:ext cx="1874160" cy="328680"/>
          </a:xfrm>
          <a:prstGeom prst="rect">
            <a:avLst/>
          </a:prstGeom>
          <a:solidFill>
            <a:srgbClr val="f5fafc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32"/>
          <p:cNvSpPr/>
          <p:nvPr/>
        </p:nvSpPr>
        <p:spPr>
          <a:xfrm>
            <a:off x="3429000" y="3364920"/>
            <a:ext cx="1819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Q(s',a') actual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33"/>
          <p:cNvSpPr/>
          <p:nvPr/>
        </p:nvSpPr>
        <p:spPr>
          <a:xfrm>
            <a:off x="5276160" y="3364920"/>
            <a:ext cx="2102760" cy="328680"/>
          </a:xfrm>
          <a:prstGeom prst="rect">
            <a:avLst/>
          </a:prstGeom>
          <a:solidFill>
            <a:srgbClr val="f5fafc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34"/>
          <p:cNvSpPr/>
          <p:nvPr/>
        </p:nvSpPr>
        <p:spPr>
          <a:xfrm>
            <a:off x="5303520" y="3364920"/>
            <a:ext cx="2048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Conservative exploration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35"/>
          <p:cNvSpPr/>
          <p:nvPr/>
        </p:nvSpPr>
        <p:spPr>
          <a:xfrm>
            <a:off x="7379280" y="3364920"/>
            <a:ext cx="1691280" cy="328680"/>
          </a:xfrm>
          <a:prstGeom prst="rect">
            <a:avLst/>
          </a:prstGeom>
          <a:solidFill>
            <a:srgbClr val="f5fafc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36"/>
          <p:cNvSpPr/>
          <p:nvPr/>
        </p:nvSpPr>
        <p:spPr>
          <a:xfrm>
            <a:off x="7406640" y="3364920"/>
            <a:ext cx="1636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Extended to emotion space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37"/>
          <p:cNvSpPr/>
          <p:nvPr/>
        </p:nvSpPr>
        <p:spPr>
          <a:xfrm>
            <a:off x="201240" y="3712320"/>
            <a:ext cx="19198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38"/>
          <p:cNvSpPr/>
          <p:nvPr/>
        </p:nvSpPr>
        <p:spPr>
          <a:xfrm>
            <a:off x="228600" y="3712320"/>
            <a:ext cx="1865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Double Q-Learning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39"/>
          <p:cNvSpPr/>
          <p:nvPr/>
        </p:nvSpPr>
        <p:spPr>
          <a:xfrm>
            <a:off x="2121480" y="3712320"/>
            <a:ext cx="127980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40"/>
          <p:cNvSpPr/>
          <p:nvPr/>
        </p:nvSpPr>
        <p:spPr>
          <a:xfrm>
            <a:off x="2148840" y="3712320"/>
            <a:ext cx="1225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Off-policy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41"/>
          <p:cNvSpPr/>
          <p:nvPr/>
        </p:nvSpPr>
        <p:spPr>
          <a:xfrm>
            <a:off x="3401640" y="3712320"/>
            <a:ext cx="187416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42"/>
          <p:cNvSpPr/>
          <p:nvPr/>
        </p:nvSpPr>
        <p:spPr>
          <a:xfrm>
            <a:off x="3429000" y="3712320"/>
            <a:ext cx="1819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Q^B(s', argmax Q^A)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43"/>
          <p:cNvSpPr/>
          <p:nvPr/>
        </p:nvSpPr>
        <p:spPr>
          <a:xfrm>
            <a:off x="5276160" y="3712320"/>
            <a:ext cx="210276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44"/>
          <p:cNvSpPr/>
          <p:nvPr/>
        </p:nvSpPr>
        <p:spPr>
          <a:xfrm>
            <a:off x="5303520" y="3712320"/>
            <a:ext cx="2048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Decoupled selection/eval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45"/>
          <p:cNvSpPr/>
          <p:nvPr/>
        </p:nvSpPr>
        <p:spPr>
          <a:xfrm>
            <a:off x="7379280" y="3712320"/>
            <a:ext cx="16912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46"/>
          <p:cNvSpPr/>
          <p:nvPr/>
        </p:nvSpPr>
        <p:spPr>
          <a:xfrm>
            <a:off x="7406640" y="3712320"/>
            <a:ext cx="1636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96b"/>
                </a:solidFill>
                <a:latin typeface="Calibri"/>
                <a:ea typeface="Calibri"/>
              </a:rPr>
              <a:t>✓ </a:t>
            </a:r>
            <a:r>
              <a:rPr b="1" lang="en-US" sz="1000" spc="-1" strike="noStrike">
                <a:solidFill>
                  <a:srgbClr val="00796b"/>
                </a:solidFill>
                <a:latin typeface="Calibri"/>
                <a:ea typeface="Calibri"/>
              </a:rPr>
              <a:t>Our innovation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47"/>
          <p:cNvSpPr/>
          <p:nvPr/>
        </p:nvSpPr>
        <p:spPr>
          <a:xfrm>
            <a:off x="201240" y="4060080"/>
            <a:ext cx="1919880" cy="328680"/>
          </a:xfrm>
          <a:prstGeom prst="rect">
            <a:avLst/>
          </a:prstGeom>
          <a:solidFill>
            <a:srgbClr val="f5fafc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48"/>
          <p:cNvSpPr/>
          <p:nvPr/>
        </p:nvSpPr>
        <p:spPr>
          <a:xfrm>
            <a:off x="228600" y="4060080"/>
            <a:ext cx="1865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Double SARSA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49"/>
          <p:cNvSpPr/>
          <p:nvPr/>
        </p:nvSpPr>
        <p:spPr>
          <a:xfrm>
            <a:off x="2121480" y="4060080"/>
            <a:ext cx="1279800" cy="328680"/>
          </a:xfrm>
          <a:prstGeom prst="rect">
            <a:avLst/>
          </a:prstGeom>
          <a:solidFill>
            <a:srgbClr val="f5fafc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50"/>
          <p:cNvSpPr/>
          <p:nvPr/>
        </p:nvSpPr>
        <p:spPr>
          <a:xfrm>
            <a:off x="2148840" y="4060080"/>
            <a:ext cx="1225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On-policy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51"/>
          <p:cNvSpPr/>
          <p:nvPr/>
        </p:nvSpPr>
        <p:spPr>
          <a:xfrm>
            <a:off x="3401640" y="4060080"/>
            <a:ext cx="1874160" cy="328680"/>
          </a:xfrm>
          <a:prstGeom prst="rect">
            <a:avLst/>
          </a:prstGeom>
          <a:solidFill>
            <a:srgbClr val="f5fafc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52"/>
          <p:cNvSpPr/>
          <p:nvPr/>
        </p:nvSpPr>
        <p:spPr>
          <a:xfrm>
            <a:off x="3429000" y="4060080"/>
            <a:ext cx="1819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Q^B(s', a') actual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53"/>
          <p:cNvSpPr/>
          <p:nvPr/>
        </p:nvSpPr>
        <p:spPr>
          <a:xfrm>
            <a:off x="5276160" y="4060080"/>
            <a:ext cx="2102760" cy="328680"/>
          </a:xfrm>
          <a:prstGeom prst="rect">
            <a:avLst/>
          </a:prstGeom>
          <a:solidFill>
            <a:srgbClr val="f5fafc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54"/>
          <p:cNvSpPr/>
          <p:nvPr/>
        </p:nvSpPr>
        <p:spPr>
          <a:xfrm>
            <a:off x="5303520" y="4060080"/>
            <a:ext cx="2048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On-policy + dual table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55"/>
          <p:cNvSpPr/>
          <p:nvPr/>
        </p:nvSpPr>
        <p:spPr>
          <a:xfrm>
            <a:off x="7379280" y="4060080"/>
            <a:ext cx="1691280" cy="328680"/>
          </a:xfrm>
          <a:prstGeom prst="rect">
            <a:avLst/>
          </a:prstGeom>
          <a:solidFill>
            <a:srgbClr val="f5fafc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56"/>
          <p:cNvSpPr/>
          <p:nvPr/>
        </p:nvSpPr>
        <p:spPr>
          <a:xfrm>
            <a:off x="7406640" y="4060080"/>
            <a:ext cx="1636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96b"/>
                </a:solidFill>
                <a:latin typeface="Calibri"/>
                <a:ea typeface="Calibri"/>
              </a:rPr>
              <a:t>✓ </a:t>
            </a:r>
            <a:r>
              <a:rPr b="1" lang="en-US" sz="1000" spc="-1" strike="noStrike">
                <a:solidFill>
                  <a:srgbClr val="00796b"/>
                </a:solidFill>
                <a:latin typeface="Calibri"/>
                <a:ea typeface="Calibri"/>
              </a:rPr>
              <a:t>Our innovation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57"/>
          <p:cNvSpPr/>
          <p:nvPr/>
        </p:nvSpPr>
        <p:spPr>
          <a:xfrm>
            <a:off x="201240" y="4407480"/>
            <a:ext cx="19198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58"/>
          <p:cNvSpPr/>
          <p:nvPr/>
        </p:nvSpPr>
        <p:spPr>
          <a:xfrm>
            <a:off x="228600" y="4407480"/>
            <a:ext cx="1865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All 4 + Shaping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59"/>
          <p:cNvSpPr/>
          <p:nvPr/>
        </p:nvSpPr>
        <p:spPr>
          <a:xfrm>
            <a:off x="2121480" y="4407480"/>
            <a:ext cx="127980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60"/>
          <p:cNvSpPr/>
          <p:nvPr/>
        </p:nvSpPr>
        <p:spPr>
          <a:xfrm>
            <a:off x="2148840" y="4407480"/>
            <a:ext cx="1225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Both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61"/>
          <p:cNvSpPr/>
          <p:nvPr/>
        </p:nvSpPr>
        <p:spPr>
          <a:xfrm>
            <a:off x="3401640" y="4407480"/>
            <a:ext cx="187416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62"/>
          <p:cNvSpPr/>
          <p:nvPr/>
        </p:nvSpPr>
        <p:spPr>
          <a:xfrm>
            <a:off x="3429000" y="4407480"/>
            <a:ext cx="1819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With/without Φ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63"/>
          <p:cNvSpPr/>
          <p:nvPr/>
        </p:nvSpPr>
        <p:spPr>
          <a:xfrm>
            <a:off x="5276160" y="4407480"/>
            <a:ext cx="210276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64"/>
          <p:cNvSpPr/>
          <p:nvPr/>
        </p:nvSpPr>
        <p:spPr>
          <a:xfrm>
            <a:off x="5303520" y="4407480"/>
            <a:ext cx="2048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Systematic comparison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65"/>
          <p:cNvSpPr/>
          <p:nvPr/>
        </p:nvSpPr>
        <p:spPr>
          <a:xfrm>
            <a:off x="7379280" y="4407480"/>
            <a:ext cx="16912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66"/>
          <p:cNvSpPr/>
          <p:nvPr/>
        </p:nvSpPr>
        <p:spPr>
          <a:xfrm>
            <a:off x="7406640" y="4407480"/>
            <a:ext cx="1636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96b"/>
                </a:solidFill>
                <a:latin typeface="Calibri"/>
                <a:ea typeface="Calibri"/>
              </a:rPr>
              <a:t>✓ </a:t>
            </a:r>
            <a:r>
              <a:rPr b="1" lang="en-US" sz="1000" spc="-1" strike="noStrike">
                <a:solidFill>
                  <a:srgbClr val="00796b"/>
                </a:solidFill>
                <a:latin typeface="Calibri"/>
                <a:ea typeface="Calibri"/>
              </a:rPr>
              <a:t>Novel analysis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67"/>
          <p:cNvSpPr/>
          <p:nvPr/>
        </p:nvSpPr>
        <p:spPr>
          <a:xfrm>
            <a:off x="183240" y="4800600"/>
            <a:ext cx="8960760" cy="34308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68"/>
          <p:cNvSpPr/>
          <p:nvPr/>
        </p:nvSpPr>
        <p:spPr>
          <a:xfrm>
            <a:off x="228600" y="4800600"/>
            <a:ext cx="85035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All algorithms were tested WITH and WITHOUT reward shaping (Φ) — 12 total experimental conditions. Grid search used 10-fold CV on 500 episodes, final evaluation on 1000 episodes with LOSO.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0"/>
          <p:cNvSpPr/>
          <p:nvPr/>
        </p:nvSpPr>
        <p:spPr>
          <a:xfrm>
            <a:off x="0" y="0"/>
            <a:ext cx="9143640" cy="566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1"/>
          <p:cNvSpPr/>
          <p:nvPr/>
        </p:nvSpPr>
        <p:spPr>
          <a:xfrm>
            <a:off x="274320" y="5472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Q-Learning Results — With &amp; Without Reward Shaping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1" name="Image 0" descr="/mnt/user-data/uploads/ql_angular_error.png"/>
          <p:cNvPicPr/>
          <p:nvPr/>
        </p:nvPicPr>
        <p:blipFill>
          <a:blip r:embed="rId1"/>
          <a:stretch/>
        </p:blipFill>
        <p:spPr>
          <a:xfrm>
            <a:off x="137160" y="640080"/>
            <a:ext cx="4297320" cy="2651400"/>
          </a:xfrm>
          <a:prstGeom prst="rect">
            <a:avLst/>
          </a:prstGeom>
          <a:ln w="0">
            <a:noFill/>
          </a:ln>
        </p:spPr>
      </p:pic>
      <p:pic>
        <p:nvPicPr>
          <p:cNvPr id="302" name="Image 1" descr="/mnt/user-data/uploads/ql_reward_shaping.png"/>
          <p:cNvPicPr/>
          <p:nvPr/>
        </p:nvPicPr>
        <p:blipFill>
          <a:blip r:embed="rId2"/>
          <a:stretch/>
        </p:blipFill>
        <p:spPr>
          <a:xfrm>
            <a:off x="4663440" y="640080"/>
            <a:ext cx="4343040" cy="2651400"/>
          </a:xfrm>
          <a:prstGeom prst="rect">
            <a:avLst/>
          </a:prstGeom>
          <a:ln w="0">
            <a:noFill/>
          </a:ln>
        </p:spPr>
      </p:pic>
      <p:sp>
        <p:nvSpPr>
          <p:cNvPr id="303" name="Text 2"/>
          <p:cNvSpPr/>
          <p:nvPr/>
        </p:nvSpPr>
        <p:spPr>
          <a:xfrm>
            <a:off x="137160" y="3310200"/>
            <a:ext cx="4297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565c0"/>
                </a:solidFill>
                <a:latin typeface="Calibri"/>
                <a:ea typeface="Calibri"/>
              </a:rPr>
              <a:t>Angular error drops from ~112° → ~13° in 6 clips (with shaping)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3"/>
          <p:cNvSpPr/>
          <p:nvPr/>
        </p:nvSpPr>
        <p:spPr>
          <a:xfrm>
            <a:off x="4663440" y="3310200"/>
            <a:ext cx="4343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565c0"/>
                </a:solidFill>
                <a:latin typeface="Calibri"/>
                <a:ea typeface="Calibri"/>
              </a:rPr>
              <a:t>With shaping crosses 30° threshold at clip 3 vs clip 5 without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4"/>
          <p:cNvSpPr/>
          <p:nvPr/>
        </p:nvSpPr>
        <p:spPr>
          <a:xfrm>
            <a:off x="164520" y="3630240"/>
            <a:ext cx="2880000" cy="658080"/>
          </a:xfrm>
          <a:prstGeom prst="rect">
            <a:avLst/>
          </a:prstGeom>
          <a:solidFill>
            <a:srgbClr val="eef4ff"/>
          </a:solidFill>
          <a:ln w="12700">
            <a:solidFill>
              <a:srgbClr val="1565c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5"/>
          <p:cNvSpPr/>
          <p:nvPr/>
        </p:nvSpPr>
        <p:spPr>
          <a:xfrm>
            <a:off x="201240" y="3657600"/>
            <a:ext cx="1005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7a4a"/>
                </a:solidFill>
                <a:latin typeface="Calibri"/>
                <a:ea typeface="Calibri"/>
              </a:rPr>
              <a:t>30/32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6"/>
          <p:cNvSpPr/>
          <p:nvPr/>
        </p:nvSpPr>
        <p:spPr>
          <a:xfrm>
            <a:off x="1234440" y="3657600"/>
            <a:ext cx="1782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Exact 'Happy'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w/ shaping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7"/>
          <p:cNvSpPr/>
          <p:nvPr/>
        </p:nvSpPr>
        <p:spPr>
          <a:xfrm>
            <a:off x="3154680" y="3630240"/>
            <a:ext cx="2880000" cy="658080"/>
          </a:xfrm>
          <a:prstGeom prst="rect">
            <a:avLst/>
          </a:prstGeom>
          <a:solidFill>
            <a:srgbClr val="eef4ff"/>
          </a:solidFill>
          <a:ln w="12700">
            <a:solidFill>
              <a:srgbClr val="1565c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8"/>
          <p:cNvSpPr/>
          <p:nvPr/>
        </p:nvSpPr>
        <p:spPr>
          <a:xfrm>
            <a:off x="3191400" y="3657600"/>
            <a:ext cx="1005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7a4a"/>
                </a:solidFill>
                <a:latin typeface="Calibri"/>
                <a:ea typeface="Calibri"/>
              </a:rPr>
              <a:t>31/32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9"/>
          <p:cNvSpPr/>
          <p:nvPr/>
        </p:nvSpPr>
        <p:spPr>
          <a:xfrm>
            <a:off x="4224600" y="3657600"/>
            <a:ext cx="1782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&lt; 30° Error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w/ shaping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10"/>
          <p:cNvSpPr/>
          <p:nvPr/>
        </p:nvSpPr>
        <p:spPr>
          <a:xfrm>
            <a:off x="6144840" y="3630240"/>
            <a:ext cx="2880000" cy="658080"/>
          </a:xfrm>
          <a:prstGeom prst="rect">
            <a:avLst/>
          </a:prstGeom>
          <a:solidFill>
            <a:srgbClr val="eef4ff"/>
          </a:solidFill>
          <a:ln w="12700">
            <a:solidFill>
              <a:srgbClr val="1565c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11"/>
          <p:cNvSpPr/>
          <p:nvPr/>
        </p:nvSpPr>
        <p:spPr>
          <a:xfrm>
            <a:off x="6181200" y="3657600"/>
            <a:ext cx="1005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565c0"/>
                </a:solidFill>
                <a:latin typeface="Calibri"/>
                <a:ea typeface="Calibri"/>
              </a:rPr>
              <a:t>12.4°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12"/>
          <p:cNvSpPr/>
          <p:nvPr/>
        </p:nvSpPr>
        <p:spPr>
          <a:xfrm>
            <a:off x="7214760" y="3657600"/>
            <a:ext cx="1782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Mean Error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±8.9°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13"/>
          <p:cNvSpPr/>
          <p:nvPr/>
        </p:nvSpPr>
        <p:spPr>
          <a:xfrm>
            <a:off x="164520" y="4343400"/>
            <a:ext cx="2880000" cy="658080"/>
          </a:xfrm>
          <a:prstGeom prst="rect">
            <a:avLst/>
          </a:prstGeom>
          <a:solidFill>
            <a:srgbClr val="eef4ff"/>
          </a:solidFill>
          <a:ln w="12700">
            <a:solidFill>
              <a:srgbClr val="1565c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14"/>
          <p:cNvSpPr/>
          <p:nvPr/>
        </p:nvSpPr>
        <p:spPr>
          <a:xfrm>
            <a:off x="201240" y="4370760"/>
            <a:ext cx="1005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8640a"/>
                </a:solidFill>
                <a:latin typeface="Calibri"/>
                <a:ea typeface="Calibri"/>
              </a:rPr>
              <a:t>+58%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 15"/>
          <p:cNvSpPr/>
          <p:nvPr/>
        </p:nvSpPr>
        <p:spPr>
          <a:xfrm>
            <a:off x="1234440" y="4370760"/>
            <a:ext cx="1782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vs Paper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19→30 converged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16"/>
          <p:cNvSpPr/>
          <p:nvPr/>
        </p:nvSpPr>
        <p:spPr>
          <a:xfrm>
            <a:off x="3154680" y="4343400"/>
            <a:ext cx="2880000" cy="658080"/>
          </a:xfrm>
          <a:prstGeom prst="rect">
            <a:avLst/>
          </a:prstGeom>
          <a:solidFill>
            <a:srgbClr val="eef4ff"/>
          </a:solidFill>
          <a:ln w="12700">
            <a:solidFill>
              <a:srgbClr val="1565c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17"/>
          <p:cNvSpPr/>
          <p:nvPr/>
        </p:nvSpPr>
        <p:spPr>
          <a:xfrm>
            <a:off x="3191400" y="4370760"/>
            <a:ext cx="1005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0796b"/>
                </a:solidFill>
                <a:latin typeface="Calibri"/>
                <a:ea typeface="Calibri"/>
              </a:rPr>
              <a:t>27/32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18"/>
          <p:cNvSpPr/>
          <p:nvPr/>
        </p:nvSpPr>
        <p:spPr>
          <a:xfrm>
            <a:off x="4224600" y="4370760"/>
            <a:ext cx="1782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Without Shape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still beats paper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19"/>
          <p:cNvSpPr/>
          <p:nvPr/>
        </p:nvSpPr>
        <p:spPr>
          <a:xfrm>
            <a:off x="6144840" y="4343400"/>
            <a:ext cx="2880000" cy="658080"/>
          </a:xfrm>
          <a:prstGeom prst="rect">
            <a:avLst/>
          </a:prstGeom>
          <a:solidFill>
            <a:srgbClr val="eef4ff"/>
          </a:solidFill>
          <a:ln w="12700">
            <a:solidFill>
              <a:srgbClr val="1565c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20"/>
          <p:cNvSpPr/>
          <p:nvPr/>
        </p:nvSpPr>
        <p:spPr>
          <a:xfrm>
            <a:off x="6181200" y="4370760"/>
            <a:ext cx="1005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6a1b9a"/>
                </a:solidFill>
                <a:latin typeface="Calibri"/>
                <a:ea typeface="Calibri"/>
              </a:rPr>
              <a:t>9.7°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21"/>
          <p:cNvSpPr/>
          <p:nvPr/>
        </p:nvSpPr>
        <p:spPr>
          <a:xfrm>
            <a:off x="7214760" y="4370760"/>
            <a:ext cx="1782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Grid CV Best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α=0.2,γ=0.6,ε=0.2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0"/>
          <p:cNvSpPr/>
          <p:nvPr/>
        </p:nvSpPr>
        <p:spPr>
          <a:xfrm>
            <a:off x="0" y="0"/>
            <a:ext cx="9143640" cy="566640"/>
          </a:xfrm>
          <a:prstGeom prst="rect">
            <a:avLst/>
          </a:prstGeom>
          <a:solidFill>
            <a:srgbClr val="e8640a"/>
          </a:solidFill>
          <a:ln w="127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Text 1"/>
          <p:cNvSpPr/>
          <p:nvPr/>
        </p:nvSpPr>
        <p:spPr>
          <a:xfrm>
            <a:off x="274320" y="5472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SARSA Results — On-Policy Struggles in Sparse Space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5" name="Image 0" descr="/mnt/user-data/uploads/sarsa_angular_error.png"/>
          <p:cNvPicPr/>
          <p:nvPr/>
        </p:nvPicPr>
        <p:blipFill>
          <a:blip r:embed="rId1"/>
          <a:stretch/>
        </p:blipFill>
        <p:spPr>
          <a:xfrm>
            <a:off x="137160" y="640080"/>
            <a:ext cx="4297320" cy="2651400"/>
          </a:xfrm>
          <a:prstGeom prst="rect">
            <a:avLst/>
          </a:prstGeom>
          <a:ln w="0">
            <a:noFill/>
          </a:ln>
        </p:spPr>
      </p:pic>
      <p:pic>
        <p:nvPicPr>
          <p:cNvPr id="326" name="Image 1" descr="/mnt/user-data/uploads/sarsa_reward_shaping.png"/>
          <p:cNvPicPr/>
          <p:nvPr/>
        </p:nvPicPr>
        <p:blipFill>
          <a:blip r:embed="rId2"/>
          <a:stretch/>
        </p:blipFill>
        <p:spPr>
          <a:xfrm>
            <a:off x="4663440" y="640080"/>
            <a:ext cx="4343040" cy="2651400"/>
          </a:xfrm>
          <a:prstGeom prst="rect">
            <a:avLst/>
          </a:prstGeom>
          <a:ln w="0">
            <a:noFill/>
          </a:ln>
        </p:spPr>
      </p:pic>
      <p:sp>
        <p:nvSpPr>
          <p:cNvPr id="327" name="Text 2"/>
          <p:cNvSpPr/>
          <p:nvPr/>
        </p:nvSpPr>
        <p:spPr>
          <a:xfrm>
            <a:off x="137160" y="3310200"/>
            <a:ext cx="4297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8640a"/>
                </a:solidFill>
                <a:latin typeface="Calibri"/>
                <a:ea typeface="Calibri"/>
              </a:rPr>
              <a:t>SARSA never crosses 60° threshold — stays ~77° after 6 clips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3"/>
          <p:cNvSpPr/>
          <p:nvPr/>
        </p:nvSpPr>
        <p:spPr>
          <a:xfrm>
            <a:off x="4663440" y="3310200"/>
            <a:ext cx="4343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c0392b"/>
                </a:solidFill>
                <a:latin typeface="Calibri"/>
                <a:ea typeface="Calibri"/>
              </a:rPr>
              <a:t>Reward shaping has virtually NO effect on SARSA (curves overlap)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4"/>
          <p:cNvSpPr/>
          <p:nvPr/>
        </p:nvSpPr>
        <p:spPr>
          <a:xfrm>
            <a:off x="164520" y="3630240"/>
            <a:ext cx="8814600" cy="1371240"/>
          </a:xfrm>
          <a:prstGeom prst="rect">
            <a:avLst/>
          </a:prstGeom>
          <a:solidFill>
            <a:srgbClr val="fff5ee"/>
          </a:solidFill>
          <a:ln w="12700">
            <a:solidFill>
              <a:srgbClr val="e8640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5"/>
          <p:cNvSpPr/>
          <p:nvPr/>
        </p:nvSpPr>
        <p:spPr>
          <a:xfrm>
            <a:off x="292680" y="3657600"/>
            <a:ext cx="8503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640a"/>
                </a:solidFill>
                <a:latin typeface="Calibri"/>
                <a:ea typeface="Calibri"/>
              </a:rPr>
              <a:t>Why SARSA Fails — Root Cause Analysis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6"/>
          <p:cNvSpPr/>
          <p:nvPr/>
        </p:nvSpPr>
        <p:spPr>
          <a:xfrm>
            <a:off x="292680" y="4005000"/>
            <a:ext cx="85035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9/32 converged (with shaping), 10/32 (without) — worst performance of all algorithms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Mean error stays at ~77° ±56° with extreme subject variance — some near 0°, others stuck at 180°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On-policy constraint: SARSA must update based on the actual policy action a'. In early training, nearly all Q(s,a)≈0, so any action appears equally good, and the agent randomly locks into suboptimal emotion cycles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5568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Calibri"/>
                <a:ea typeface="Calibri"/>
              </a:rPr>
              <a:t>Φ(s,s')=−100 penalty does NOT help SARSA: The on-policy update doesn't allow aggressive exploration needed to escape local minima in the emotion space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0"/>
          <p:cNvSpPr/>
          <p:nvPr/>
        </p:nvSpPr>
        <p:spPr>
          <a:xfrm>
            <a:off x="0" y="0"/>
            <a:ext cx="9143640" cy="5666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 1"/>
          <p:cNvSpPr/>
          <p:nvPr/>
        </p:nvSpPr>
        <p:spPr>
          <a:xfrm>
            <a:off x="274320" y="5472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Double Q-Learning Results — Stable, Bias-Free Convergence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4" name="Image 0" descr="/mnt/user-data/uploads/dql_angular_error_no_shaping.png"/>
          <p:cNvPicPr/>
          <p:nvPr/>
        </p:nvPicPr>
        <p:blipFill>
          <a:blip r:embed="rId1"/>
          <a:stretch/>
        </p:blipFill>
        <p:spPr>
          <a:xfrm>
            <a:off x="137160" y="640080"/>
            <a:ext cx="4297320" cy="2651400"/>
          </a:xfrm>
          <a:prstGeom prst="rect">
            <a:avLst/>
          </a:prstGeom>
          <a:ln w="0">
            <a:noFill/>
          </a:ln>
        </p:spPr>
      </p:pic>
      <p:pic>
        <p:nvPicPr>
          <p:cNvPr id="335" name="Image 1" descr="/mnt/user-data/uploads/dql_reward_shaping.png"/>
          <p:cNvPicPr/>
          <p:nvPr/>
        </p:nvPicPr>
        <p:blipFill>
          <a:blip r:embed="rId2"/>
          <a:stretch/>
        </p:blipFill>
        <p:spPr>
          <a:xfrm>
            <a:off x="4663440" y="640080"/>
            <a:ext cx="4343040" cy="2651400"/>
          </a:xfrm>
          <a:prstGeom prst="rect">
            <a:avLst/>
          </a:prstGeom>
          <a:ln w="0">
            <a:noFill/>
          </a:ln>
        </p:spPr>
      </p:pic>
      <p:sp>
        <p:nvSpPr>
          <p:cNvPr id="336" name="Text 2"/>
          <p:cNvSpPr/>
          <p:nvPr/>
        </p:nvSpPr>
        <p:spPr>
          <a:xfrm>
            <a:off x="137160" y="3310200"/>
            <a:ext cx="4297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6a1b9a"/>
                </a:solidFill>
                <a:latin typeface="Calibri"/>
                <a:ea typeface="Calibri"/>
              </a:rPr>
              <a:t>Without shaping: drops from ~110° → ~35° — strong performance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3"/>
          <p:cNvSpPr/>
          <p:nvPr/>
        </p:nvSpPr>
        <p:spPr>
          <a:xfrm>
            <a:off x="4663440" y="3310200"/>
            <a:ext cx="4343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6a1b9a"/>
                </a:solidFill>
                <a:latin typeface="Calibri"/>
                <a:ea typeface="Calibri"/>
              </a:rPr>
              <a:t>Shaping provides ~10° additional benefit (vs ~18° for std Q-Learning)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4"/>
          <p:cNvSpPr/>
          <p:nvPr/>
        </p:nvSpPr>
        <p:spPr>
          <a:xfrm>
            <a:off x="164520" y="3630240"/>
            <a:ext cx="2880000" cy="658080"/>
          </a:xfrm>
          <a:prstGeom prst="rect">
            <a:avLst/>
          </a:prstGeom>
          <a:solidFill>
            <a:srgbClr val="f8f0ff"/>
          </a:solidFill>
          <a:ln w="12700">
            <a:solidFill>
              <a:srgbClr val="6a1b9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5"/>
          <p:cNvSpPr/>
          <p:nvPr/>
        </p:nvSpPr>
        <p:spPr>
          <a:xfrm>
            <a:off x="201240" y="3657600"/>
            <a:ext cx="1005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7a4a"/>
                </a:solidFill>
                <a:latin typeface="Calibri"/>
                <a:ea typeface="Calibri"/>
              </a:rPr>
              <a:t>29/32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6"/>
          <p:cNvSpPr/>
          <p:nvPr/>
        </p:nvSpPr>
        <p:spPr>
          <a:xfrm>
            <a:off x="1234440" y="3657600"/>
            <a:ext cx="1782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Exact 'Happy'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w/ shaping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7"/>
          <p:cNvSpPr/>
          <p:nvPr/>
        </p:nvSpPr>
        <p:spPr>
          <a:xfrm>
            <a:off x="3154680" y="3630240"/>
            <a:ext cx="2880000" cy="658080"/>
          </a:xfrm>
          <a:prstGeom prst="rect">
            <a:avLst/>
          </a:prstGeom>
          <a:solidFill>
            <a:srgbClr val="f8f0ff"/>
          </a:solidFill>
          <a:ln w="12700">
            <a:solidFill>
              <a:srgbClr val="6a1b9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8"/>
          <p:cNvSpPr/>
          <p:nvPr/>
        </p:nvSpPr>
        <p:spPr>
          <a:xfrm>
            <a:off x="3191400" y="3657600"/>
            <a:ext cx="1005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7a4a"/>
                </a:solidFill>
                <a:latin typeface="Calibri"/>
                <a:ea typeface="Calibri"/>
              </a:rPr>
              <a:t>30/32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9"/>
          <p:cNvSpPr/>
          <p:nvPr/>
        </p:nvSpPr>
        <p:spPr>
          <a:xfrm>
            <a:off x="4224600" y="3657600"/>
            <a:ext cx="1782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&lt; 60° Error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w/ shaping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10"/>
          <p:cNvSpPr/>
          <p:nvPr/>
        </p:nvSpPr>
        <p:spPr>
          <a:xfrm>
            <a:off x="6144840" y="3630240"/>
            <a:ext cx="2880000" cy="658080"/>
          </a:xfrm>
          <a:prstGeom prst="rect">
            <a:avLst/>
          </a:prstGeom>
          <a:solidFill>
            <a:srgbClr val="f8f0ff"/>
          </a:solidFill>
          <a:ln w="12700">
            <a:solidFill>
              <a:srgbClr val="6a1b9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11"/>
          <p:cNvSpPr/>
          <p:nvPr/>
        </p:nvSpPr>
        <p:spPr>
          <a:xfrm>
            <a:off x="6181200" y="3657600"/>
            <a:ext cx="1005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6a1b9a"/>
                </a:solidFill>
                <a:latin typeface="Calibri"/>
                <a:ea typeface="Calibri"/>
              </a:rPr>
              <a:t>24.1°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12"/>
          <p:cNvSpPr/>
          <p:nvPr/>
        </p:nvSpPr>
        <p:spPr>
          <a:xfrm>
            <a:off x="7214760" y="3657600"/>
            <a:ext cx="1782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Mean Error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±27.6°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13"/>
          <p:cNvSpPr/>
          <p:nvPr/>
        </p:nvSpPr>
        <p:spPr>
          <a:xfrm>
            <a:off x="164520" y="4343400"/>
            <a:ext cx="2880000" cy="658080"/>
          </a:xfrm>
          <a:prstGeom prst="rect">
            <a:avLst/>
          </a:prstGeom>
          <a:solidFill>
            <a:srgbClr val="f8f0ff"/>
          </a:solidFill>
          <a:ln w="12700">
            <a:solidFill>
              <a:srgbClr val="6a1b9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14"/>
          <p:cNvSpPr/>
          <p:nvPr/>
        </p:nvSpPr>
        <p:spPr>
          <a:xfrm>
            <a:off x="201240" y="4370760"/>
            <a:ext cx="1005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0796b"/>
                </a:solidFill>
                <a:latin typeface="Calibri"/>
                <a:ea typeface="Calibri"/>
              </a:rPr>
              <a:t>24/32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15"/>
          <p:cNvSpPr/>
          <p:nvPr/>
        </p:nvSpPr>
        <p:spPr>
          <a:xfrm>
            <a:off x="1234440" y="4370760"/>
            <a:ext cx="1782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Without Shape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still strong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16"/>
          <p:cNvSpPr/>
          <p:nvPr/>
        </p:nvSpPr>
        <p:spPr>
          <a:xfrm>
            <a:off x="3154680" y="4343400"/>
            <a:ext cx="2880000" cy="658080"/>
          </a:xfrm>
          <a:prstGeom prst="rect">
            <a:avLst/>
          </a:prstGeom>
          <a:solidFill>
            <a:srgbClr val="f8f0ff"/>
          </a:solidFill>
          <a:ln w="12700">
            <a:solidFill>
              <a:srgbClr val="6a1b9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17"/>
          <p:cNvSpPr/>
          <p:nvPr/>
        </p:nvSpPr>
        <p:spPr>
          <a:xfrm>
            <a:off x="3191400" y="4370760"/>
            <a:ext cx="1005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8640a"/>
                </a:solidFill>
                <a:latin typeface="Calibri"/>
                <a:ea typeface="Calibri"/>
              </a:rPr>
              <a:t>7.3°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18"/>
          <p:cNvSpPr/>
          <p:nvPr/>
        </p:nvSpPr>
        <p:spPr>
          <a:xfrm>
            <a:off x="4224600" y="4370760"/>
            <a:ext cx="1782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Grid CV Best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α=0.05,γ=0.8,ε=0.2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19"/>
          <p:cNvSpPr/>
          <p:nvPr/>
        </p:nvSpPr>
        <p:spPr>
          <a:xfrm>
            <a:off x="6144840" y="4343400"/>
            <a:ext cx="2880000" cy="658080"/>
          </a:xfrm>
          <a:prstGeom prst="rect">
            <a:avLst/>
          </a:prstGeom>
          <a:solidFill>
            <a:srgbClr val="f8f0ff"/>
          </a:solidFill>
          <a:ln w="12700">
            <a:solidFill>
              <a:srgbClr val="6a1b9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 20"/>
          <p:cNvSpPr/>
          <p:nvPr/>
        </p:nvSpPr>
        <p:spPr>
          <a:xfrm>
            <a:off x="6181200" y="4370760"/>
            <a:ext cx="1005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565c0"/>
                </a:solidFill>
                <a:latin typeface="Calibri"/>
                <a:ea typeface="Calibri"/>
              </a:rPr>
              <a:t>+53%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21"/>
          <p:cNvSpPr/>
          <p:nvPr/>
        </p:nvSpPr>
        <p:spPr>
          <a:xfrm>
            <a:off x="7214760" y="4370760"/>
            <a:ext cx="1782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vs Paper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19→29 converged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Shape 0"/>
          <p:cNvSpPr/>
          <p:nvPr/>
        </p:nvSpPr>
        <p:spPr>
          <a:xfrm>
            <a:off x="0" y="0"/>
            <a:ext cx="9143640" cy="566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1"/>
          <p:cNvSpPr/>
          <p:nvPr/>
        </p:nvSpPr>
        <p:spPr>
          <a:xfrm>
            <a:off x="274320" y="5472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Subject Trajectory Interpretation — Case Studies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2"/>
          <p:cNvSpPr/>
          <p:nvPr/>
        </p:nvSpPr>
        <p:spPr>
          <a:xfrm>
            <a:off x="182880" y="658440"/>
            <a:ext cx="4315680" cy="4224240"/>
          </a:xfrm>
          <a:prstGeom prst="rect">
            <a:avLst/>
          </a:prstGeom>
          <a:solidFill>
            <a:srgbClr val="f0fff4"/>
          </a:solidFill>
          <a:ln w="12700">
            <a:solidFill>
              <a:srgbClr val="1a7a4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3"/>
          <p:cNvSpPr/>
          <p:nvPr/>
        </p:nvSpPr>
        <p:spPr>
          <a:xfrm>
            <a:off x="182880" y="658440"/>
            <a:ext cx="4315680" cy="4021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 4"/>
          <p:cNvSpPr/>
          <p:nvPr/>
        </p:nvSpPr>
        <p:spPr>
          <a:xfrm>
            <a:off x="255960" y="676800"/>
            <a:ext cx="4169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✓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Subject S05 — DQL SUCCESS  (err = 10.6°)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5"/>
          <p:cNvSpPr/>
          <p:nvPr/>
        </p:nvSpPr>
        <p:spPr>
          <a:xfrm>
            <a:off x="255960" y="1097280"/>
            <a:ext cx="4169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7a4a"/>
                </a:solidFill>
                <a:latin typeface="Consolas"/>
                <a:ea typeface="Consolas"/>
              </a:rPr>
              <a:t>anger → anger → fear → happy → happy → happy → happy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6"/>
          <p:cNvSpPr/>
          <p:nvPr/>
        </p:nvSpPr>
        <p:spPr>
          <a:xfrm>
            <a:off x="749520" y="2715480"/>
            <a:ext cx="439200" cy="360"/>
          </a:xfrm>
          <a:prstGeom prst="line">
            <a:avLst/>
          </a:prstGeom>
          <a:ln w="127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7"/>
          <p:cNvSpPr/>
          <p:nvPr/>
        </p:nvSpPr>
        <p:spPr>
          <a:xfrm flipV="1">
            <a:off x="1188720" y="2413800"/>
            <a:ext cx="438840" cy="301680"/>
          </a:xfrm>
          <a:prstGeom prst="line">
            <a:avLst/>
          </a:prstGeom>
          <a:ln w="127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8"/>
          <p:cNvSpPr/>
          <p:nvPr/>
        </p:nvSpPr>
        <p:spPr>
          <a:xfrm flipV="1">
            <a:off x="1627560" y="1682280"/>
            <a:ext cx="438840" cy="731520"/>
          </a:xfrm>
          <a:prstGeom prst="line">
            <a:avLst/>
          </a:prstGeom>
          <a:ln w="127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9"/>
          <p:cNvSpPr/>
          <p:nvPr/>
        </p:nvSpPr>
        <p:spPr>
          <a:xfrm>
            <a:off x="2066400" y="1682280"/>
            <a:ext cx="438840" cy="360"/>
          </a:xfrm>
          <a:prstGeom prst="line">
            <a:avLst/>
          </a:prstGeom>
          <a:ln w="127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10"/>
          <p:cNvSpPr/>
          <p:nvPr/>
        </p:nvSpPr>
        <p:spPr>
          <a:xfrm>
            <a:off x="2505240" y="1682280"/>
            <a:ext cx="438840" cy="360"/>
          </a:xfrm>
          <a:prstGeom prst="line">
            <a:avLst/>
          </a:prstGeom>
          <a:ln w="127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11"/>
          <p:cNvSpPr/>
          <p:nvPr/>
        </p:nvSpPr>
        <p:spPr>
          <a:xfrm>
            <a:off x="2944080" y="1682280"/>
            <a:ext cx="439200" cy="360"/>
          </a:xfrm>
          <a:prstGeom prst="line">
            <a:avLst/>
          </a:prstGeom>
          <a:ln w="127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12"/>
          <p:cNvSpPr/>
          <p:nvPr/>
        </p:nvSpPr>
        <p:spPr>
          <a:xfrm>
            <a:off x="640080" y="2606040"/>
            <a:ext cx="237240" cy="2372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Text 13"/>
          <p:cNvSpPr/>
          <p:nvPr/>
        </p:nvSpPr>
        <p:spPr>
          <a:xfrm>
            <a:off x="640080" y="2862000"/>
            <a:ext cx="23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14"/>
          <p:cNvSpPr/>
          <p:nvPr/>
        </p:nvSpPr>
        <p:spPr>
          <a:xfrm>
            <a:off x="1078920" y="2606040"/>
            <a:ext cx="237240" cy="2372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Text 15"/>
          <p:cNvSpPr/>
          <p:nvPr/>
        </p:nvSpPr>
        <p:spPr>
          <a:xfrm>
            <a:off x="1078920" y="2862000"/>
            <a:ext cx="23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16"/>
          <p:cNvSpPr/>
          <p:nvPr/>
        </p:nvSpPr>
        <p:spPr>
          <a:xfrm>
            <a:off x="1517760" y="2304360"/>
            <a:ext cx="237240" cy="237240"/>
          </a:xfrm>
          <a:prstGeom prst="ellipse">
            <a:avLst/>
          </a:prstGeom>
          <a:solidFill>
            <a:srgbClr val="e8640a"/>
          </a:solidFill>
          <a:ln w="127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Text 17"/>
          <p:cNvSpPr/>
          <p:nvPr/>
        </p:nvSpPr>
        <p:spPr>
          <a:xfrm>
            <a:off x="1517760" y="2560320"/>
            <a:ext cx="23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18"/>
          <p:cNvSpPr/>
          <p:nvPr/>
        </p:nvSpPr>
        <p:spPr>
          <a:xfrm>
            <a:off x="1956960" y="1572840"/>
            <a:ext cx="237240" cy="2372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Text 19"/>
          <p:cNvSpPr/>
          <p:nvPr/>
        </p:nvSpPr>
        <p:spPr>
          <a:xfrm>
            <a:off x="1956960" y="1828800"/>
            <a:ext cx="23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20"/>
          <p:cNvSpPr/>
          <p:nvPr/>
        </p:nvSpPr>
        <p:spPr>
          <a:xfrm>
            <a:off x="2395800" y="1572840"/>
            <a:ext cx="237240" cy="2372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 21"/>
          <p:cNvSpPr/>
          <p:nvPr/>
        </p:nvSpPr>
        <p:spPr>
          <a:xfrm>
            <a:off x="2395800" y="1828800"/>
            <a:ext cx="23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22"/>
          <p:cNvSpPr/>
          <p:nvPr/>
        </p:nvSpPr>
        <p:spPr>
          <a:xfrm>
            <a:off x="2834640" y="1572840"/>
            <a:ext cx="237240" cy="2372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Text 23"/>
          <p:cNvSpPr/>
          <p:nvPr/>
        </p:nvSpPr>
        <p:spPr>
          <a:xfrm>
            <a:off x="2834640" y="1828800"/>
            <a:ext cx="23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24"/>
          <p:cNvSpPr/>
          <p:nvPr/>
        </p:nvSpPr>
        <p:spPr>
          <a:xfrm>
            <a:off x="3273480" y="1572840"/>
            <a:ext cx="237240" cy="2372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Text 25"/>
          <p:cNvSpPr/>
          <p:nvPr/>
        </p:nvSpPr>
        <p:spPr>
          <a:xfrm>
            <a:off x="3273480" y="1828800"/>
            <a:ext cx="23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C7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 26"/>
          <p:cNvSpPr/>
          <p:nvPr/>
        </p:nvSpPr>
        <p:spPr>
          <a:xfrm>
            <a:off x="274320" y="2926080"/>
            <a:ext cx="41144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1a7a4a"/>
                </a:solidFill>
                <a:latin typeface="Calibri"/>
                <a:ea typeface="Calibri"/>
              </a:rPr>
              <a:t>Interpretation: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050" spc="-1" strike="noStrike">
                <a:solidFill>
                  <a:srgbClr val="000000"/>
                </a:solidFill>
                <a:latin typeface="Calibri"/>
                <a:ea typeface="Calibri"/>
              </a:rPr>
              <a:t>Clip 1-2: </a:t>
            </a:r>
            <a:r>
              <a:rPr b="0" lang="en-US" sz="1050" spc="-1" strike="noStrike">
                <a:solidFill>
                  <a:srgbClr val="000000"/>
                </a:solidFill>
                <a:latin typeface="Calibri"/>
                <a:ea typeface="Calibri"/>
              </a:rPr>
              <a:t>Agent plays Anger-state clips → emotion stays stuck (no progress). Reward shaping Φ=−100 fires.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050" spc="-1" strike="noStrike">
                <a:solidFill>
                  <a:srgbClr val="000000"/>
                </a:solidFill>
                <a:latin typeface="Calibri"/>
                <a:ea typeface="Calibri"/>
              </a:rPr>
              <a:t>Clip 3: </a:t>
            </a:r>
            <a:r>
              <a:rPr b="0" lang="en-US" sz="1050" spc="-1" strike="noStrike">
                <a:solidFill>
                  <a:srgbClr val="000000"/>
                </a:solidFill>
                <a:latin typeface="Calibri"/>
                <a:ea typeface="Calibri"/>
              </a:rPr>
              <a:t>Agent selects a 'Fear'-emotion clip → emotion shifts from Low-Valence/High-Arousal toward High-Arousal zone. Progress begins.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050" spc="-1" strike="noStrike">
                <a:solidFill>
                  <a:srgbClr val="000000"/>
                </a:solidFill>
                <a:latin typeface="Calibri"/>
                <a:ea typeface="Calibri"/>
              </a:rPr>
              <a:t>Clip 4-7: </a:t>
            </a:r>
            <a:r>
              <a:rPr b="0" lang="en-US" sz="1050" spc="-1" strike="noStrike">
                <a:solidFill>
                  <a:srgbClr val="000000"/>
                </a:solidFill>
                <a:latin typeface="Calibri"/>
                <a:ea typeface="Calibri"/>
              </a:rPr>
              <a:t>Excellent! Agent identifies a 'Happy'-emotion clip → emotion locks into target state and stays there. Final error = 10.6° (within &lt; 30° threshold ✓).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7a4a"/>
                </a:solidFill>
                <a:latin typeface="Calibri"/>
                <a:ea typeface="Calibri"/>
              </a:rPr>
              <a:t>Why it works: </a:t>
            </a:r>
            <a:r>
              <a:rPr b="0" lang="en-US" sz="1050" spc="-1" strike="noStrike">
                <a:solidFill>
                  <a:srgbClr val="000000"/>
                </a:solidFill>
                <a:latin typeface="Calibri"/>
                <a:ea typeface="Calibri"/>
              </a:rPr>
              <a:t>DQL's conservative dual-table update correctly values the Fear→Happy transition path learned from 31 other subjects.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27"/>
          <p:cNvSpPr/>
          <p:nvPr/>
        </p:nvSpPr>
        <p:spPr>
          <a:xfrm>
            <a:off x="4709160" y="658440"/>
            <a:ext cx="4251600" cy="4224240"/>
          </a:xfrm>
          <a:prstGeom prst="rect">
            <a:avLst/>
          </a:prstGeom>
          <a:solidFill>
            <a:srgbClr val="fff5f5"/>
          </a:solidFill>
          <a:ln w="12700">
            <a:solidFill>
              <a:srgbClr val="c0392b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28"/>
          <p:cNvSpPr/>
          <p:nvPr/>
        </p:nvSpPr>
        <p:spPr>
          <a:xfrm>
            <a:off x="4709160" y="658440"/>
            <a:ext cx="4251600" cy="402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Text 29"/>
          <p:cNvSpPr/>
          <p:nvPr/>
        </p:nvSpPr>
        <p:spPr>
          <a:xfrm>
            <a:off x="4782240" y="676800"/>
            <a:ext cx="4105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✗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Subject S01 — SARSA FAILURE  (err = 57.8°)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30"/>
          <p:cNvSpPr/>
          <p:nvPr/>
        </p:nvSpPr>
        <p:spPr>
          <a:xfrm>
            <a:off x="4782240" y="1097280"/>
            <a:ext cx="4105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c0392b"/>
                </a:solidFill>
                <a:latin typeface="Consolas"/>
                <a:ea typeface="Consolas"/>
              </a:rPr>
              <a:t>anger → anger → pleasant → pleasant → pleasant → pleasant → pleasant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31"/>
          <p:cNvSpPr/>
          <p:nvPr/>
        </p:nvSpPr>
        <p:spPr>
          <a:xfrm>
            <a:off x="5184360" y="2715480"/>
            <a:ext cx="439200" cy="360"/>
          </a:xfrm>
          <a:prstGeom prst="line">
            <a:avLst/>
          </a:prstGeom>
          <a:ln w="127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32"/>
          <p:cNvSpPr/>
          <p:nvPr/>
        </p:nvSpPr>
        <p:spPr>
          <a:xfrm>
            <a:off x="5623560" y="2715480"/>
            <a:ext cx="438840" cy="640080"/>
          </a:xfrm>
          <a:prstGeom prst="line">
            <a:avLst/>
          </a:prstGeom>
          <a:ln w="127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33"/>
          <p:cNvSpPr/>
          <p:nvPr/>
        </p:nvSpPr>
        <p:spPr>
          <a:xfrm>
            <a:off x="6062400" y="3355560"/>
            <a:ext cx="438840" cy="360"/>
          </a:xfrm>
          <a:prstGeom prst="line">
            <a:avLst/>
          </a:prstGeom>
          <a:ln w="127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34"/>
          <p:cNvSpPr/>
          <p:nvPr/>
        </p:nvSpPr>
        <p:spPr>
          <a:xfrm>
            <a:off x="6501240" y="3355560"/>
            <a:ext cx="438840" cy="360"/>
          </a:xfrm>
          <a:prstGeom prst="line">
            <a:avLst/>
          </a:prstGeom>
          <a:ln w="127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35"/>
          <p:cNvSpPr/>
          <p:nvPr/>
        </p:nvSpPr>
        <p:spPr>
          <a:xfrm>
            <a:off x="6940080" y="3355560"/>
            <a:ext cx="438840" cy="360"/>
          </a:xfrm>
          <a:prstGeom prst="line">
            <a:avLst/>
          </a:prstGeom>
          <a:ln w="127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36"/>
          <p:cNvSpPr/>
          <p:nvPr/>
        </p:nvSpPr>
        <p:spPr>
          <a:xfrm>
            <a:off x="7378920" y="3355560"/>
            <a:ext cx="439200" cy="360"/>
          </a:xfrm>
          <a:prstGeom prst="line">
            <a:avLst/>
          </a:prstGeom>
          <a:ln w="12700">
            <a:solidFill>
              <a:srgbClr val="aaaaa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37"/>
          <p:cNvSpPr/>
          <p:nvPr/>
        </p:nvSpPr>
        <p:spPr>
          <a:xfrm>
            <a:off x="5074920" y="2606040"/>
            <a:ext cx="237240" cy="2372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Text 38"/>
          <p:cNvSpPr/>
          <p:nvPr/>
        </p:nvSpPr>
        <p:spPr>
          <a:xfrm>
            <a:off x="5074920" y="2862000"/>
            <a:ext cx="23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39"/>
          <p:cNvSpPr/>
          <p:nvPr/>
        </p:nvSpPr>
        <p:spPr>
          <a:xfrm>
            <a:off x="5513760" y="2606040"/>
            <a:ext cx="237240" cy="2372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 40"/>
          <p:cNvSpPr/>
          <p:nvPr/>
        </p:nvSpPr>
        <p:spPr>
          <a:xfrm>
            <a:off x="5513760" y="2862000"/>
            <a:ext cx="23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41"/>
          <p:cNvSpPr/>
          <p:nvPr/>
        </p:nvSpPr>
        <p:spPr>
          <a:xfrm>
            <a:off x="5952600" y="3246120"/>
            <a:ext cx="237240" cy="2372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Text 42"/>
          <p:cNvSpPr/>
          <p:nvPr/>
        </p:nvSpPr>
        <p:spPr>
          <a:xfrm>
            <a:off x="5952600" y="3502080"/>
            <a:ext cx="23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43"/>
          <p:cNvSpPr/>
          <p:nvPr/>
        </p:nvSpPr>
        <p:spPr>
          <a:xfrm>
            <a:off x="6391800" y="3246120"/>
            <a:ext cx="237240" cy="2372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Text 44"/>
          <p:cNvSpPr/>
          <p:nvPr/>
        </p:nvSpPr>
        <p:spPr>
          <a:xfrm>
            <a:off x="6391800" y="3502080"/>
            <a:ext cx="23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45"/>
          <p:cNvSpPr/>
          <p:nvPr/>
        </p:nvSpPr>
        <p:spPr>
          <a:xfrm>
            <a:off x="6830640" y="3246120"/>
            <a:ext cx="237240" cy="2372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 46"/>
          <p:cNvSpPr/>
          <p:nvPr/>
        </p:nvSpPr>
        <p:spPr>
          <a:xfrm>
            <a:off x="6830640" y="3502080"/>
            <a:ext cx="23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47"/>
          <p:cNvSpPr/>
          <p:nvPr/>
        </p:nvSpPr>
        <p:spPr>
          <a:xfrm>
            <a:off x="7269480" y="3246120"/>
            <a:ext cx="237240" cy="2372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Text 48"/>
          <p:cNvSpPr/>
          <p:nvPr/>
        </p:nvSpPr>
        <p:spPr>
          <a:xfrm>
            <a:off x="7269480" y="3502080"/>
            <a:ext cx="23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49"/>
          <p:cNvSpPr/>
          <p:nvPr/>
        </p:nvSpPr>
        <p:spPr>
          <a:xfrm>
            <a:off x="7708320" y="3246120"/>
            <a:ext cx="237240" cy="2372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Text 50"/>
          <p:cNvSpPr/>
          <p:nvPr/>
        </p:nvSpPr>
        <p:spPr>
          <a:xfrm>
            <a:off x="7708320" y="3502080"/>
            <a:ext cx="23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4a5568"/>
                </a:solidFill>
                <a:latin typeface="Calibri"/>
                <a:ea typeface="Calibri"/>
              </a:rPr>
              <a:t>C7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Shape 51"/>
          <p:cNvSpPr/>
          <p:nvPr/>
        </p:nvSpPr>
        <p:spPr>
          <a:xfrm>
            <a:off x="8001000" y="1572840"/>
            <a:ext cx="237240" cy="237240"/>
          </a:xfrm>
          <a:prstGeom prst="ellipse">
            <a:avLst/>
          </a:prstGeom>
          <a:solidFill>
            <a:srgbClr val="1a7a4a">
              <a:alpha val="60000"/>
            </a:srgbClr>
          </a:solidFill>
          <a:ln w="12700">
            <a:solidFill>
              <a:srgbClr val="1a7a4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Text 52"/>
          <p:cNvSpPr/>
          <p:nvPr/>
        </p:nvSpPr>
        <p:spPr>
          <a:xfrm>
            <a:off x="7882200" y="1828800"/>
            <a:ext cx="475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1a7a4a"/>
                </a:solidFill>
                <a:latin typeface="Calibri"/>
                <a:ea typeface="Calibri"/>
              </a:rPr>
              <a:t>Target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1a7a4a"/>
                </a:solidFill>
                <a:latin typeface="Calibri"/>
                <a:ea typeface="Calibri"/>
              </a:rPr>
              <a:t>(Happy)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Shape 53"/>
          <p:cNvSpPr/>
          <p:nvPr/>
        </p:nvSpPr>
        <p:spPr>
          <a:xfrm>
            <a:off x="7818120" y="1737360"/>
            <a:ext cx="360" cy="1554480"/>
          </a:xfrm>
          <a:prstGeom prst="line">
            <a:avLst/>
          </a:prstGeom>
          <a:ln w="12700">
            <a:solidFill>
              <a:srgbClr val="1a7a4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 54"/>
          <p:cNvSpPr/>
          <p:nvPr/>
        </p:nvSpPr>
        <p:spPr>
          <a:xfrm>
            <a:off x="4800600" y="2926080"/>
            <a:ext cx="40687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100" spc="-1" strike="noStrike">
                <a:solidFill>
                  <a:srgbClr val="c0392b"/>
                </a:solidFill>
                <a:latin typeface="Calibri"/>
                <a:ea typeface="Calibri"/>
              </a:rPr>
              <a:t>Interpretation: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Clips 1-2: </a:t>
            </a: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SARSA selects anger-adjacent clips → subject stays at anger state. Φ=−100 fires twice.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Clip 3-7: </a:t>
            </a: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SARSA transitions to 'Pleasant' (High V, Low A) — wrong direction! Pleasant is in Q4, Happy is in Q1. The agent gets stuck in a pleasant loop, never crossing to high arousal.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050" spc="-1" strike="noStrike">
                <a:solidFill>
                  <a:srgbClr val="c0392b"/>
                </a:solidFill>
                <a:latin typeface="Calibri"/>
                <a:ea typeface="Calibri"/>
              </a:rPr>
              <a:t>57.8° error: </a:t>
            </a: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Angular distance from Pleasant to Happy is ~58°. Subject is in correct valence but wrong arousal zone. Final state fails the &lt; 60° threshold (barely).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c0392b"/>
                </a:solidFill>
                <a:latin typeface="Calibri"/>
                <a:ea typeface="Calibri"/>
              </a:rPr>
              <a:t>Why it fails: </a:t>
            </a: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On-policy SARSA learns that Pleasant clips give stable reward (no stagnation penalty). It never discovers that Happy clips give better reward because it can't explore aggressively enough.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hape 0"/>
          <p:cNvSpPr/>
          <p:nvPr/>
        </p:nvSpPr>
        <p:spPr>
          <a:xfrm>
            <a:off x="0" y="0"/>
            <a:ext cx="9143640" cy="566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1"/>
          <p:cNvSpPr/>
          <p:nvPr/>
        </p:nvSpPr>
        <p:spPr>
          <a:xfrm>
            <a:off x="274320" y="5472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Emotion Wheel Trajectories — Double Q-Learning (All 32 Subjects with Shaping)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3" name="Image 0" descr="/mnt/user-data/uploads/dql_all_trajectories.png"/>
          <p:cNvPicPr/>
          <p:nvPr/>
        </p:nvPicPr>
        <p:blipFill>
          <a:blip r:embed="rId1"/>
          <a:stretch/>
        </p:blipFill>
        <p:spPr>
          <a:xfrm>
            <a:off x="109800" y="621720"/>
            <a:ext cx="8924040" cy="4132800"/>
          </a:xfrm>
          <a:prstGeom prst="rect">
            <a:avLst/>
          </a:prstGeom>
          <a:ln w="0">
            <a:noFill/>
          </a:ln>
        </p:spPr>
      </p:pic>
      <p:sp>
        <p:nvSpPr>
          <p:cNvPr id="414" name="Shape 2"/>
          <p:cNvSpPr/>
          <p:nvPr/>
        </p:nvSpPr>
        <p:spPr>
          <a:xfrm>
            <a:off x="109800" y="4754880"/>
            <a:ext cx="8924040" cy="2923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 3"/>
          <p:cNvSpPr/>
          <p:nvPr/>
        </p:nvSpPr>
        <p:spPr>
          <a:xfrm>
            <a:off x="164520" y="4773240"/>
            <a:ext cx="88146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Green border = converged to 'happy'  |  Red border = failed  |  Green square = start (anger)  |  Red dot = final state  |  29/32 green = 91% success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hape 0"/>
          <p:cNvSpPr/>
          <p:nvPr/>
        </p:nvSpPr>
        <p:spPr>
          <a:xfrm>
            <a:off x="0" y="0"/>
            <a:ext cx="9143640" cy="566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Text 1"/>
          <p:cNvSpPr/>
          <p:nvPr/>
        </p:nvSpPr>
        <p:spPr>
          <a:xfrm>
            <a:off x="274320" y="5472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Algorithm Comparison — With Reward Shaping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8" name="Image 0" descr="/mnt/user-data/uploads/compare_angular_error_with.png"/>
          <p:cNvPicPr/>
          <p:nvPr/>
        </p:nvPicPr>
        <p:blipFill>
          <a:blip r:embed="rId1"/>
          <a:stretch/>
        </p:blipFill>
        <p:spPr>
          <a:xfrm>
            <a:off x="137160" y="621720"/>
            <a:ext cx="5166000" cy="2788560"/>
          </a:xfrm>
          <a:prstGeom prst="rect">
            <a:avLst/>
          </a:prstGeom>
          <a:ln w="0">
            <a:noFill/>
          </a:ln>
        </p:spPr>
      </p:pic>
      <p:pic>
        <p:nvPicPr>
          <p:cNvPr id="419" name="Image 1" descr="/mnt/user-data/uploads/compare_convergence_bar_with.png"/>
          <p:cNvPicPr/>
          <p:nvPr/>
        </p:nvPicPr>
        <p:blipFill>
          <a:blip r:embed="rId2"/>
          <a:stretch/>
        </p:blipFill>
        <p:spPr>
          <a:xfrm>
            <a:off x="5394960" y="621720"/>
            <a:ext cx="3611520" cy="2788560"/>
          </a:xfrm>
          <a:prstGeom prst="rect">
            <a:avLst/>
          </a:prstGeom>
          <a:ln w="0">
            <a:noFill/>
          </a:ln>
        </p:spPr>
      </p:pic>
      <p:sp>
        <p:nvSpPr>
          <p:cNvPr id="420" name="Shape 2"/>
          <p:cNvSpPr/>
          <p:nvPr/>
        </p:nvSpPr>
        <p:spPr>
          <a:xfrm>
            <a:off x="182880" y="3493080"/>
            <a:ext cx="1965600" cy="273960"/>
          </a:xfrm>
          <a:prstGeom prst="rect">
            <a:avLst/>
          </a:prstGeom>
          <a:solidFill>
            <a:srgbClr val="0a2342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Text 3"/>
          <p:cNvSpPr/>
          <p:nvPr/>
        </p:nvSpPr>
        <p:spPr>
          <a:xfrm>
            <a:off x="201240" y="3493080"/>
            <a:ext cx="192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Algorithm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hape 4"/>
          <p:cNvSpPr/>
          <p:nvPr/>
        </p:nvSpPr>
        <p:spPr>
          <a:xfrm>
            <a:off x="2148840" y="3493080"/>
            <a:ext cx="1352880" cy="273960"/>
          </a:xfrm>
          <a:prstGeom prst="rect">
            <a:avLst/>
          </a:prstGeom>
          <a:solidFill>
            <a:srgbClr val="0a2342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Text 5"/>
          <p:cNvSpPr/>
          <p:nvPr/>
        </p:nvSpPr>
        <p:spPr>
          <a:xfrm>
            <a:off x="2167200" y="3493080"/>
            <a:ext cx="1316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Exact Happy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6"/>
          <p:cNvSpPr/>
          <p:nvPr/>
        </p:nvSpPr>
        <p:spPr>
          <a:xfrm>
            <a:off x="3502080" y="3493080"/>
            <a:ext cx="959760" cy="273960"/>
          </a:xfrm>
          <a:prstGeom prst="rect">
            <a:avLst/>
          </a:prstGeom>
          <a:solidFill>
            <a:srgbClr val="0a2342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 7"/>
          <p:cNvSpPr/>
          <p:nvPr/>
        </p:nvSpPr>
        <p:spPr>
          <a:xfrm>
            <a:off x="3520440" y="3493080"/>
            <a:ext cx="92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&lt; 30°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Shape 8"/>
          <p:cNvSpPr/>
          <p:nvPr/>
        </p:nvSpPr>
        <p:spPr>
          <a:xfrm>
            <a:off x="4462200" y="3493080"/>
            <a:ext cx="959760" cy="273960"/>
          </a:xfrm>
          <a:prstGeom prst="rect">
            <a:avLst/>
          </a:prstGeom>
          <a:solidFill>
            <a:srgbClr val="0a2342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Text 9"/>
          <p:cNvSpPr/>
          <p:nvPr/>
        </p:nvSpPr>
        <p:spPr>
          <a:xfrm>
            <a:off x="4480560" y="3493080"/>
            <a:ext cx="92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&lt; 60°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10"/>
          <p:cNvSpPr/>
          <p:nvPr/>
        </p:nvSpPr>
        <p:spPr>
          <a:xfrm>
            <a:off x="5422320" y="3493080"/>
            <a:ext cx="1919880" cy="273960"/>
          </a:xfrm>
          <a:prstGeom prst="rect">
            <a:avLst/>
          </a:prstGeom>
          <a:solidFill>
            <a:srgbClr val="0a2342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Text 11"/>
          <p:cNvSpPr/>
          <p:nvPr/>
        </p:nvSpPr>
        <p:spPr>
          <a:xfrm>
            <a:off x="5440680" y="3493080"/>
            <a:ext cx="1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Mean Error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12"/>
          <p:cNvSpPr/>
          <p:nvPr/>
        </p:nvSpPr>
        <p:spPr>
          <a:xfrm>
            <a:off x="7342560" y="3493080"/>
            <a:ext cx="1709640" cy="273960"/>
          </a:xfrm>
          <a:prstGeom prst="rect">
            <a:avLst/>
          </a:prstGeom>
          <a:solidFill>
            <a:srgbClr val="0a2342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 13"/>
          <p:cNvSpPr/>
          <p:nvPr/>
        </p:nvSpPr>
        <p:spPr>
          <a:xfrm>
            <a:off x="7360920" y="3493080"/>
            <a:ext cx="167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vs Paper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Shape 14"/>
          <p:cNvSpPr/>
          <p:nvPr/>
        </p:nvSpPr>
        <p:spPr>
          <a:xfrm>
            <a:off x="182880" y="3785760"/>
            <a:ext cx="1965600" cy="27396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 15"/>
          <p:cNvSpPr/>
          <p:nvPr/>
        </p:nvSpPr>
        <p:spPr>
          <a:xfrm>
            <a:off x="201240" y="3785760"/>
            <a:ext cx="192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Q-Learning ★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16"/>
          <p:cNvSpPr/>
          <p:nvPr/>
        </p:nvSpPr>
        <p:spPr>
          <a:xfrm>
            <a:off x="2148840" y="3785760"/>
            <a:ext cx="1352880" cy="27396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 17"/>
          <p:cNvSpPr/>
          <p:nvPr/>
        </p:nvSpPr>
        <p:spPr>
          <a:xfrm>
            <a:off x="2167200" y="3785760"/>
            <a:ext cx="1316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7a4a"/>
                </a:solidFill>
                <a:latin typeface="Calibri"/>
                <a:ea typeface="Calibri"/>
              </a:rPr>
              <a:t>30/32 (94%)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18"/>
          <p:cNvSpPr/>
          <p:nvPr/>
        </p:nvSpPr>
        <p:spPr>
          <a:xfrm>
            <a:off x="3502080" y="3785760"/>
            <a:ext cx="959760" cy="27396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Text 19"/>
          <p:cNvSpPr/>
          <p:nvPr/>
        </p:nvSpPr>
        <p:spPr>
          <a:xfrm>
            <a:off x="3520440" y="3785760"/>
            <a:ext cx="92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7a4a"/>
                </a:solidFill>
                <a:latin typeface="Calibri"/>
                <a:ea typeface="Calibri"/>
              </a:rPr>
              <a:t>31/32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20"/>
          <p:cNvSpPr/>
          <p:nvPr/>
        </p:nvSpPr>
        <p:spPr>
          <a:xfrm>
            <a:off x="4462200" y="3785760"/>
            <a:ext cx="959760" cy="27396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 21"/>
          <p:cNvSpPr/>
          <p:nvPr/>
        </p:nvSpPr>
        <p:spPr>
          <a:xfrm>
            <a:off x="4480560" y="3785760"/>
            <a:ext cx="92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7a4a"/>
                </a:solidFill>
                <a:latin typeface="Calibri"/>
                <a:ea typeface="Calibri"/>
              </a:rPr>
              <a:t>32/32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22"/>
          <p:cNvSpPr/>
          <p:nvPr/>
        </p:nvSpPr>
        <p:spPr>
          <a:xfrm>
            <a:off x="5422320" y="3785760"/>
            <a:ext cx="1919880" cy="27396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 23"/>
          <p:cNvSpPr/>
          <p:nvPr/>
        </p:nvSpPr>
        <p:spPr>
          <a:xfrm>
            <a:off x="5440680" y="3785760"/>
            <a:ext cx="1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7a4a"/>
                </a:solidFill>
                <a:latin typeface="Calibri"/>
                <a:ea typeface="Calibri"/>
              </a:rPr>
              <a:t>12.4° ±8.9°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24"/>
          <p:cNvSpPr/>
          <p:nvPr/>
        </p:nvSpPr>
        <p:spPr>
          <a:xfrm>
            <a:off x="7342560" y="3785760"/>
            <a:ext cx="1709640" cy="27396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 25"/>
          <p:cNvSpPr/>
          <p:nvPr/>
        </p:nvSpPr>
        <p:spPr>
          <a:xfrm>
            <a:off x="7360920" y="3785760"/>
            <a:ext cx="167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7a4a"/>
                </a:solidFill>
                <a:latin typeface="Calibri"/>
                <a:ea typeface="Calibri"/>
              </a:rPr>
              <a:t>+58% better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26"/>
          <p:cNvSpPr/>
          <p:nvPr/>
        </p:nvSpPr>
        <p:spPr>
          <a:xfrm>
            <a:off x="182880" y="4078080"/>
            <a:ext cx="1965600" cy="27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Text 27"/>
          <p:cNvSpPr/>
          <p:nvPr/>
        </p:nvSpPr>
        <p:spPr>
          <a:xfrm>
            <a:off x="201240" y="4078080"/>
            <a:ext cx="192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Double Q-Learning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28"/>
          <p:cNvSpPr/>
          <p:nvPr/>
        </p:nvSpPr>
        <p:spPr>
          <a:xfrm>
            <a:off x="2148840" y="4078080"/>
            <a:ext cx="1352880" cy="27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Text 29"/>
          <p:cNvSpPr/>
          <p:nvPr/>
        </p:nvSpPr>
        <p:spPr>
          <a:xfrm>
            <a:off x="2167200" y="4078080"/>
            <a:ext cx="1316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29/32 (91%)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Shape 30"/>
          <p:cNvSpPr/>
          <p:nvPr/>
        </p:nvSpPr>
        <p:spPr>
          <a:xfrm>
            <a:off x="3502080" y="4078080"/>
            <a:ext cx="959760" cy="27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 31"/>
          <p:cNvSpPr/>
          <p:nvPr/>
        </p:nvSpPr>
        <p:spPr>
          <a:xfrm>
            <a:off x="3520440" y="4078080"/>
            <a:ext cx="92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25/32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32"/>
          <p:cNvSpPr/>
          <p:nvPr/>
        </p:nvSpPr>
        <p:spPr>
          <a:xfrm>
            <a:off x="4462200" y="4078080"/>
            <a:ext cx="959760" cy="27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 33"/>
          <p:cNvSpPr/>
          <p:nvPr/>
        </p:nvSpPr>
        <p:spPr>
          <a:xfrm>
            <a:off x="4480560" y="4078080"/>
            <a:ext cx="92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30/32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34"/>
          <p:cNvSpPr/>
          <p:nvPr/>
        </p:nvSpPr>
        <p:spPr>
          <a:xfrm>
            <a:off x="5422320" y="4078080"/>
            <a:ext cx="1919880" cy="27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Text 35"/>
          <p:cNvSpPr/>
          <p:nvPr/>
        </p:nvSpPr>
        <p:spPr>
          <a:xfrm>
            <a:off x="5440680" y="4078080"/>
            <a:ext cx="1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24.1° ±27.6°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36"/>
          <p:cNvSpPr/>
          <p:nvPr/>
        </p:nvSpPr>
        <p:spPr>
          <a:xfrm>
            <a:off x="7342560" y="4078080"/>
            <a:ext cx="1709640" cy="27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 37"/>
          <p:cNvSpPr/>
          <p:nvPr/>
        </p:nvSpPr>
        <p:spPr>
          <a:xfrm>
            <a:off x="7360920" y="4078080"/>
            <a:ext cx="167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+53% better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38"/>
          <p:cNvSpPr/>
          <p:nvPr/>
        </p:nvSpPr>
        <p:spPr>
          <a:xfrm>
            <a:off x="182880" y="4370760"/>
            <a:ext cx="1965600" cy="27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Text 39"/>
          <p:cNvSpPr/>
          <p:nvPr/>
        </p:nvSpPr>
        <p:spPr>
          <a:xfrm>
            <a:off x="201240" y="4370760"/>
            <a:ext cx="192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SARSA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40"/>
          <p:cNvSpPr/>
          <p:nvPr/>
        </p:nvSpPr>
        <p:spPr>
          <a:xfrm>
            <a:off x="2148840" y="4370760"/>
            <a:ext cx="1352880" cy="27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Text 41"/>
          <p:cNvSpPr/>
          <p:nvPr/>
        </p:nvSpPr>
        <p:spPr>
          <a:xfrm>
            <a:off x="2167200" y="4370760"/>
            <a:ext cx="1316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9/32 (28%)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hape 42"/>
          <p:cNvSpPr/>
          <p:nvPr/>
        </p:nvSpPr>
        <p:spPr>
          <a:xfrm>
            <a:off x="3502080" y="4370760"/>
            <a:ext cx="959760" cy="27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Text 43"/>
          <p:cNvSpPr/>
          <p:nvPr/>
        </p:nvSpPr>
        <p:spPr>
          <a:xfrm>
            <a:off x="3520440" y="4370760"/>
            <a:ext cx="92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10/32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44"/>
          <p:cNvSpPr/>
          <p:nvPr/>
        </p:nvSpPr>
        <p:spPr>
          <a:xfrm>
            <a:off x="4462200" y="4370760"/>
            <a:ext cx="959760" cy="27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Text 45"/>
          <p:cNvSpPr/>
          <p:nvPr/>
        </p:nvSpPr>
        <p:spPr>
          <a:xfrm>
            <a:off x="4480560" y="4370760"/>
            <a:ext cx="92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14/32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46"/>
          <p:cNvSpPr/>
          <p:nvPr/>
        </p:nvSpPr>
        <p:spPr>
          <a:xfrm>
            <a:off x="5422320" y="4370760"/>
            <a:ext cx="1919880" cy="27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Text 47"/>
          <p:cNvSpPr/>
          <p:nvPr/>
        </p:nvSpPr>
        <p:spPr>
          <a:xfrm>
            <a:off x="5440680" y="4370760"/>
            <a:ext cx="1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77.2° ±56.1°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48"/>
          <p:cNvSpPr/>
          <p:nvPr/>
        </p:nvSpPr>
        <p:spPr>
          <a:xfrm>
            <a:off x="7342560" y="4370760"/>
            <a:ext cx="1709640" cy="27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 49"/>
          <p:cNvSpPr/>
          <p:nvPr/>
        </p:nvSpPr>
        <p:spPr>
          <a:xfrm>
            <a:off x="7360920" y="4370760"/>
            <a:ext cx="167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−</a:t>
            </a: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53% worse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50"/>
          <p:cNvSpPr/>
          <p:nvPr/>
        </p:nvSpPr>
        <p:spPr>
          <a:xfrm>
            <a:off x="182880" y="4663440"/>
            <a:ext cx="1965600" cy="273960"/>
          </a:xfrm>
          <a:prstGeom prst="rect">
            <a:avLst/>
          </a:prstGeom>
          <a:solidFill>
            <a:srgbClr val="fff8e1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 51"/>
          <p:cNvSpPr/>
          <p:nvPr/>
        </p:nvSpPr>
        <p:spPr>
          <a:xfrm>
            <a:off x="201240" y="4663440"/>
            <a:ext cx="192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Paper Baseline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52"/>
          <p:cNvSpPr/>
          <p:nvPr/>
        </p:nvSpPr>
        <p:spPr>
          <a:xfrm>
            <a:off x="2148840" y="4663440"/>
            <a:ext cx="1352880" cy="273960"/>
          </a:xfrm>
          <a:prstGeom prst="rect">
            <a:avLst/>
          </a:prstGeom>
          <a:solidFill>
            <a:srgbClr val="fff8e1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Text 53"/>
          <p:cNvSpPr/>
          <p:nvPr/>
        </p:nvSpPr>
        <p:spPr>
          <a:xfrm>
            <a:off x="2167200" y="4663440"/>
            <a:ext cx="1316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19/32 (59%)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54"/>
          <p:cNvSpPr/>
          <p:nvPr/>
        </p:nvSpPr>
        <p:spPr>
          <a:xfrm>
            <a:off x="3502080" y="4663440"/>
            <a:ext cx="959760" cy="273960"/>
          </a:xfrm>
          <a:prstGeom prst="rect">
            <a:avLst/>
          </a:prstGeom>
          <a:solidFill>
            <a:srgbClr val="fff8e1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Text 55"/>
          <p:cNvSpPr/>
          <p:nvPr/>
        </p:nvSpPr>
        <p:spPr>
          <a:xfrm>
            <a:off x="3520440" y="4663440"/>
            <a:ext cx="92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N/A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56"/>
          <p:cNvSpPr/>
          <p:nvPr/>
        </p:nvSpPr>
        <p:spPr>
          <a:xfrm>
            <a:off x="4462200" y="4663440"/>
            <a:ext cx="959760" cy="273960"/>
          </a:xfrm>
          <a:prstGeom prst="rect">
            <a:avLst/>
          </a:prstGeom>
          <a:solidFill>
            <a:srgbClr val="fff8e1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 57"/>
          <p:cNvSpPr/>
          <p:nvPr/>
        </p:nvSpPr>
        <p:spPr>
          <a:xfrm>
            <a:off x="4480560" y="4663440"/>
            <a:ext cx="92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N/A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58"/>
          <p:cNvSpPr/>
          <p:nvPr/>
        </p:nvSpPr>
        <p:spPr>
          <a:xfrm>
            <a:off x="5422320" y="4663440"/>
            <a:ext cx="1919880" cy="273960"/>
          </a:xfrm>
          <a:prstGeom prst="rect">
            <a:avLst/>
          </a:prstGeom>
          <a:solidFill>
            <a:srgbClr val="fff8e1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 59"/>
          <p:cNvSpPr/>
          <p:nvPr/>
        </p:nvSpPr>
        <p:spPr>
          <a:xfrm>
            <a:off x="5440680" y="4663440"/>
            <a:ext cx="1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57.0° ±2.8°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60"/>
          <p:cNvSpPr/>
          <p:nvPr/>
        </p:nvSpPr>
        <p:spPr>
          <a:xfrm>
            <a:off x="7342560" y="4663440"/>
            <a:ext cx="1709640" cy="273960"/>
          </a:xfrm>
          <a:prstGeom prst="rect">
            <a:avLst/>
          </a:prstGeom>
          <a:solidFill>
            <a:srgbClr val="fff8e1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 61"/>
          <p:cNvSpPr/>
          <p:nvPr/>
        </p:nvSpPr>
        <p:spPr>
          <a:xfrm>
            <a:off x="7360920" y="4663440"/>
            <a:ext cx="167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—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Shape 0"/>
          <p:cNvSpPr/>
          <p:nvPr/>
        </p:nvSpPr>
        <p:spPr>
          <a:xfrm>
            <a:off x="0" y="0"/>
            <a:ext cx="9143640" cy="566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 1"/>
          <p:cNvSpPr/>
          <p:nvPr/>
        </p:nvSpPr>
        <p:spPr>
          <a:xfrm>
            <a:off x="274320" y="5472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Algorithm Comparison — Without Reward Shaping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2" name="Image 0" descr="/mnt/user-data/uploads/compare_angular_error_without.png"/>
          <p:cNvPicPr/>
          <p:nvPr/>
        </p:nvPicPr>
        <p:blipFill>
          <a:blip r:embed="rId1"/>
          <a:stretch/>
        </p:blipFill>
        <p:spPr>
          <a:xfrm>
            <a:off x="137160" y="621720"/>
            <a:ext cx="5166000" cy="2788560"/>
          </a:xfrm>
          <a:prstGeom prst="rect">
            <a:avLst/>
          </a:prstGeom>
          <a:ln w="0">
            <a:noFill/>
          </a:ln>
        </p:spPr>
      </p:pic>
      <p:pic>
        <p:nvPicPr>
          <p:cNvPr id="483" name="Image 1" descr="/mnt/user-data/uploads/compare_convergence_bar_without.png"/>
          <p:cNvPicPr/>
          <p:nvPr/>
        </p:nvPicPr>
        <p:blipFill>
          <a:blip r:embed="rId2"/>
          <a:stretch/>
        </p:blipFill>
        <p:spPr>
          <a:xfrm>
            <a:off x="5394960" y="621720"/>
            <a:ext cx="3611520" cy="2788560"/>
          </a:xfrm>
          <a:prstGeom prst="rect">
            <a:avLst/>
          </a:prstGeom>
          <a:ln w="0">
            <a:noFill/>
          </a:ln>
        </p:spPr>
      </p:pic>
      <p:sp>
        <p:nvSpPr>
          <p:cNvPr id="484" name="Shape 2"/>
          <p:cNvSpPr/>
          <p:nvPr/>
        </p:nvSpPr>
        <p:spPr>
          <a:xfrm>
            <a:off x="182880" y="3493080"/>
            <a:ext cx="1965600" cy="273960"/>
          </a:xfrm>
          <a:prstGeom prst="rect">
            <a:avLst/>
          </a:prstGeom>
          <a:solidFill>
            <a:srgbClr val="0a2342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Text 3"/>
          <p:cNvSpPr/>
          <p:nvPr/>
        </p:nvSpPr>
        <p:spPr>
          <a:xfrm>
            <a:off x="201240" y="3493080"/>
            <a:ext cx="192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Algorithm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Shape 4"/>
          <p:cNvSpPr/>
          <p:nvPr/>
        </p:nvSpPr>
        <p:spPr>
          <a:xfrm>
            <a:off x="2148840" y="3493080"/>
            <a:ext cx="1352880" cy="273960"/>
          </a:xfrm>
          <a:prstGeom prst="rect">
            <a:avLst/>
          </a:prstGeom>
          <a:solidFill>
            <a:srgbClr val="0a2342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 5"/>
          <p:cNvSpPr/>
          <p:nvPr/>
        </p:nvSpPr>
        <p:spPr>
          <a:xfrm>
            <a:off x="2167200" y="3493080"/>
            <a:ext cx="1316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Exact Happy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Shape 6"/>
          <p:cNvSpPr/>
          <p:nvPr/>
        </p:nvSpPr>
        <p:spPr>
          <a:xfrm>
            <a:off x="3502080" y="3493080"/>
            <a:ext cx="959760" cy="273960"/>
          </a:xfrm>
          <a:prstGeom prst="rect">
            <a:avLst/>
          </a:prstGeom>
          <a:solidFill>
            <a:srgbClr val="0a2342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Text 7"/>
          <p:cNvSpPr/>
          <p:nvPr/>
        </p:nvSpPr>
        <p:spPr>
          <a:xfrm>
            <a:off x="3520440" y="3493080"/>
            <a:ext cx="92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&lt; 30°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Shape 8"/>
          <p:cNvSpPr/>
          <p:nvPr/>
        </p:nvSpPr>
        <p:spPr>
          <a:xfrm>
            <a:off x="4462200" y="3493080"/>
            <a:ext cx="959760" cy="273960"/>
          </a:xfrm>
          <a:prstGeom prst="rect">
            <a:avLst/>
          </a:prstGeom>
          <a:solidFill>
            <a:srgbClr val="0a2342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Text 9"/>
          <p:cNvSpPr/>
          <p:nvPr/>
        </p:nvSpPr>
        <p:spPr>
          <a:xfrm>
            <a:off x="4480560" y="3493080"/>
            <a:ext cx="92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&lt; 60°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10"/>
          <p:cNvSpPr/>
          <p:nvPr/>
        </p:nvSpPr>
        <p:spPr>
          <a:xfrm>
            <a:off x="5422320" y="3493080"/>
            <a:ext cx="1919880" cy="273960"/>
          </a:xfrm>
          <a:prstGeom prst="rect">
            <a:avLst/>
          </a:prstGeom>
          <a:solidFill>
            <a:srgbClr val="0a2342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Text 11"/>
          <p:cNvSpPr/>
          <p:nvPr/>
        </p:nvSpPr>
        <p:spPr>
          <a:xfrm>
            <a:off x="5440680" y="3493080"/>
            <a:ext cx="1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Mean Error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Shape 12"/>
          <p:cNvSpPr/>
          <p:nvPr/>
        </p:nvSpPr>
        <p:spPr>
          <a:xfrm>
            <a:off x="7342560" y="3493080"/>
            <a:ext cx="1709640" cy="273960"/>
          </a:xfrm>
          <a:prstGeom prst="rect">
            <a:avLst/>
          </a:prstGeom>
          <a:solidFill>
            <a:srgbClr val="0a2342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Text 13"/>
          <p:cNvSpPr/>
          <p:nvPr/>
        </p:nvSpPr>
        <p:spPr>
          <a:xfrm>
            <a:off x="7360920" y="3493080"/>
            <a:ext cx="167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Key Insight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14"/>
          <p:cNvSpPr/>
          <p:nvPr/>
        </p:nvSpPr>
        <p:spPr>
          <a:xfrm>
            <a:off x="182880" y="3785760"/>
            <a:ext cx="1965600" cy="27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Text 15"/>
          <p:cNvSpPr/>
          <p:nvPr/>
        </p:nvSpPr>
        <p:spPr>
          <a:xfrm>
            <a:off x="201240" y="3785760"/>
            <a:ext cx="192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Q-Learning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Shape 16"/>
          <p:cNvSpPr/>
          <p:nvPr/>
        </p:nvSpPr>
        <p:spPr>
          <a:xfrm>
            <a:off x="2148840" y="3785760"/>
            <a:ext cx="1352880" cy="27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Text 17"/>
          <p:cNvSpPr/>
          <p:nvPr/>
        </p:nvSpPr>
        <p:spPr>
          <a:xfrm>
            <a:off x="2167200" y="3785760"/>
            <a:ext cx="1316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27/32 (84%)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18"/>
          <p:cNvSpPr/>
          <p:nvPr/>
        </p:nvSpPr>
        <p:spPr>
          <a:xfrm>
            <a:off x="3502080" y="3785760"/>
            <a:ext cx="959760" cy="27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 19"/>
          <p:cNvSpPr/>
          <p:nvPr/>
        </p:nvSpPr>
        <p:spPr>
          <a:xfrm>
            <a:off x="3520440" y="3785760"/>
            <a:ext cx="92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26/32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Shape 20"/>
          <p:cNvSpPr/>
          <p:nvPr/>
        </p:nvSpPr>
        <p:spPr>
          <a:xfrm>
            <a:off x="4462200" y="3785760"/>
            <a:ext cx="959760" cy="27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Text 21"/>
          <p:cNvSpPr/>
          <p:nvPr/>
        </p:nvSpPr>
        <p:spPr>
          <a:xfrm>
            <a:off x="4480560" y="3785760"/>
            <a:ext cx="92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27/32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22"/>
          <p:cNvSpPr/>
          <p:nvPr/>
        </p:nvSpPr>
        <p:spPr>
          <a:xfrm>
            <a:off x="5422320" y="3785760"/>
            <a:ext cx="1919880" cy="27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Text 23"/>
          <p:cNvSpPr/>
          <p:nvPr/>
        </p:nvSpPr>
        <p:spPr>
          <a:xfrm>
            <a:off x="5440680" y="3785760"/>
            <a:ext cx="1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30.6° ±46.7°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24"/>
          <p:cNvSpPr/>
          <p:nvPr/>
        </p:nvSpPr>
        <p:spPr>
          <a:xfrm>
            <a:off x="7342560" y="3785760"/>
            <a:ext cx="1709640" cy="27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Text 25"/>
          <p:cNvSpPr/>
          <p:nvPr/>
        </p:nvSpPr>
        <p:spPr>
          <a:xfrm>
            <a:off x="7360920" y="3785760"/>
            <a:ext cx="167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Degrades without shaping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26"/>
          <p:cNvSpPr/>
          <p:nvPr/>
        </p:nvSpPr>
        <p:spPr>
          <a:xfrm>
            <a:off x="182880" y="4078080"/>
            <a:ext cx="1965600" cy="273960"/>
          </a:xfrm>
          <a:prstGeom prst="rect">
            <a:avLst/>
          </a:prstGeom>
          <a:solidFill>
            <a:srgbClr val="f5fafc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 27"/>
          <p:cNvSpPr/>
          <p:nvPr/>
        </p:nvSpPr>
        <p:spPr>
          <a:xfrm>
            <a:off x="201240" y="4078080"/>
            <a:ext cx="192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Double Q-Learning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28"/>
          <p:cNvSpPr/>
          <p:nvPr/>
        </p:nvSpPr>
        <p:spPr>
          <a:xfrm>
            <a:off x="2148840" y="4078080"/>
            <a:ext cx="1352880" cy="273960"/>
          </a:xfrm>
          <a:prstGeom prst="rect">
            <a:avLst/>
          </a:prstGeom>
          <a:solidFill>
            <a:srgbClr val="f5fafc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Text 29"/>
          <p:cNvSpPr/>
          <p:nvPr/>
        </p:nvSpPr>
        <p:spPr>
          <a:xfrm>
            <a:off x="2167200" y="4078080"/>
            <a:ext cx="1316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24/32 (75%)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30"/>
          <p:cNvSpPr/>
          <p:nvPr/>
        </p:nvSpPr>
        <p:spPr>
          <a:xfrm>
            <a:off x="3502080" y="4078080"/>
            <a:ext cx="959760" cy="273960"/>
          </a:xfrm>
          <a:prstGeom prst="rect">
            <a:avLst/>
          </a:prstGeom>
          <a:solidFill>
            <a:srgbClr val="f5fafc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 31"/>
          <p:cNvSpPr/>
          <p:nvPr/>
        </p:nvSpPr>
        <p:spPr>
          <a:xfrm>
            <a:off x="3520440" y="4078080"/>
            <a:ext cx="92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22/32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32"/>
          <p:cNvSpPr/>
          <p:nvPr/>
        </p:nvSpPr>
        <p:spPr>
          <a:xfrm>
            <a:off x="4462200" y="4078080"/>
            <a:ext cx="959760" cy="273960"/>
          </a:xfrm>
          <a:prstGeom prst="rect">
            <a:avLst/>
          </a:prstGeom>
          <a:solidFill>
            <a:srgbClr val="f5fafc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Text 33"/>
          <p:cNvSpPr/>
          <p:nvPr/>
        </p:nvSpPr>
        <p:spPr>
          <a:xfrm>
            <a:off x="4480560" y="4078080"/>
            <a:ext cx="92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25/32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34"/>
          <p:cNvSpPr/>
          <p:nvPr/>
        </p:nvSpPr>
        <p:spPr>
          <a:xfrm>
            <a:off x="5422320" y="4078080"/>
            <a:ext cx="1919880" cy="273960"/>
          </a:xfrm>
          <a:prstGeom prst="rect">
            <a:avLst/>
          </a:prstGeom>
          <a:solidFill>
            <a:srgbClr val="f5fafc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Text 35"/>
          <p:cNvSpPr/>
          <p:nvPr/>
        </p:nvSpPr>
        <p:spPr>
          <a:xfrm>
            <a:off x="5440680" y="4078080"/>
            <a:ext cx="1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34.2° ±44.6°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36"/>
          <p:cNvSpPr/>
          <p:nvPr/>
        </p:nvSpPr>
        <p:spPr>
          <a:xfrm>
            <a:off x="7342560" y="4078080"/>
            <a:ext cx="1709640" cy="273960"/>
          </a:xfrm>
          <a:prstGeom prst="rect">
            <a:avLst/>
          </a:prstGeom>
          <a:solidFill>
            <a:srgbClr val="f5fafc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Text 37"/>
          <p:cNvSpPr/>
          <p:nvPr/>
        </p:nvSpPr>
        <p:spPr>
          <a:xfrm>
            <a:off x="7360920" y="4078080"/>
            <a:ext cx="167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More robust to no-shaping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38"/>
          <p:cNvSpPr/>
          <p:nvPr/>
        </p:nvSpPr>
        <p:spPr>
          <a:xfrm>
            <a:off x="182880" y="4370760"/>
            <a:ext cx="1965600" cy="27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Text 39"/>
          <p:cNvSpPr/>
          <p:nvPr/>
        </p:nvSpPr>
        <p:spPr>
          <a:xfrm>
            <a:off x="201240" y="4370760"/>
            <a:ext cx="192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SARSA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40"/>
          <p:cNvSpPr/>
          <p:nvPr/>
        </p:nvSpPr>
        <p:spPr>
          <a:xfrm>
            <a:off x="2148840" y="4370760"/>
            <a:ext cx="1352880" cy="27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Text 41"/>
          <p:cNvSpPr/>
          <p:nvPr/>
        </p:nvSpPr>
        <p:spPr>
          <a:xfrm>
            <a:off x="2167200" y="4370760"/>
            <a:ext cx="1316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10/32 (31%)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42"/>
          <p:cNvSpPr/>
          <p:nvPr/>
        </p:nvSpPr>
        <p:spPr>
          <a:xfrm>
            <a:off x="3502080" y="4370760"/>
            <a:ext cx="959760" cy="27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Text 43"/>
          <p:cNvSpPr/>
          <p:nvPr/>
        </p:nvSpPr>
        <p:spPr>
          <a:xfrm>
            <a:off x="3520440" y="4370760"/>
            <a:ext cx="92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11/32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44"/>
          <p:cNvSpPr/>
          <p:nvPr/>
        </p:nvSpPr>
        <p:spPr>
          <a:xfrm>
            <a:off x="4462200" y="4370760"/>
            <a:ext cx="959760" cy="27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Text 45"/>
          <p:cNvSpPr/>
          <p:nvPr/>
        </p:nvSpPr>
        <p:spPr>
          <a:xfrm>
            <a:off x="4480560" y="4370760"/>
            <a:ext cx="92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14/32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46"/>
          <p:cNvSpPr/>
          <p:nvPr/>
        </p:nvSpPr>
        <p:spPr>
          <a:xfrm>
            <a:off x="5422320" y="4370760"/>
            <a:ext cx="1919880" cy="27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Text 47"/>
          <p:cNvSpPr/>
          <p:nvPr/>
        </p:nvSpPr>
        <p:spPr>
          <a:xfrm>
            <a:off x="5440680" y="4370760"/>
            <a:ext cx="1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77.8° ±58.8°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Shape 48"/>
          <p:cNvSpPr/>
          <p:nvPr/>
        </p:nvSpPr>
        <p:spPr>
          <a:xfrm>
            <a:off x="7342560" y="4370760"/>
            <a:ext cx="1709640" cy="27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Text 49"/>
          <p:cNvSpPr/>
          <p:nvPr/>
        </p:nvSpPr>
        <p:spPr>
          <a:xfrm>
            <a:off x="7360920" y="4370760"/>
            <a:ext cx="167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Marginally better: shows Φ hurts QL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50"/>
          <p:cNvSpPr/>
          <p:nvPr/>
        </p:nvSpPr>
        <p:spPr>
          <a:xfrm>
            <a:off x="182880" y="4663440"/>
            <a:ext cx="1965600" cy="273960"/>
          </a:xfrm>
          <a:prstGeom prst="rect">
            <a:avLst/>
          </a:prstGeom>
          <a:solidFill>
            <a:srgbClr val="f5fafc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Text 51"/>
          <p:cNvSpPr/>
          <p:nvPr/>
        </p:nvSpPr>
        <p:spPr>
          <a:xfrm>
            <a:off x="201240" y="4663440"/>
            <a:ext cx="1928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Paper Baseline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52"/>
          <p:cNvSpPr/>
          <p:nvPr/>
        </p:nvSpPr>
        <p:spPr>
          <a:xfrm>
            <a:off x="2148840" y="4663440"/>
            <a:ext cx="1352880" cy="273960"/>
          </a:xfrm>
          <a:prstGeom prst="rect">
            <a:avLst/>
          </a:prstGeom>
          <a:solidFill>
            <a:srgbClr val="f5fafc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 53"/>
          <p:cNvSpPr/>
          <p:nvPr/>
        </p:nvSpPr>
        <p:spPr>
          <a:xfrm>
            <a:off x="2167200" y="4663440"/>
            <a:ext cx="1316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19/32 (59%)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54"/>
          <p:cNvSpPr/>
          <p:nvPr/>
        </p:nvSpPr>
        <p:spPr>
          <a:xfrm>
            <a:off x="3502080" y="4663440"/>
            <a:ext cx="959760" cy="273960"/>
          </a:xfrm>
          <a:prstGeom prst="rect">
            <a:avLst/>
          </a:prstGeom>
          <a:solidFill>
            <a:srgbClr val="f5fafc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Text 55"/>
          <p:cNvSpPr/>
          <p:nvPr/>
        </p:nvSpPr>
        <p:spPr>
          <a:xfrm>
            <a:off x="3520440" y="4663440"/>
            <a:ext cx="92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N/A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Shape 56"/>
          <p:cNvSpPr/>
          <p:nvPr/>
        </p:nvSpPr>
        <p:spPr>
          <a:xfrm>
            <a:off x="4462200" y="4663440"/>
            <a:ext cx="959760" cy="273960"/>
          </a:xfrm>
          <a:prstGeom prst="rect">
            <a:avLst/>
          </a:prstGeom>
          <a:solidFill>
            <a:srgbClr val="f5fafc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Text 57"/>
          <p:cNvSpPr/>
          <p:nvPr/>
        </p:nvSpPr>
        <p:spPr>
          <a:xfrm>
            <a:off x="4480560" y="4663440"/>
            <a:ext cx="92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N/A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Shape 58"/>
          <p:cNvSpPr/>
          <p:nvPr/>
        </p:nvSpPr>
        <p:spPr>
          <a:xfrm>
            <a:off x="5422320" y="4663440"/>
            <a:ext cx="1919880" cy="273960"/>
          </a:xfrm>
          <a:prstGeom prst="rect">
            <a:avLst/>
          </a:prstGeom>
          <a:solidFill>
            <a:srgbClr val="f5fafc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Text 59"/>
          <p:cNvSpPr/>
          <p:nvPr/>
        </p:nvSpPr>
        <p:spPr>
          <a:xfrm>
            <a:off x="5440680" y="4663440"/>
            <a:ext cx="1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57.0° ±2.8°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Shape 60"/>
          <p:cNvSpPr/>
          <p:nvPr/>
        </p:nvSpPr>
        <p:spPr>
          <a:xfrm>
            <a:off x="7342560" y="4663440"/>
            <a:ext cx="1709640" cy="273960"/>
          </a:xfrm>
          <a:prstGeom prst="rect">
            <a:avLst/>
          </a:prstGeom>
          <a:solidFill>
            <a:srgbClr val="f5fafc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 61"/>
          <p:cNvSpPr/>
          <p:nvPr/>
        </p:nvSpPr>
        <p:spPr>
          <a:xfrm>
            <a:off x="7360920" y="4663440"/>
            <a:ext cx="167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  <a:ea typeface="Calibri"/>
              </a:rPr>
              <a:t>All our QL variants beat this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Shape 0"/>
          <p:cNvSpPr/>
          <p:nvPr/>
        </p:nvSpPr>
        <p:spPr>
          <a:xfrm>
            <a:off x="0" y="0"/>
            <a:ext cx="9143640" cy="566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Text 1"/>
          <p:cNvSpPr/>
          <p:nvPr/>
        </p:nvSpPr>
        <p:spPr>
          <a:xfrm>
            <a:off x="274320" y="5472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Impact of Reward Shaping Φ(s,s') = −100 — All Algorithms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6" name="Image 0" descr="/mnt/user-data/uploads/compare_shaping_effect.png"/>
          <p:cNvPicPr/>
          <p:nvPr/>
        </p:nvPicPr>
        <p:blipFill>
          <a:blip r:embed="rId1"/>
          <a:stretch/>
        </p:blipFill>
        <p:spPr>
          <a:xfrm>
            <a:off x="137160" y="621720"/>
            <a:ext cx="5394600" cy="2605680"/>
          </a:xfrm>
          <a:prstGeom prst="rect">
            <a:avLst/>
          </a:prstGeom>
          <a:ln w="0">
            <a:noFill/>
          </a:ln>
        </p:spPr>
      </p:pic>
      <p:pic>
        <p:nvPicPr>
          <p:cNvPr id="547" name="Image 1" descr="/mnt/user-data/uploads/compare_shaping_convergence.png"/>
          <p:cNvPicPr/>
          <p:nvPr/>
        </p:nvPicPr>
        <p:blipFill>
          <a:blip r:embed="rId2"/>
          <a:stretch/>
        </p:blipFill>
        <p:spPr>
          <a:xfrm>
            <a:off x="5623560" y="621720"/>
            <a:ext cx="3382920" cy="2605680"/>
          </a:xfrm>
          <a:prstGeom prst="rect">
            <a:avLst/>
          </a:prstGeom>
          <a:ln w="0">
            <a:noFill/>
          </a:ln>
        </p:spPr>
      </p:pic>
      <p:sp>
        <p:nvSpPr>
          <p:cNvPr id="548" name="Shape 2"/>
          <p:cNvSpPr/>
          <p:nvPr/>
        </p:nvSpPr>
        <p:spPr>
          <a:xfrm>
            <a:off x="164520" y="3310200"/>
            <a:ext cx="2880000" cy="1663920"/>
          </a:xfrm>
          <a:prstGeom prst="rect">
            <a:avLst/>
          </a:prstGeom>
          <a:solidFill>
            <a:srgbClr val="eef4ff"/>
          </a:solidFill>
          <a:ln w="12700">
            <a:solidFill>
              <a:srgbClr val="1565c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Shape 3"/>
          <p:cNvSpPr/>
          <p:nvPr/>
        </p:nvSpPr>
        <p:spPr>
          <a:xfrm>
            <a:off x="164520" y="3310200"/>
            <a:ext cx="2880000" cy="347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Text 4"/>
          <p:cNvSpPr/>
          <p:nvPr/>
        </p:nvSpPr>
        <p:spPr>
          <a:xfrm>
            <a:off x="201240" y="3328560"/>
            <a:ext cx="2806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Q-Learning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Text 5"/>
          <p:cNvSpPr/>
          <p:nvPr/>
        </p:nvSpPr>
        <p:spPr>
          <a:xfrm>
            <a:off x="228600" y="3694320"/>
            <a:ext cx="2788560" cy="12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Shaping provides dramatic benefit: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Error at clip 3: 29° (w/ shaping) vs 54° (w/o)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Convergence rate doubles by clip 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27→30 exact matches (+3 subjects)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Φ=−100 effectively prevents anger-loop trapping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Shape 6"/>
          <p:cNvSpPr/>
          <p:nvPr/>
        </p:nvSpPr>
        <p:spPr>
          <a:xfrm>
            <a:off x="3163680" y="3310200"/>
            <a:ext cx="2880000" cy="1663920"/>
          </a:xfrm>
          <a:prstGeom prst="rect">
            <a:avLst/>
          </a:prstGeom>
          <a:solidFill>
            <a:srgbClr val="fff5ee"/>
          </a:solidFill>
          <a:ln w="12700">
            <a:solidFill>
              <a:srgbClr val="e8640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Shape 7"/>
          <p:cNvSpPr/>
          <p:nvPr/>
        </p:nvSpPr>
        <p:spPr>
          <a:xfrm>
            <a:off x="3163680" y="3310200"/>
            <a:ext cx="2880000" cy="347040"/>
          </a:xfrm>
          <a:prstGeom prst="rect">
            <a:avLst/>
          </a:prstGeom>
          <a:solidFill>
            <a:srgbClr val="e8640a"/>
          </a:solidFill>
          <a:ln w="12700">
            <a:solidFill>
              <a:srgbClr val="e864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Text 8"/>
          <p:cNvSpPr/>
          <p:nvPr/>
        </p:nvSpPr>
        <p:spPr>
          <a:xfrm>
            <a:off x="3200400" y="3328560"/>
            <a:ext cx="2806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SARSA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Text 9"/>
          <p:cNvSpPr/>
          <p:nvPr/>
        </p:nvSpPr>
        <p:spPr>
          <a:xfrm>
            <a:off x="3227760" y="3694320"/>
            <a:ext cx="2788560" cy="12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Reward shaping has MINIMAL effect: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Both curves nearly identical (within SE)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On-policy updates cannot leverage penalty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Conservative a' selection neutralizes Φ benefit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Fundamental architectural incompatibility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Shape 10"/>
          <p:cNvSpPr/>
          <p:nvPr/>
        </p:nvSpPr>
        <p:spPr>
          <a:xfrm>
            <a:off x="6163200" y="3310200"/>
            <a:ext cx="2880000" cy="1663920"/>
          </a:xfrm>
          <a:prstGeom prst="rect">
            <a:avLst/>
          </a:prstGeom>
          <a:solidFill>
            <a:srgbClr val="f8f0ff"/>
          </a:solidFill>
          <a:ln w="12700">
            <a:solidFill>
              <a:srgbClr val="6a1b9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Shape 11"/>
          <p:cNvSpPr/>
          <p:nvPr/>
        </p:nvSpPr>
        <p:spPr>
          <a:xfrm>
            <a:off x="6163200" y="3310200"/>
            <a:ext cx="2880000" cy="3470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Text 12"/>
          <p:cNvSpPr/>
          <p:nvPr/>
        </p:nvSpPr>
        <p:spPr>
          <a:xfrm>
            <a:off x="6199560" y="3328560"/>
            <a:ext cx="2806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Double Q-Learning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Text 13"/>
          <p:cNvSpPr/>
          <p:nvPr/>
        </p:nvSpPr>
        <p:spPr>
          <a:xfrm>
            <a:off x="6226920" y="3694320"/>
            <a:ext cx="2788560" cy="12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Moderate shaping benefit: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Error at clip 6: 24° (w/) vs 34° (w/o)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Less sensitive than std QL → more robust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Dual Q-tables already reduce bias;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  </a:t>
            </a:r>
            <a:r>
              <a:rPr b="0" lang="en-US" sz="1000" spc="-1" strike="noStrike">
                <a:solidFill>
                  <a:srgbClr val="1a1a2e"/>
                </a:solidFill>
                <a:latin typeface="Calibri"/>
                <a:ea typeface="Calibri"/>
              </a:rPr>
              <a:t>shaping adds incremental improvement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Shape 0"/>
          <p:cNvSpPr/>
          <p:nvPr/>
        </p:nvSpPr>
        <p:spPr>
          <a:xfrm>
            <a:off x="0" y="0"/>
            <a:ext cx="9143640" cy="566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Text 1"/>
          <p:cNvSpPr/>
          <p:nvPr/>
        </p:nvSpPr>
        <p:spPr>
          <a:xfrm>
            <a:off x="274320" y="5472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Final Error Distribution &amp; Per-Algorithm Shaping Comparison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2" name="Image 0" descr="/mnt/user-data/uploads/compare_final_error_box_with.png"/>
          <p:cNvPicPr/>
          <p:nvPr/>
        </p:nvPicPr>
        <p:blipFill>
          <a:blip r:embed="rId1"/>
          <a:stretch/>
        </p:blipFill>
        <p:spPr>
          <a:xfrm>
            <a:off x="137160" y="621720"/>
            <a:ext cx="4343040" cy="2697120"/>
          </a:xfrm>
          <a:prstGeom prst="rect">
            <a:avLst/>
          </a:prstGeom>
          <a:ln w="0">
            <a:noFill/>
          </a:ln>
        </p:spPr>
      </p:pic>
      <p:pic>
        <p:nvPicPr>
          <p:cNvPr id="563" name="Image 1" descr="/mnt/user-data/uploads/compare_final_error_box_without.png"/>
          <p:cNvPicPr/>
          <p:nvPr/>
        </p:nvPicPr>
        <p:blipFill>
          <a:blip r:embed="rId2"/>
          <a:stretch/>
        </p:blipFill>
        <p:spPr>
          <a:xfrm>
            <a:off x="4663440" y="621720"/>
            <a:ext cx="4343040" cy="2697120"/>
          </a:xfrm>
          <a:prstGeom prst="rect">
            <a:avLst/>
          </a:prstGeom>
          <a:ln w="0">
            <a:noFill/>
          </a:ln>
        </p:spPr>
      </p:pic>
      <p:sp>
        <p:nvSpPr>
          <p:cNvPr id="564" name="Text 2"/>
          <p:cNvSpPr/>
          <p:nvPr/>
        </p:nvSpPr>
        <p:spPr>
          <a:xfrm>
            <a:off x="137160" y="3337560"/>
            <a:ext cx="4343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28090"/>
                </a:solidFill>
                <a:latin typeface="Calibri"/>
                <a:ea typeface="Calibri"/>
              </a:rPr>
              <a:t>With Reward Shaping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Text 3"/>
          <p:cNvSpPr/>
          <p:nvPr/>
        </p:nvSpPr>
        <p:spPr>
          <a:xfrm>
            <a:off x="4663440" y="3337560"/>
            <a:ext cx="4343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640a"/>
                </a:solidFill>
                <a:latin typeface="Calibri"/>
                <a:ea typeface="Calibri"/>
              </a:rPr>
              <a:t>Without Reward Shaping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Text 4"/>
          <p:cNvSpPr/>
          <p:nvPr/>
        </p:nvSpPr>
        <p:spPr>
          <a:xfrm>
            <a:off x="182880" y="3611880"/>
            <a:ext cx="8777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a2342"/>
                </a:solidFill>
                <a:latin typeface="Calibri"/>
                <a:ea typeface="Calibri"/>
              </a:rPr>
              <a:t>Key Observations: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Text 5"/>
          <p:cNvSpPr/>
          <p:nvPr/>
        </p:nvSpPr>
        <p:spPr>
          <a:xfrm>
            <a:off x="274320" y="393192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  <a:ea typeface="Calibri"/>
              </a:rPr>
              <a:t>Q-Learning: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Tight IQR (~5°–20°), median ~10°. Very consistent. Shaping eliminates most outliers. Best overall.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Text 6"/>
          <p:cNvSpPr/>
          <p:nvPr/>
        </p:nvSpPr>
        <p:spPr>
          <a:xfrm>
            <a:off x="274320" y="422460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640a"/>
                </a:solidFill>
                <a:latin typeface="Calibri"/>
                <a:ea typeface="Calibri"/>
              </a:rPr>
              <a:t>SARSA: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Extreme IQR (0°–120°+), median ~93°. Bimodal: some subjects converge perfectly, most fail completely.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Text 7"/>
          <p:cNvSpPr/>
          <p:nvPr/>
        </p:nvSpPr>
        <p:spPr>
          <a:xfrm>
            <a:off x="274320" y="451728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6a1b9a"/>
                </a:solidFill>
                <a:latin typeface="Calibri"/>
                <a:ea typeface="Calibri"/>
              </a:rPr>
              <a:t>DQL: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IQR wider than QL but better than SARSA (~5°–35°). A few outliers &gt;100° (S13, S20) skew mean. Robust.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Text 8"/>
          <p:cNvSpPr/>
          <p:nvPr/>
        </p:nvSpPr>
        <p:spPr>
          <a:xfrm>
            <a:off x="274320" y="480960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a5568"/>
                </a:solidFill>
                <a:latin typeface="Calibri"/>
                <a:ea typeface="Calibri"/>
              </a:rPr>
              <a:t>Paper Baseline: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57° mean shown as dotted line. Both QL (12.4°) and DQL (24.1°) beat this with shaping.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Shape 0"/>
          <p:cNvSpPr/>
          <p:nvPr/>
        </p:nvSpPr>
        <p:spPr>
          <a:xfrm>
            <a:off x="0" y="0"/>
            <a:ext cx="9143640" cy="566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Text 1"/>
          <p:cNvSpPr/>
          <p:nvPr/>
        </p:nvSpPr>
        <p:spPr>
          <a:xfrm>
            <a:off x="274320" y="5472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The Missing Link — EEG Emotion Classifier for Closed-Loop System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Shape 2"/>
          <p:cNvSpPr/>
          <p:nvPr/>
        </p:nvSpPr>
        <p:spPr>
          <a:xfrm>
            <a:off x="182880" y="658440"/>
            <a:ext cx="4160160" cy="2395440"/>
          </a:xfrm>
          <a:prstGeom prst="rect">
            <a:avLst/>
          </a:prstGeom>
          <a:solidFill>
            <a:srgbClr val="fff5f5"/>
          </a:solidFill>
          <a:ln w="12700">
            <a:solidFill>
              <a:srgbClr val="c0392b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Shape 3"/>
          <p:cNvSpPr/>
          <p:nvPr/>
        </p:nvSpPr>
        <p:spPr>
          <a:xfrm>
            <a:off x="182880" y="658440"/>
            <a:ext cx="4160160" cy="365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Text 4"/>
          <p:cNvSpPr/>
          <p:nvPr/>
        </p:nvSpPr>
        <p:spPr>
          <a:xfrm>
            <a:off x="274320" y="676800"/>
            <a:ext cx="3977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Current System (Our Work)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Text 5"/>
          <p:cNvSpPr/>
          <p:nvPr/>
        </p:nvSpPr>
        <p:spPr>
          <a:xfrm>
            <a:off x="292680" y="1051560"/>
            <a:ext cx="393156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800" spc="-1" strike="noStrike">
                <a:solidFill>
                  <a:srgbClr val="1a1a2e"/>
                </a:solidFill>
                <a:latin typeface="Calibri"/>
                <a:ea typeface="Calibri"/>
              </a:rPr>
              <a:t>1.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DEAP: Pre-labelled valence/arousal per clip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2.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Q-table reads stored annotations as 'state'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3.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RL selects next clip from Q(s,a)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4.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Next state read from DEAP labels again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c0392b"/>
                </a:solidFill>
                <a:latin typeface="Calibri"/>
                <a:ea typeface="Calibri"/>
              </a:rPr>
              <a:t>⚠ </a:t>
            </a:r>
            <a:r>
              <a:rPr b="1" lang="en-US" sz="1050" spc="-1" strike="noStrike">
                <a:solidFill>
                  <a:srgbClr val="c0392b"/>
                </a:solidFill>
                <a:latin typeface="Calibri"/>
                <a:ea typeface="Calibri"/>
              </a:rPr>
              <a:t>Cannot deploy — requires pre-labeled data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Shape 6"/>
          <p:cNvSpPr/>
          <p:nvPr/>
        </p:nvSpPr>
        <p:spPr>
          <a:xfrm>
            <a:off x="4663440" y="658440"/>
            <a:ext cx="4297320" cy="2395440"/>
          </a:xfrm>
          <a:prstGeom prst="rect">
            <a:avLst/>
          </a:prstGeom>
          <a:solidFill>
            <a:srgbClr val="f0fff4"/>
          </a:solidFill>
          <a:ln w="12700">
            <a:solidFill>
              <a:srgbClr val="1a7a4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7"/>
          <p:cNvSpPr/>
          <p:nvPr/>
        </p:nvSpPr>
        <p:spPr>
          <a:xfrm>
            <a:off x="4663440" y="658440"/>
            <a:ext cx="4297320" cy="3654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Text 8"/>
          <p:cNvSpPr/>
          <p:nvPr/>
        </p:nvSpPr>
        <p:spPr>
          <a:xfrm>
            <a:off x="4754880" y="676800"/>
            <a:ext cx="4114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Proposed Full System (Future Work)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Text 9"/>
          <p:cNvSpPr/>
          <p:nvPr/>
        </p:nvSpPr>
        <p:spPr>
          <a:xfrm>
            <a:off x="4773240" y="1051560"/>
            <a:ext cx="409608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800" spc="-1" strike="noStrike">
                <a:solidFill>
                  <a:srgbClr val="1a1a2e"/>
                </a:solidFill>
                <a:latin typeface="Calibri"/>
                <a:ea typeface="Calibri"/>
              </a:rPr>
              <a:t>1.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Wearable EEG headset records 32-channel brain signal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2.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BiLSTM classifier predicts emotion (94% accuracy)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3.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RL agent reads classifier output as current state 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4.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Calibri"/>
              </a:rPr>
              <a:t>Agent selects optimal next song → play → re-classify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7a4a"/>
                </a:solidFill>
                <a:latin typeface="Calibri"/>
                <a:ea typeface="Calibri"/>
              </a:rPr>
              <a:t>✓ </a:t>
            </a:r>
            <a:r>
              <a:rPr b="1" lang="en-US" sz="1050" spc="-1" strike="noStrike">
                <a:solidFill>
                  <a:srgbClr val="1a7a4a"/>
                </a:solidFill>
                <a:latin typeface="Calibri"/>
                <a:ea typeface="Calibri"/>
              </a:rPr>
              <a:t>Fully real-time, closed-loop therapeutic system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10"/>
          <p:cNvSpPr/>
          <p:nvPr/>
        </p:nvSpPr>
        <p:spPr>
          <a:xfrm>
            <a:off x="182880" y="3145680"/>
            <a:ext cx="8777880" cy="1828440"/>
          </a:xfrm>
          <a:prstGeom prst="rect">
            <a:avLst/>
          </a:prstGeom>
          <a:solidFill>
            <a:srgbClr val="f5fafc"/>
          </a:solidFill>
          <a:ln w="12700">
            <a:solidFill>
              <a:srgbClr val="02809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Text 11"/>
          <p:cNvSpPr/>
          <p:nvPr/>
        </p:nvSpPr>
        <p:spPr>
          <a:xfrm>
            <a:off x="320040" y="3182040"/>
            <a:ext cx="8503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8090"/>
                </a:solidFill>
                <a:latin typeface="Calibri"/>
                <a:ea typeface="Calibri"/>
              </a:rPr>
              <a:t>BiLSTM Classifier Results (Mouazen et al., 2024) — The Key Missing Piece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12"/>
          <p:cNvSpPr/>
          <p:nvPr/>
        </p:nvSpPr>
        <p:spPr>
          <a:xfrm>
            <a:off x="228600" y="3547800"/>
            <a:ext cx="2084400" cy="1352880"/>
          </a:xfrm>
          <a:prstGeom prst="rect">
            <a:avLst/>
          </a:prstGeom>
          <a:solidFill>
            <a:srgbClr val="e0f7fa"/>
          </a:solidFill>
          <a:ln w="12700">
            <a:solidFill>
              <a:srgbClr val="02809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Text 13"/>
          <p:cNvSpPr/>
          <p:nvPr/>
        </p:nvSpPr>
        <p:spPr>
          <a:xfrm>
            <a:off x="274320" y="3575160"/>
            <a:ext cx="1992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28090"/>
                </a:solidFill>
                <a:latin typeface="Calibri"/>
                <a:ea typeface="Calibri"/>
              </a:rPr>
              <a:t>BiLSTM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Text 14"/>
          <p:cNvSpPr/>
          <p:nvPr/>
        </p:nvSpPr>
        <p:spPr>
          <a:xfrm>
            <a:off x="274320" y="3877200"/>
            <a:ext cx="1992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2342"/>
                </a:solidFill>
                <a:latin typeface="Calibri"/>
                <a:ea typeface="Calibri"/>
              </a:rPr>
              <a:t>Train: 85%  |  Test: 94%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Text 15"/>
          <p:cNvSpPr/>
          <p:nvPr/>
        </p:nvSpPr>
        <p:spPr>
          <a:xfrm>
            <a:off x="274320" y="4169520"/>
            <a:ext cx="1992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Theta + Alpha most important (SHAP)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16"/>
          <p:cNvSpPr/>
          <p:nvPr/>
        </p:nvSpPr>
        <p:spPr>
          <a:xfrm>
            <a:off x="2404800" y="3547800"/>
            <a:ext cx="2084400" cy="1352880"/>
          </a:xfrm>
          <a:prstGeom prst="rect">
            <a:avLst/>
          </a:prstGeom>
          <a:solidFill>
            <a:srgbClr val="e0f2f1"/>
          </a:solidFill>
          <a:ln w="12700">
            <a:solidFill>
              <a:srgbClr val="00796b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Text 17"/>
          <p:cNvSpPr/>
          <p:nvPr/>
        </p:nvSpPr>
        <p:spPr>
          <a:xfrm>
            <a:off x="2450520" y="3575160"/>
            <a:ext cx="1992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796b"/>
                </a:solidFill>
                <a:latin typeface="Calibri"/>
                <a:ea typeface="Calibri"/>
              </a:rPr>
              <a:t>GRU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Text 18"/>
          <p:cNvSpPr/>
          <p:nvPr/>
        </p:nvSpPr>
        <p:spPr>
          <a:xfrm>
            <a:off x="2450520" y="3877200"/>
            <a:ext cx="1992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2342"/>
                </a:solidFill>
                <a:latin typeface="Calibri"/>
                <a:ea typeface="Calibri"/>
              </a:rPr>
              <a:t>Train: 83%  |  Test: 93%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Text 19"/>
          <p:cNvSpPr/>
          <p:nvPr/>
        </p:nvSpPr>
        <p:spPr>
          <a:xfrm>
            <a:off x="2450520" y="4169520"/>
            <a:ext cx="1992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Efficient for real-time (2s window)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Shape 20"/>
          <p:cNvSpPr/>
          <p:nvPr/>
        </p:nvSpPr>
        <p:spPr>
          <a:xfrm>
            <a:off x="4581000" y="3547800"/>
            <a:ext cx="2084400" cy="135288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Text 21"/>
          <p:cNvSpPr/>
          <p:nvPr/>
        </p:nvSpPr>
        <p:spPr>
          <a:xfrm>
            <a:off x="4626720" y="3575160"/>
            <a:ext cx="1992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565c0"/>
                </a:solidFill>
                <a:latin typeface="Calibri"/>
                <a:ea typeface="Calibri"/>
              </a:rPr>
              <a:t>CNN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Text 22"/>
          <p:cNvSpPr/>
          <p:nvPr/>
        </p:nvSpPr>
        <p:spPr>
          <a:xfrm>
            <a:off x="4626720" y="3877200"/>
            <a:ext cx="1992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2342"/>
                </a:solidFill>
                <a:latin typeface="Calibri"/>
                <a:ea typeface="Calibri"/>
              </a:rPr>
              <a:t>Train: 84%  |  Test: 91%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Text 23"/>
          <p:cNvSpPr/>
          <p:nvPr/>
        </p:nvSpPr>
        <p:spPr>
          <a:xfrm>
            <a:off x="4626720" y="4169520"/>
            <a:ext cx="1992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Good spatial EEG pattern extraction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24"/>
          <p:cNvSpPr/>
          <p:nvPr/>
        </p:nvSpPr>
        <p:spPr>
          <a:xfrm>
            <a:off x="6757560" y="3547800"/>
            <a:ext cx="2084400" cy="1352880"/>
          </a:xfrm>
          <a:prstGeom prst="rect">
            <a:avLst/>
          </a:prstGeom>
          <a:solidFill>
            <a:srgbClr val="fff8e1"/>
          </a:solidFill>
          <a:ln w="12700">
            <a:solidFill>
              <a:srgbClr val="e8640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Text 25"/>
          <p:cNvSpPr/>
          <p:nvPr/>
        </p:nvSpPr>
        <p:spPr>
          <a:xfrm>
            <a:off x="6803280" y="3575160"/>
            <a:ext cx="1992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640a"/>
                </a:solidFill>
                <a:latin typeface="Calibri"/>
                <a:ea typeface="Calibri"/>
              </a:rPr>
              <a:t>Trans+LSTM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Text 26"/>
          <p:cNvSpPr/>
          <p:nvPr/>
        </p:nvSpPr>
        <p:spPr>
          <a:xfrm>
            <a:off x="6803280" y="3877200"/>
            <a:ext cx="1992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2342"/>
                </a:solidFill>
                <a:latin typeface="Calibri"/>
                <a:ea typeface="Calibri"/>
              </a:rPr>
              <a:t>Train: 91%  |  Test: 73.6%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Text 27"/>
          <p:cNvSpPr/>
          <p:nvPr/>
        </p:nvSpPr>
        <p:spPr>
          <a:xfrm>
            <a:off x="6803280" y="4169520"/>
            <a:ext cx="1992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5568"/>
                </a:solidFill>
                <a:latin typeface="Calibri"/>
                <a:ea typeface="Calibri"/>
              </a:rPr>
              <a:t>Overfits — 6 subjects not enough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Shape 0"/>
          <p:cNvSpPr/>
          <p:nvPr/>
        </p:nvSpPr>
        <p:spPr>
          <a:xfrm>
            <a:off x="0" y="0"/>
            <a:ext cx="9143640" cy="566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0" name="Text 1"/>
          <p:cNvSpPr/>
          <p:nvPr/>
        </p:nvSpPr>
        <p:spPr>
          <a:xfrm>
            <a:off x="274320" y="5472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Limitations &amp; Future Work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Shape 2"/>
          <p:cNvSpPr/>
          <p:nvPr/>
        </p:nvSpPr>
        <p:spPr>
          <a:xfrm>
            <a:off x="182880" y="658440"/>
            <a:ext cx="4187520" cy="4224240"/>
          </a:xfrm>
          <a:prstGeom prst="rect">
            <a:avLst/>
          </a:prstGeom>
          <a:solidFill>
            <a:srgbClr val="fff5f5"/>
          </a:solidFill>
          <a:ln w="12700">
            <a:solidFill>
              <a:srgbClr val="c0392b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Shape 3"/>
          <p:cNvSpPr/>
          <p:nvPr/>
        </p:nvSpPr>
        <p:spPr>
          <a:xfrm>
            <a:off x="182880" y="658440"/>
            <a:ext cx="4187520" cy="365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3" name="Text 4"/>
          <p:cNvSpPr/>
          <p:nvPr/>
        </p:nvSpPr>
        <p:spPr>
          <a:xfrm>
            <a:off x="274320" y="676800"/>
            <a:ext cx="4004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Limitations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Text 5"/>
          <p:cNvSpPr/>
          <p:nvPr/>
        </p:nvSpPr>
        <p:spPr>
          <a:xfrm>
            <a:off x="274320" y="1060560"/>
            <a:ext cx="4004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Small action space: Only 40 DEAP clips; real playlists need 1000s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Text 6"/>
          <p:cNvSpPr/>
          <p:nvPr/>
        </p:nvSpPr>
        <p:spPr>
          <a:xfrm>
            <a:off x="274320" y="1408320"/>
            <a:ext cx="4004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No real-time EEG classifier integrated (uses pre-labeled annotations)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Text 7"/>
          <p:cNvSpPr/>
          <p:nvPr/>
        </p:nvSpPr>
        <p:spPr>
          <a:xfrm>
            <a:off x="274320" y="1755720"/>
            <a:ext cx="4004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SARSA fundamentally unsuited: on-policy + sparse rewards = poor exploration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Text 8"/>
          <p:cNvSpPr/>
          <p:nvPr/>
        </p:nvSpPr>
        <p:spPr>
          <a:xfrm>
            <a:off x="274320" y="2103120"/>
            <a:ext cx="4004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5-6 subjects fail all algorithms regardless — inter-subject biological variance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Text 9"/>
          <p:cNvSpPr/>
          <p:nvPr/>
        </p:nvSpPr>
        <p:spPr>
          <a:xfrm>
            <a:off x="274320" y="2450520"/>
            <a:ext cx="4004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Discrete Q-table cannot generalize smoothly across continuous VA space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Text 10"/>
          <p:cNvSpPr/>
          <p:nvPr/>
        </p:nvSpPr>
        <p:spPr>
          <a:xfrm>
            <a:off x="274320" y="2797920"/>
            <a:ext cx="4004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Single target emotion only: 'happy' — multi-goal RL unexplored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Text 11"/>
          <p:cNvSpPr/>
          <p:nvPr/>
        </p:nvSpPr>
        <p:spPr>
          <a:xfrm>
            <a:off x="274320" y="3145680"/>
            <a:ext cx="4004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DEAP: Lab-controlled EEG ≠ real-world listening environment responses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 12"/>
          <p:cNvSpPr/>
          <p:nvPr/>
        </p:nvSpPr>
        <p:spPr>
          <a:xfrm>
            <a:off x="274320" y="3493080"/>
            <a:ext cx="4004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1000 episodes: Q-table may not fully converge for complex subjects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hape 13"/>
          <p:cNvSpPr/>
          <p:nvPr/>
        </p:nvSpPr>
        <p:spPr>
          <a:xfrm>
            <a:off x="4709160" y="658440"/>
            <a:ext cx="4251600" cy="4224240"/>
          </a:xfrm>
          <a:prstGeom prst="rect">
            <a:avLst/>
          </a:prstGeom>
          <a:solidFill>
            <a:srgbClr val="f0fff4"/>
          </a:solidFill>
          <a:ln w="12700">
            <a:solidFill>
              <a:srgbClr val="1a7a4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Shape 14"/>
          <p:cNvSpPr/>
          <p:nvPr/>
        </p:nvSpPr>
        <p:spPr>
          <a:xfrm>
            <a:off x="4709160" y="658440"/>
            <a:ext cx="4251600" cy="3654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4" name="Text 15"/>
          <p:cNvSpPr/>
          <p:nvPr/>
        </p:nvSpPr>
        <p:spPr>
          <a:xfrm>
            <a:off x="4800600" y="676800"/>
            <a:ext cx="4068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Future Work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Text 16"/>
          <p:cNvSpPr/>
          <p:nvPr/>
        </p:nvSpPr>
        <p:spPr>
          <a:xfrm>
            <a:off x="4800600" y="1060560"/>
            <a:ext cx="4068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Integrate BiLSTM (94%) for real-time EEG → emotion classification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Text 17"/>
          <p:cNvSpPr/>
          <p:nvPr/>
        </p:nvSpPr>
        <p:spPr>
          <a:xfrm>
            <a:off x="4800600" y="1408320"/>
            <a:ext cx="4068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Deep RL (DQN/A3C): Neural Q-function for continuous VA space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Text 18"/>
          <p:cNvSpPr/>
          <p:nvPr/>
        </p:nvSpPr>
        <p:spPr>
          <a:xfrm>
            <a:off x="4800600" y="1755720"/>
            <a:ext cx="4068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Double SARSA formal evaluation: on-policy + dual-table combined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Text 19"/>
          <p:cNvSpPr/>
          <p:nvPr/>
        </p:nvSpPr>
        <p:spPr>
          <a:xfrm>
            <a:off x="4800600" y="2103120"/>
            <a:ext cx="4068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Expand to multiple emotion targets: calm, excited, relief, etc.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Text 20"/>
          <p:cNvSpPr/>
          <p:nvPr/>
        </p:nvSpPr>
        <p:spPr>
          <a:xfrm>
            <a:off x="4800600" y="2450520"/>
            <a:ext cx="4068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Real-world wearable EEG + Spotify/YouTube API integration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Text 21"/>
          <p:cNvSpPr/>
          <p:nvPr/>
        </p:nvSpPr>
        <p:spPr>
          <a:xfrm>
            <a:off x="4800600" y="2797920"/>
            <a:ext cx="4068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Multi-modal: EEG + heart rate + GSR + facial expression fusion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Text 22"/>
          <p:cNvSpPr/>
          <p:nvPr/>
        </p:nvSpPr>
        <p:spPr>
          <a:xfrm>
            <a:off x="4800600" y="3145680"/>
            <a:ext cx="4068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Personalization: Online RL that adapts to individual during session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Text 23"/>
          <p:cNvSpPr/>
          <p:nvPr/>
        </p:nvSpPr>
        <p:spPr>
          <a:xfrm>
            <a:off x="4800600" y="3493080"/>
            <a:ext cx="4068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  <a:ea typeface="Calibri"/>
              </a:rPr>
              <a:t>Randomized clinical trials to validate therapeutic effectiveness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Shape 0"/>
          <p:cNvSpPr/>
          <p:nvPr/>
        </p:nvSpPr>
        <p:spPr>
          <a:xfrm>
            <a:off x="-731520" y="-548640"/>
            <a:ext cx="3474360" cy="3474360"/>
          </a:xfrm>
          <a:prstGeom prst="ellipse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028090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4" name="Shape 1"/>
          <p:cNvSpPr/>
          <p:nvPr/>
        </p:nvSpPr>
        <p:spPr>
          <a:xfrm>
            <a:off x="7772400" y="3474720"/>
            <a:ext cx="2377080" cy="2377080"/>
          </a:xfrm>
          <a:prstGeom prst="ellipse">
            <a:avLst/>
          </a:prstGeom>
          <a:solidFill>
            <a:srgbClr val="00a896">
              <a:alpha val="27000"/>
            </a:srgbClr>
          </a:solidFill>
          <a:ln w="12700">
            <a:solidFill>
              <a:srgbClr val="00a896">
                <a:alpha val="2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5" name="Text 2"/>
          <p:cNvSpPr/>
          <p:nvPr/>
        </p:nvSpPr>
        <p:spPr>
          <a:xfrm>
            <a:off x="365760" y="1645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Conclusions &amp; Key Takeaways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6" name="Shape 3"/>
          <p:cNvSpPr/>
          <p:nvPr/>
        </p:nvSpPr>
        <p:spPr>
          <a:xfrm>
            <a:off x="2286000" y="768240"/>
            <a:ext cx="4571640" cy="45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7" name="Shape 4"/>
          <p:cNvSpPr/>
          <p:nvPr/>
        </p:nvSpPr>
        <p:spPr>
          <a:xfrm>
            <a:off x="274320" y="914400"/>
            <a:ext cx="8595000" cy="722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Text 5"/>
          <p:cNvSpPr/>
          <p:nvPr/>
        </p:nvSpPr>
        <p:spPr>
          <a:xfrm>
            <a:off x="347400" y="932760"/>
            <a:ext cx="456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eaa7"/>
                </a:solidFill>
                <a:latin typeface="Calibri"/>
                <a:ea typeface="Calibri"/>
              </a:rPr>
              <a:t>★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9" name="Text 6"/>
          <p:cNvSpPr/>
          <p:nvPr/>
        </p:nvSpPr>
        <p:spPr>
          <a:xfrm>
            <a:off x="841320" y="932760"/>
            <a:ext cx="7863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Q-Learning with reward shaping is the top performer: 30/32 subjects reached 'happy' (vs 19/32 paper) — a 58% improvement with mean error of just 12.4°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0" name="Shape 7"/>
          <p:cNvSpPr/>
          <p:nvPr/>
        </p:nvSpPr>
        <p:spPr>
          <a:xfrm>
            <a:off x="274320" y="1691640"/>
            <a:ext cx="8595000" cy="722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 8"/>
          <p:cNvSpPr/>
          <p:nvPr/>
        </p:nvSpPr>
        <p:spPr>
          <a:xfrm>
            <a:off x="347400" y="1710000"/>
            <a:ext cx="456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0a896"/>
                </a:solidFill>
                <a:latin typeface="Calibri"/>
                <a:ea typeface="Calibri"/>
              </a:rPr>
              <a:t>↑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2" name="Text 9"/>
          <p:cNvSpPr/>
          <p:nvPr/>
        </p:nvSpPr>
        <p:spPr>
          <a:xfrm>
            <a:off x="841320" y="1710000"/>
            <a:ext cx="7863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Double Q-Learning is competitive and more stable: 29/32 convergence, 24.1° mean error. Conservative dual-table updates reduce noise — valuable for clinical reliability.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3" name="Shape 10"/>
          <p:cNvSpPr/>
          <p:nvPr/>
        </p:nvSpPr>
        <p:spPr>
          <a:xfrm>
            <a:off x="274320" y="2468880"/>
            <a:ext cx="8595000" cy="722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Text 11"/>
          <p:cNvSpPr/>
          <p:nvPr/>
        </p:nvSpPr>
        <p:spPr>
          <a:xfrm>
            <a:off x="347400" y="2487240"/>
            <a:ext cx="456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7675"/>
                </a:solidFill>
                <a:latin typeface="Calibri"/>
                <a:ea typeface="Calibri"/>
              </a:rPr>
              <a:t>✗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5" name="Text 12"/>
          <p:cNvSpPr/>
          <p:nvPr/>
        </p:nvSpPr>
        <p:spPr>
          <a:xfrm>
            <a:off x="841320" y="2487240"/>
            <a:ext cx="7863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SARSA is unsuitable for this problem: 9/32 only. On-policy conservatism cannot escape emotion-loop traps in sparse state spaces. Reward shaping offers no benefit.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6" name="Shape 13"/>
          <p:cNvSpPr/>
          <p:nvPr/>
        </p:nvSpPr>
        <p:spPr>
          <a:xfrm>
            <a:off x="274320" y="3246120"/>
            <a:ext cx="8595000" cy="722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Text 14"/>
          <p:cNvSpPr/>
          <p:nvPr/>
        </p:nvSpPr>
        <p:spPr>
          <a:xfrm>
            <a:off x="347400" y="3264480"/>
            <a:ext cx="456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a8e6cf"/>
                </a:solidFill>
                <a:latin typeface="Calibri"/>
                <a:ea typeface="Calibri"/>
              </a:rPr>
              <a:t>Φ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8" name="Text 15"/>
          <p:cNvSpPr/>
          <p:nvPr/>
        </p:nvSpPr>
        <p:spPr>
          <a:xfrm>
            <a:off x="841320" y="3264480"/>
            <a:ext cx="7863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Reward shaping (Φ=−100 stagnation penalty) is critical for Q-Learning &amp; Double Q-Learning — it prevents getting stuck in local emotional minima and accelerates convergence by ~2 clips.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9" name="Shape 16"/>
          <p:cNvSpPr/>
          <p:nvPr/>
        </p:nvSpPr>
        <p:spPr>
          <a:xfrm>
            <a:off x="274320" y="4023360"/>
            <a:ext cx="8595000" cy="722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Text 17"/>
          <p:cNvSpPr/>
          <p:nvPr/>
        </p:nvSpPr>
        <p:spPr>
          <a:xfrm>
            <a:off x="347400" y="4041720"/>
            <a:ext cx="456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dfe6e9"/>
                </a:solidFill>
                <a:latin typeface="Calibri"/>
                <a:ea typeface="Calibri"/>
              </a:rPr>
              <a:t>◈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1" name="Text 18"/>
          <p:cNvSpPr/>
          <p:nvPr/>
        </p:nvSpPr>
        <p:spPr>
          <a:xfrm>
            <a:off x="841320" y="4041720"/>
            <a:ext cx="7863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The future system integrates our best RL agent with a BiLSTM EEG classifier (94% accuracy) to create a fully real-time, closed-loop music therapy system — the missing clinical piece.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2" name="Text 19"/>
          <p:cNvSpPr/>
          <p:nvPr/>
        </p:nvSpPr>
        <p:spPr>
          <a:xfrm>
            <a:off x="274320" y="4846320"/>
            <a:ext cx="8595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0a896"/>
                </a:solidFill>
                <a:latin typeface="Calibri"/>
                <a:ea typeface="Calibri"/>
              </a:rPr>
              <a:t>Thank You  •  Sahil Nagwani (U23AI106)  •  Vishal Gautam (U23AI127)  •  PRAKRITI Manhar (U23AI114)  |  Department of AI, SVNIT Surat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2026-04-16T16:25:05Z</dcterms:created>
  <dc:creator>PptxGenJS</dc:creator>
  <dc:description/>
  <dc:language>en-US</dc:language>
  <cp:lastModifiedBy/>
  <dcterms:modified xsi:type="dcterms:W3CDTF">2026-04-17T03:32:38Z</dcterms:modified>
  <cp:revision>3</cp:revision>
  <dc:subject>PptxGenJS Presentation</dc:subject>
  <dc:title>RL EEG Music Emotion Management — Full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21</vt:i4>
  </property>
  <property fmtid="{D5CDD505-2E9C-101B-9397-08002B2CF9AE}" pid="3" name="PresentationFormat">
    <vt:lpwstr>On-screen Show (16:9)</vt:lpwstr>
  </property>
  <property fmtid="{D5CDD505-2E9C-101B-9397-08002B2CF9AE}" pid="4" name="Slides">
    <vt:i4>21</vt:i4>
  </property>
</Properties>
</file>