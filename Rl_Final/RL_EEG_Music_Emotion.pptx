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91440"/>
            <a:ext cx="1645920" cy="164592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using EEG Signals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Therapeutic Use of Music in Emotion Management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Nagwani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U23AI106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Gautam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U23AI127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PRAKRITI Manhar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U23AI114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 |  SVNIT Surat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Dutta et al. (2020) – IEEE EMBC  |  Extended with SARSA, Double Q-Learning &amp; Reward Shaping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 Dataset  •  32 Subjects  •  3 RL Algorithms  •  1000 Episodes  •  LOSO Cross-Validation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691640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suffer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(WHO 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74320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822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15087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shown to reduce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depressive symptoms significantly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2743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8229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15087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objective, non-invasive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state measurement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6517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301752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Depressed individuals choose music that worsens their state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playlist curation is unreliable and subjective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An automated, personalized system that reads brain signals and guides emotion toward happiness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 can learn optimal music sequences by trial — without needing direct user feedback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2606040"/>
            <a:ext cx="3017520" cy="228600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Geneva Emotion Wheel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999232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(target) → High Valence, High Arousal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→ High Arousal, Low Valence (starting point)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grid = 400 discrete states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error measures deviation from target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Related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86868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RL algorithms — Q-Learning, SARSA, and Double Q-Learning — automatically select music sequences from EEG data to guide subjects from negative emotional states (anger) to a target joyful state (happy) more effectively than the original paper's baseline?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88920" cy="3200400"/>
          </a:xfrm>
          <a:prstGeom prst="rect">
            <a:avLst/>
          </a:prstGeom>
          <a:solidFill>
            <a:srgbClr val="F7FB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Dutta et al. (2020) — Base Paper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221992"/>
            <a:ext cx="26334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on DEAP dataset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19/32 subjects reached 'happy'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angular error: 57°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with φ(s,s')=-100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 (LOSO) CV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788920" cy="3200400"/>
          </a:xfrm>
          <a:prstGeom prst="rect">
            <a:avLst/>
          </a:prstGeom>
          <a:solidFill>
            <a:srgbClr val="F7FB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Emotion Classifiers (2024)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73552" y="2221992"/>
            <a:ext cx="26334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achieves 94% test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91%, GRU: 93%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Theta &amp; Alpha most critical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for dimensionality reduction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feasible (2s window)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788920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2221992"/>
            <a:ext cx="26334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SARSA (on-policy RL)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Double Q-Learning (reduced bias)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reward shaping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CV: 10-fold, 3×4×4 params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algorithms compared at 1000 episodes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Experimental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84048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participants, 40 music clips each (1-min)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+ Valence/Arousal labels per clip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emotions: happy, pleasant, exciting, calm, sad, negative, anger, fear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685800"/>
            <a:ext cx="420624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713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&amp; Evaluation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02412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Valence-Arousal grid (400 states)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'happy' → [0.905, 0.425] in normalized VA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cross-validation (train on 31, test on 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error = deviation from target in GEW degrees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RL Algorithms Compared: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2743200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334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31363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Q update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method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578608"/>
            <a:ext cx="2743200" cy="128016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6334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1363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next 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578608"/>
            <a:ext cx="2743200" cy="12801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6334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1363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Q-tables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select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 φ(s,s') = −100 if s = s' (else 0)  •  Hyperparams via Grid Search (α ∈ {0.05,0.1,0.2}, γ ∈ {0.4,0.6,0.8}, ε ∈ {0,0.05,0.1,0.2})  •  Best QL: α=0.2,γ=0.6,ε=0.2  •  Best DQL: α=0.05,γ=0.8,ε=0.2  •  Best SARSA: α=0.1,γ=0.8,ε=0.05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Results</a:t>
            </a:r>
            <a:endParaRPr lang="en-US" sz="2200" dirty="0"/>
          </a:p>
        </p:txBody>
      </p:sp>
      <p:pic>
        <p:nvPicPr>
          <p:cNvPr id="4" name="Image 0" descr="/mnt/user-data/uploads/ql_angular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42976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Reward Shaping</a:t>
            </a:r>
            <a:endParaRPr lang="en-US" sz="1000" dirty="0"/>
          </a:p>
        </p:txBody>
      </p:sp>
      <p:pic>
        <p:nvPicPr>
          <p:cNvPr id="6" name="Image 1" descr="/mnt/user-data/uploads/ql_reward_sha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40080"/>
            <a:ext cx="42976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Reward Shaping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82880" y="3749040"/>
            <a:ext cx="20574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2860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'Happy'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860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shaping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377440" y="3749040"/>
            <a:ext cx="20574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2316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42316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30° Error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2316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shaping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0" y="3749040"/>
            <a:ext cx="20574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12.4°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61772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1772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±8.9° with shaping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766560" y="3749040"/>
            <a:ext cx="20574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1228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81228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Paper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1228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19/32 → 30/32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Results — On-Policy Learning</a:t>
            </a:r>
            <a:endParaRPr lang="en-US" sz="2200" dirty="0"/>
          </a:p>
        </p:txBody>
      </p:sp>
      <p:pic>
        <p:nvPicPr>
          <p:cNvPr id="4" name="Image 0" descr="/mnt/user-data/uploads/sarsa_angular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42976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SARSA: Angular Error per Iteration (With Shaping)</a:t>
            </a:r>
            <a:endParaRPr lang="en-US" sz="1000" dirty="0"/>
          </a:p>
        </p:txBody>
      </p:sp>
      <p:pic>
        <p:nvPicPr>
          <p:cNvPr id="6" name="Image 1" descr="/mnt/user-data/uploads/sarsa_reward_sha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40080"/>
            <a:ext cx="42976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SARSA: Effect of Reward Shaping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82880" y="3749040"/>
            <a:ext cx="8778240" cy="1188720"/>
          </a:xfrm>
          <a:prstGeom prst="rect">
            <a:avLst/>
          </a:prstGeom>
          <a:solidFill>
            <a:srgbClr val="FFF5EE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Performance Analysis: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4069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9/32 (with shaping) and 10/32 (without) converged to 'happy' — far below Q-Learning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angular error remained ~77° even after 6 clips — never crossed the 60° threshold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had minimal impact on SARSA (both curves nearly identical)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conservative updates fail to explore the optimal emotion pathway in DEAP's sparse state space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Q-Learning Results — Reduced Overestimation Bias</a:t>
            </a:r>
            <a:endParaRPr lang="en-US" sz="2200" dirty="0"/>
          </a:p>
        </p:txBody>
      </p:sp>
      <p:pic>
        <p:nvPicPr>
          <p:cNvPr id="4" name="Image 0" descr="/mnt/user-data/uploads/dql_angular_error_no_sha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40080"/>
            <a:ext cx="42976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DQL: Angular Error Without Shaping</a:t>
            </a:r>
            <a:endParaRPr lang="en-US" sz="1000" dirty="0"/>
          </a:p>
        </p:txBody>
      </p:sp>
      <p:pic>
        <p:nvPicPr>
          <p:cNvPr id="6" name="Image 1" descr="/mnt/user-data/uploads/dql_reward_sha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40080"/>
            <a:ext cx="42976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DQL: Effect of Reward Shaping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82880" y="3749040"/>
            <a:ext cx="2057400" cy="118872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2860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'Happy'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860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shaping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377440" y="3749040"/>
            <a:ext cx="2057400" cy="118872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2316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42316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60° Error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2316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shaping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0" y="3749040"/>
            <a:ext cx="2057400" cy="118872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24.1°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61772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1772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±27.6° with shaping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766560" y="3749040"/>
            <a:ext cx="2057400" cy="118872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1228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7.3°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812280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CV Best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12280" y="4553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α=0.05,γ=0.8,ε=0.2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Wheel Trajectories — Double Q-Learning (With Shaping)</a:t>
            </a:r>
            <a:endParaRPr lang="en-US" sz="2000" dirty="0"/>
          </a:p>
        </p:txBody>
      </p:sp>
      <p:pic>
        <p:nvPicPr>
          <p:cNvPr id="4" name="Image 0" descr="/mnt/user-data/uploads/dql_all_traj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21792"/>
            <a:ext cx="886968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4754880"/>
            <a:ext cx="886968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773168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border = converged to 'happy'   |   Red border = failed   |   Green square = start (anger)   |   Red dot = final state   |   Yellow dot = target state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— With Reward Shaping</a:t>
            </a:r>
            <a:endParaRPr lang="en-US" sz="2200" dirty="0"/>
          </a:p>
        </p:txBody>
      </p:sp>
      <p:pic>
        <p:nvPicPr>
          <p:cNvPr id="4" name="Image 0" descr="/mnt/user-data/uploads/compare_angular_error_wi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21792"/>
            <a:ext cx="5029200" cy="2834640"/>
          </a:xfrm>
          <a:prstGeom prst="rect">
            <a:avLst/>
          </a:prstGeom>
        </p:spPr>
      </p:pic>
      <p:pic>
        <p:nvPicPr>
          <p:cNvPr id="5" name="Image 1" descr="/mnt/user-data/uploads/compare_convergence_bar_wi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621792"/>
            <a:ext cx="365760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3547872"/>
            <a:ext cx="8778240" cy="1463040"/>
          </a:xfrm>
          <a:prstGeom prst="rect">
            <a:avLst/>
          </a:prstGeom>
          <a:solidFill>
            <a:srgbClr val="F5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35844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Comparison — With Reward Shaping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1168" y="3886200"/>
            <a:ext cx="182880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1168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029968" y="3886200"/>
            <a:ext cx="137160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29968" y="3886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Happy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01568" y="3886200"/>
            <a:ext cx="100584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01568" y="3886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30°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407408" y="3886200"/>
            <a:ext cx="100584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07408" y="3886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60°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13248" y="3886200"/>
            <a:ext cx="192024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13248" y="3886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333488" y="3886200"/>
            <a:ext cx="164592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33488" y="3886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Paper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01168" y="4087368"/>
            <a:ext cx="182880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1168" y="4087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★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029968" y="4087368"/>
            <a:ext cx="137160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29968" y="4087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30/32 (94%)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01568" y="4087368"/>
            <a:ext cx="100584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01568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31/32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07408" y="4087368"/>
            <a:ext cx="100584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407408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32/32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413248" y="4087368"/>
            <a:ext cx="192024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13248" y="4087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12.4° ±8.9°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333488" y="4087368"/>
            <a:ext cx="164592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333488" y="4087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 better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01168" y="4288536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01168" y="4288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Q-Learning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029968" y="4288536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029968" y="4288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29/32 (91%)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401568" y="4288536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01568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25/32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407408" y="4288536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07408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30/32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413248" y="4288536"/>
            <a:ext cx="1920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413248" y="42885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24.1° ±27.6°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7333488" y="4288536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333488" y="4288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+53% better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201168" y="4489704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01168" y="4489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2029968" y="4489704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029968" y="4489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9/32 (28%)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401568" y="4489704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401568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10/32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407408" y="4489704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407408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14/32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5413248" y="4489704"/>
            <a:ext cx="1920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413248" y="44897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77.2° ±56.1°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7333488" y="4489704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333488" y="4489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−53% worse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201168" y="4690872"/>
            <a:ext cx="182880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201168" y="4690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(QL baseline)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2029968" y="4690872"/>
            <a:ext cx="137160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2029968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19/32 (59%)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3401568" y="4690872"/>
            <a:ext cx="100584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401568" y="4690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4407408" y="4690872"/>
            <a:ext cx="100584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407408" y="4690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5413248" y="4690872"/>
            <a:ext cx="192024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5413248" y="4690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57.0° ±2.8°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7333488" y="4690872"/>
            <a:ext cx="164592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7333488" y="4690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— Without Reward Shaping</a:t>
            </a:r>
            <a:endParaRPr lang="en-US" sz="2200" dirty="0"/>
          </a:p>
        </p:txBody>
      </p:sp>
      <p:pic>
        <p:nvPicPr>
          <p:cNvPr id="4" name="Image 0" descr="/mnt/user-data/uploads/compare_angular_error_with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21792"/>
            <a:ext cx="5029200" cy="2834640"/>
          </a:xfrm>
          <a:prstGeom prst="rect">
            <a:avLst/>
          </a:prstGeom>
        </p:spPr>
      </p:pic>
      <p:pic>
        <p:nvPicPr>
          <p:cNvPr id="5" name="Image 1" descr="/mnt/user-data/uploads/compare_convergence_bar_with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621792"/>
            <a:ext cx="365760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3547872"/>
            <a:ext cx="8778240" cy="1463040"/>
          </a:xfrm>
          <a:prstGeom prst="rect">
            <a:avLst/>
          </a:prstGeom>
          <a:solidFill>
            <a:srgbClr val="F5FAFC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35844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Comparison — Without Reward Shaping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1168" y="3886200"/>
            <a:ext cx="182880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1168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029968" y="3886200"/>
            <a:ext cx="137160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29968" y="3886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Happy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01568" y="3886200"/>
            <a:ext cx="100584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01568" y="3886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30°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407408" y="3886200"/>
            <a:ext cx="100584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07408" y="3886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60°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13248" y="3886200"/>
            <a:ext cx="192024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13248" y="3886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333488" y="3886200"/>
            <a:ext cx="1645920" cy="201168"/>
          </a:xfrm>
          <a:prstGeom prst="rect">
            <a:avLst/>
          </a:prstGeom>
          <a:solidFill>
            <a:srgbClr val="0A234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333488" y="3886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01168" y="4087368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1168" y="4087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029968" y="4087368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29968" y="4087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27/32 (84%)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01568" y="4087368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01568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26/32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07408" y="4087368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407408" y="4087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27/32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413248" y="4087368"/>
            <a:ext cx="1920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13248" y="4087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30.6° ±46.7°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333488" y="4087368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333488" y="4087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strong, 6 failures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01168" y="4288536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01168" y="4288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Q-Learning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029968" y="4288536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029968" y="4288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24/32 (75%)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401568" y="4288536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01568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22/32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407408" y="4288536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07408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25/32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413248" y="4288536"/>
            <a:ext cx="1920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413248" y="42885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34.2° ±44.6°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7333488" y="4288536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333488" y="4288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without shaping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201168" y="4489704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01168" y="4489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2029968" y="4489704"/>
            <a:ext cx="1371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029968" y="4489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10/32 (31%)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401568" y="4489704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401568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11/32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407408" y="4489704"/>
            <a:ext cx="10058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407408" y="4489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14/32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5413248" y="4489704"/>
            <a:ext cx="1920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413248" y="44897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77.8° ±58.8°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7333488" y="4489704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333488" y="4489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Marginally better!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201168" y="4690872"/>
            <a:ext cx="182880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201168" y="4690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(QL baseline)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2029968" y="4690872"/>
            <a:ext cx="137160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2029968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19/32 (59%)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3401568" y="4690872"/>
            <a:ext cx="100584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401568" y="4690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4407408" y="4690872"/>
            <a:ext cx="100584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407408" y="46908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5413248" y="4690872"/>
            <a:ext cx="192024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5413248" y="4690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57.0° ±2.8°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7333488" y="4690872"/>
            <a:ext cx="164592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7333488" y="4690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QL variants beat this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Reward Shaping — All Algorithms</a:t>
            </a:r>
            <a:endParaRPr lang="en-US" sz="2200" dirty="0"/>
          </a:p>
        </p:txBody>
      </p:sp>
      <p:pic>
        <p:nvPicPr>
          <p:cNvPr id="4" name="Image 0" descr="/mnt/user-data/uploads/compare_shaping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21792"/>
            <a:ext cx="5486400" cy="2651760"/>
          </a:xfrm>
          <a:prstGeom prst="rect">
            <a:avLst/>
          </a:prstGeom>
        </p:spPr>
      </p:pic>
      <p:pic>
        <p:nvPicPr>
          <p:cNvPr id="5" name="Image 1" descr="/mnt/user-data/uploads/compare_shaping_converg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621792"/>
            <a:ext cx="3291840" cy="2651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7160" y="3383280"/>
            <a:ext cx="2852928" cy="1572768"/>
          </a:xfrm>
          <a:prstGeom prst="rect">
            <a:avLst/>
          </a:prstGeom>
          <a:solidFill>
            <a:srgbClr val="F9F9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37160" y="3383280"/>
            <a:ext cx="2852928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82880" y="3730752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provides dramatic improvement: 27→30 exact matches. Error drops from 30.6°→12.4°. Shaping cuts errors by ~60% at clip 3 vs without.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136392" y="3383280"/>
            <a:ext cx="2852928" cy="1572768"/>
          </a:xfrm>
          <a:prstGeom prst="rect">
            <a:avLst/>
          </a:prstGeom>
          <a:solidFill>
            <a:srgbClr val="F9F9FF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36392" y="3383280"/>
            <a:ext cx="2852928" cy="32004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82112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182112" y="3730752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has minimal effect on SARSA. Both curves nearly overlap throughout all 6 iterations (~77°). The on-policy update cannot leverage the penalty effectively.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35624" y="3383280"/>
            <a:ext cx="2852928" cy="1572768"/>
          </a:xfrm>
          <a:prstGeom prst="rect">
            <a:avLst/>
          </a:prstGeom>
          <a:solidFill>
            <a:srgbClr val="F9F9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35624" y="3383280"/>
            <a:ext cx="2852928" cy="320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81344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Q-Learning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181344" y="3730752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provides moderate improvement. With shaping: error reaches ~24° by clip 6. Without: ~34°. Shaping benefit is real but smaller than Q-Learning.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Error Distribution &amp; Key Findings</a:t>
            </a:r>
            <a:endParaRPr lang="en-US" sz="2200" dirty="0"/>
          </a:p>
        </p:txBody>
      </p:sp>
      <p:pic>
        <p:nvPicPr>
          <p:cNvPr id="4" name="Image 0" descr="/mnt/user-data/uploads/compare_final_error_box_wi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21792"/>
            <a:ext cx="4343400" cy="2743200"/>
          </a:xfrm>
          <a:prstGeom prst="rect">
            <a:avLst/>
          </a:prstGeom>
        </p:spPr>
      </p:pic>
      <p:pic>
        <p:nvPicPr>
          <p:cNvPr id="5" name="Image 1" descr="/mnt/user-data/uploads/compare_final_error_box_with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21792"/>
            <a:ext cx="434340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" y="338328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Reward Shaping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663440" y="338328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Reward Shaping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82880" y="363931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2880" y="393192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has a tight, low error distribution (median ~10°) — highly consistent across subjects with shaping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has extreme variance (0°–180°) — some subjects get lucky, most fail completely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Q-Learning is more consistent than SARSA but slightly higher median error than Q-Learning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baseline (57° mean) is beaten by both Q-Learning (12.4°) and Double Q-Learning (24.1°) with shaping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The Missing Link — EEG Emotion Classifier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4160520" cy="251460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949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(Our Work)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 dataset: Pre-labelled valence/arousal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selects music clips from Q-table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state read from stored annotations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EEG classification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Cannot deploy in real-world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658368"/>
            <a:ext cx="4251960" cy="2514600"/>
          </a:xfrm>
          <a:prstGeom prst="rect">
            <a:avLst/>
          </a:prstGeom>
          <a:solidFill>
            <a:srgbClr val="F0FFF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6949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Full System (Future Work)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024128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classifier: 94% accuracy (Mouazen 2024)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EEG → emotion state prediction (2s)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RL agent selects next music clip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Closed-loop: classify → recommend → re-classify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clinical/home settings with wearable EEG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3273552"/>
            <a:ext cx="877824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31012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Classifier Results (from 2nd paper — Mouazen et al., 2024):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3639312"/>
            <a:ext cx="2084832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931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85%  Test: 94%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42062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Theta &amp; Alpha features dominant (SHAP)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3639312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931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83%  Test: 93%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42062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second — efficient for real-time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3639312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931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84%  Test: 91%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42062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patterns captured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3639312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6576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Transformer+LSTM+Fusion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93192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91%  Test: 73.6%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420624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 on small data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4160520" cy="33375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action space: Only 40 music clips in DEAP; real playlists need thousands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Pre-labelled states: No real-time EEG classifier integrated yet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failure: Poor exploration strategy in sparse, stochastic emotion space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variability: 5-6 subjects consistently fail all algorithms (biological variance)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Q-table: Cannot generalize smoothly across continuous VA space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target emotion: Only 'happy' used as target; multi-target scenarios not explored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 recording context: Lab-based; real-world emotion responses differ from controlled settings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658368"/>
            <a:ext cx="4206240" cy="3337560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658368"/>
            <a:ext cx="420624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6949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BiLSTM real-time EEG classifier (94% accuracy achieved in companion work)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(DQN/PPO) with neural Q-function for continuous state generalization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multiple emotion targets: calm, excited, relief, etc.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wearable EEG deployment with live music streaming APIs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input: EEG + HR + GSR + facial expression fusion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SARSA: Combine on-policy conservatism with dual-table bias reduction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743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controlled trials to validate clinical therapeutic effectiveness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4114800"/>
            <a:ext cx="877824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605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Missed Opportunity: A closed-loop system combining the BiLSTM classifier (94% test accuracy) with our best RL agent (Q-Learning, 30/32 convergence) could form a clinically viable, fully automated music-based emotion therapy system requiring no manual annotation.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822960"/>
            <a:ext cx="4572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85953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with reward shaping is the best performer: 30/32 subjects converged to 'happy' (vs 19/32 in the original paper) — a 58% improvement.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73936"/>
            <a:ext cx="85953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0136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8013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Q-Learning is competitive: 29/32 with shaping, more stable than standard QL due to reduced overestimation bias. Mean error 24.1°.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23744"/>
            <a:ext cx="85953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55117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551176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is unsuitable for this task: On-policy updates cannot handle the sparse, stochastic emotion transition space. Only 9/32 converge.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73552"/>
            <a:ext cx="85953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30098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3300984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is critical for QL &amp; DQL but irrelevant for SARSA. The φ(s,s')=-100 stagnation penalty accelerates convergence significantly.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05079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05079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 real-time EEG emotion classifier (BiLSTM, 94% accuracy) would enable a fully closed-loop therapeutic music recommendation system.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Sahil Nagwani  •  Vishal Gautam  •  PRAKRITI Manhar  |  U23AI106 · U23AI127 · U23AI114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using EEG for Music Emotion Management</dc:title>
  <dc:subject>PptxGenJS Presentation</dc:subject>
  <dc:creator>PptxGenJS</dc:creator>
  <cp:lastModifiedBy>PptxGenJS</cp:lastModifiedBy>
  <cp:revision>1</cp:revision>
  <dcterms:created xsi:type="dcterms:W3CDTF">2026-04-16T09:38:43Z</dcterms:created>
  <dcterms:modified xsi:type="dcterms:W3CDTF">2026-04-16T09:38:43Z</dcterms:modified>
</cp:coreProperties>
</file>